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7" r:id="rId21"/>
    <p:sldId id="26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90" autoAdjust="0"/>
    <p:restoredTop sz="94660"/>
  </p:normalViewPr>
  <p:slideViewPr>
    <p:cSldViewPr snapToGrid="0">
      <p:cViewPr varScale="1">
        <p:scale>
          <a:sx n="82" d="100"/>
          <a:sy n="82" d="100"/>
        </p:scale>
        <p:origin x="72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37939C-053B-4D54-94FB-30AC165C2677}" type="datetimeFigureOut">
              <a:rPr lang="en-US" smtClean="0"/>
              <a:t>9/12/2026</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06E62F-3A88-4C5D-B77A-9F16BD554843}" type="slidenum">
              <a:rPr lang="en-US" smtClean="0"/>
              <a:t>‹#›</a:t>
            </a:fld>
            <a:endParaRPr lang="en-US"/>
          </a:p>
        </p:txBody>
      </p:sp>
    </p:spTree>
    <p:extLst>
      <p:ext uri="{BB962C8B-B14F-4D97-AF65-F5344CB8AC3E}">
        <p14:creationId xmlns:p14="http://schemas.microsoft.com/office/powerpoint/2010/main" val="2696190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730E7-14D4-F119-2FF4-9D130EC93E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745EC1C-1C57-EA80-5241-AB80F84A1A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982A2C-8CC5-1EC5-3995-79347C7317EB}"/>
              </a:ext>
            </a:extLst>
          </p:cNvPr>
          <p:cNvSpPr>
            <a:spLocks noGrp="1"/>
          </p:cNvSpPr>
          <p:nvPr>
            <p:ph type="dt" sz="half" idx="10"/>
          </p:nvPr>
        </p:nvSpPr>
        <p:spPr/>
        <p:txBody>
          <a:bodyPr/>
          <a:lstStyle/>
          <a:p>
            <a:fld id="{741DA73B-7DF8-4262-AC80-3E1E1C0DF4A1}" type="datetimeFigureOut">
              <a:rPr lang="en-US" smtClean="0"/>
              <a:t>9/12/2026</a:t>
            </a:fld>
            <a:endParaRPr lang="en-US"/>
          </a:p>
        </p:txBody>
      </p:sp>
      <p:sp>
        <p:nvSpPr>
          <p:cNvPr id="5" name="Footer Placeholder 4">
            <a:extLst>
              <a:ext uri="{FF2B5EF4-FFF2-40B4-BE49-F238E27FC236}">
                <a16:creationId xmlns:a16="http://schemas.microsoft.com/office/drawing/2014/main" id="{4BCB388E-2656-28B0-F6B5-F8DF5A859F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09A284-C8F8-0CCC-4BDD-CBA10A1BBBFD}"/>
              </a:ext>
            </a:extLst>
          </p:cNvPr>
          <p:cNvSpPr>
            <a:spLocks noGrp="1"/>
          </p:cNvSpPr>
          <p:nvPr>
            <p:ph type="sldNum" sz="quarter" idx="12"/>
          </p:nvPr>
        </p:nvSpPr>
        <p:spPr/>
        <p:txBody>
          <a:bodyPr/>
          <a:lstStyle/>
          <a:p>
            <a:fld id="{1C230CF2-51EA-47D9-A9E9-76417FEC01F3}" type="slidenum">
              <a:rPr lang="en-US" smtClean="0"/>
              <a:t>‹#›</a:t>
            </a:fld>
            <a:endParaRPr lang="en-US"/>
          </a:p>
        </p:txBody>
      </p:sp>
    </p:spTree>
    <p:extLst>
      <p:ext uri="{BB962C8B-B14F-4D97-AF65-F5344CB8AC3E}">
        <p14:creationId xmlns:p14="http://schemas.microsoft.com/office/powerpoint/2010/main" val="3096827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2626F-3938-5123-B75D-BBB44E7422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F1367D-7738-B8FE-A18B-DBD3291FB7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391DD8-B075-90A2-FD33-3567A40FDFFE}"/>
              </a:ext>
            </a:extLst>
          </p:cNvPr>
          <p:cNvSpPr>
            <a:spLocks noGrp="1"/>
          </p:cNvSpPr>
          <p:nvPr>
            <p:ph type="dt" sz="half" idx="10"/>
          </p:nvPr>
        </p:nvSpPr>
        <p:spPr/>
        <p:txBody>
          <a:bodyPr/>
          <a:lstStyle/>
          <a:p>
            <a:fld id="{741DA73B-7DF8-4262-AC80-3E1E1C0DF4A1}" type="datetimeFigureOut">
              <a:rPr lang="en-US" smtClean="0"/>
              <a:t>9/12/2026</a:t>
            </a:fld>
            <a:endParaRPr lang="en-US"/>
          </a:p>
        </p:txBody>
      </p:sp>
      <p:sp>
        <p:nvSpPr>
          <p:cNvPr id="5" name="Footer Placeholder 4">
            <a:extLst>
              <a:ext uri="{FF2B5EF4-FFF2-40B4-BE49-F238E27FC236}">
                <a16:creationId xmlns:a16="http://schemas.microsoft.com/office/drawing/2014/main" id="{B0137382-2548-24F6-275B-9BA2250AE5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E3784D-3511-1D07-CB2C-4137AF5CAF05}"/>
              </a:ext>
            </a:extLst>
          </p:cNvPr>
          <p:cNvSpPr>
            <a:spLocks noGrp="1"/>
          </p:cNvSpPr>
          <p:nvPr>
            <p:ph type="sldNum" sz="quarter" idx="12"/>
          </p:nvPr>
        </p:nvSpPr>
        <p:spPr/>
        <p:txBody>
          <a:bodyPr/>
          <a:lstStyle/>
          <a:p>
            <a:fld id="{1C230CF2-51EA-47D9-A9E9-76417FEC01F3}" type="slidenum">
              <a:rPr lang="en-US" smtClean="0"/>
              <a:t>‹#›</a:t>
            </a:fld>
            <a:endParaRPr lang="en-US"/>
          </a:p>
        </p:txBody>
      </p:sp>
    </p:spTree>
    <p:extLst>
      <p:ext uri="{BB962C8B-B14F-4D97-AF65-F5344CB8AC3E}">
        <p14:creationId xmlns:p14="http://schemas.microsoft.com/office/powerpoint/2010/main" val="2863307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48246-C849-1053-3F3E-CE1D57D74E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24866E-93C1-D3E9-B408-FCA8C05045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5104EA-8E55-5C47-23A3-AB814BCF4B8F}"/>
              </a:ext>
            </a:extLst>
          </p:cNvPr>
          <p:cNvSpPr>
            <a:spLocks noGrp="1"/>
          </p:cNvSpPr>
          <p:nvPr>
            <p:ph type="dt" sz="half" idx="10"/>
          </p:nvPr>
        </p:nvSpPr>
        <p:spPr/>
        <p:txBody>
          <a:bodyPr/>
          <a:lstStyle/>
          <a:p>
            <a:fld id="{741DA73B-7DF8-4262-AC80-3E1E1C0DF4A1}" type="datetimeFigureOut">
              <a:rPr lang="en-US" smtClean="0"/>
              <a:t>9/12/2026</a:t>
            </a:fld>
            <a:endParaRPr lang="en-US"/>
          </a:p>
        </p:txBody>
      </p:sp>
      <p:sp>
        <p:nvSpPr>
          <p:cNvPr id="5" name="Footer Placeholder 4">
            <a:extLst>
              <a:ext uri="{FF2B5EF4-FFF2-40B4-BE49-F238E27FC236}">
                <a16:creationId xmlns:a16="http://schemas.microsoft.com/office/drawing/2014/main" id="{A49F1C5F-ACC2-D8E4-27D3-8119AF58E5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AFFE2E-FBF6-307C-3FCB-68D5FFCA71AE}"/>
              </a:ext>
            </a:extLst>
          </p:cNvPr>
          <p:cNvSpPr>
            <a:spLocks noGrp="1"/>
          </p:cNvSpPr>
          <p:nvPr>
            <p:ph type="sldNum" sz="quarter" idx="12"/>
          </p:nvPr>
        </p:nvSpPr>
        <p:spPr/>
        <p:txBody>
          <a:bodyPr/>
          <a:lstStyle/>
          <a:p>
            <a:fld id="{1C230CF2-51EA-47D9-A9E9-76417FEC01F3}" type="slidenum">
              <a:rPr lang="en-US" smtClean="0"/>
              <a:t>‹#›</a:t>
            </a:fld>
            <a:endParaRPr lang="en-US"/>
          </a:p>
        </p:txBody>
      </p:sp>
    </p:spTree>
    <p:extLst>
      <p:ext uri="{BB962C8B-B14F-4D97-AF65-F5344CB8AC3E}">
        <p14:creationId xmlns:p14="http://schemas.microsoft.com/office/powerpoint/2010/main" val="1170436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F22A3-402F-7D55-3933-9FED2E4926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1A658C-9D8B-D94D-28C2-193B2D611C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7C1195-5C7E-E471-34D7-4C5556D5D7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B323BA-1B97-156B-2A6C-8B5F268A3D97}"/>
              </a:ext>
            </a:extLst>
          </p:cNvPr>
          <p:cNvSpPr>
            <a:spLocks noGrp="1"/>
          </p:cNvSpPr>
          <p:nvPr>
            <p:ph type="dt" sz="half" idx="10"/>
          </p:nvPr>
        </p:nvSpPr>
        <p:spPr/>
        <p:txBody>
          <a:bodyPr/>
          <a:lstStyle/>
          <a:p>
            <a:fld id="{741DA73B-7DF8-4262-AC80-3E1E1C0DF4A1}" type="datetimeFigureOut">
              <a:rPr lang="en-US" smtClean="0"/>
              <a:t>9/12/2026</a:t>
            </a:fld>
            <a:endParaRPr lang="en-US"/>
          </a:p>
        </p:txBody>
      </p:sp>
      <p:sp>
        <p:nvSpPr>
          <p:cNvPr id="6" name="Footer Placeholder 5">
            <a:extLst>
              <a:ext uri="{FF2B5EF4-FFF2-40B4-BE49-F238E27FC236}">
                <a16:creationId xmlns:a16="http://schemas.microsoft.com/office/drawing/2014/main" id="{40E69772-03D7-6C5E-8968-316729886C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920979-285E-CB43-A290-6486566489CA}"/>
              </a:ext>
            </a:extLst>
          </p:cNvPr>
          <p:cNvSpPr>
            <a:spLocks noGrp="1"/>
          </p:cNvSpPr>
          <p:nvPr>
            <p:ph type="sldNum" sz="quarter" idx="12"/>
          </p:nvPr>
        </p:nvSpPr>
        <p:spPr/>
        <p:txBody>
          <a:bodyPr/>
          <a:lstStyle/>
          <a:p>
            <a:fld id="{1C230CF2-51EA-47D9-A9E9-76417FEC01F3}" type="slidenum">
              <a:rPr lang="en-US" smtClean="0"/>
              <a:t>‹#›</a:t>
            </a:fld>
            <a:endParaRPr lang="en-US"/>
          </a:p>
        </p:txBody>
      </p:sp>
    </p:spTree>
    <p:extLst>
      <p:ext uri="{BB962C8B-B14F-4D97-AF65-F5344CB8AC3E}">
        <p14:creationId xmlns:p14="http://schemas.microsoft.com/office/powerpoint/2010/main" val="2064869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60A06-3A45-8902-E3EB-50A3455FF3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69D642-1F7B-A101-98ED-924918C777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CFCD5B-09A4-0A99-D188-D9F85B2503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C7C654-118C-DE51-CE19-F26EB1654B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3EFEB1-C8BA-DE43-0A81-35190FD8BD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15A4D0-621A-5B6C-927E-32468CA16D74}"/>
              </a:ext>
            </a:extLst>
          </p:cNvPr>
          <p:cNvSpPr>
            <a:spLocks noGrp="1"/>
          </p:cNvSpPr>
          <p:nvPr>
            <p:ph type="dt" sz="half" idx="10"/>
          </p:nvPr>
        </p:nvSpPr>
        <p:spPr/>
        <p:txBody>
          <a:bodyPr/>
          <a:lstStyle/>
          <a:p>
            <a:fld id="{741DA73B-7DF8-4262-AC80-3E1E1C0DF4A1}" type="datetimeFigureOut">
              <a:rPr lang="en-US" smtClean="0"/>
              <a:t>9/12/2026</a:t>
            </a:fld>
            <a:endParaRPr lang="en-US"/>
          </a:p>
        </p:txBody>
      </p:sp>
      <p:sp>
        <p:nvSpPr>
          <p:cNvPr id="8" name="Footer Placeholder 7">
            <a:extLst>
              <a:ext uri="{FF2B5EF4-FFF2-40B4-BE49-F238E27FC236}">
                <a16:creationId xmlns:a16="http://schemas.microsoft.com/office/drawing/2014/main" id="{7505BAA1-DD42-19DF-A6AC-DDFAC713DB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925B09-8816-98A1-1C0E-8149CE507BAB}"/>
              </a:ext>
            </a:extLst>
          </p:cNvPr>
          <p:cNvSpPr>
            <a:spLocks noGrp="1"/>
          </p:cNvSpPr>
          <p:nvPr>
            <p:ph type="sldNum" sz="quarter" idx="12"/>
          </p:nvPr>
        </p:nvSpPr>
        <p:spPr/>
        <p:txBody>
          <a:bodyPr/>
          <a:lstStyle/>
          <a:p>
            <a:fld id="{1C230CF2-51EA-47D9-A9E9-76417FEC01F3}" type="slidenum">
              <a:rPr lang="en-US" smtClean="0"/>
              <a:t>‹#›</a:t>
            </a:fld>
            <a:endParaRPr lang="en-US"/>
          </a:p>
        </p:txBody>
      </p:sp>
    </p:spTree>
    <p:extLst>
      <p:ext uri="{BB962C8B-B14F-4D97-AF65-F5344CB8AC3E}">
        <p14:creationId xmlns:p14="http://schemas.microsoft.com/office/powerpoint/2010/main" val="1844932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DCB23-2DDA-0292-D81D-94824FC8D5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36C7078-EB76-945C-B010-492DD92090E1}"/>
              </a:ext>
            </a:extLst>
          </p:cNvPr>
          <p:cNvSpPr>
            <a:spLocks noGrp="1"/>
          </p:cNvSpPr>
          <p:nvPr>
            <p:ph type="dt" sz="half" idx="10"/>
          </p:nvPr>
        </p:nvSpPr>
        <p:spPr/>
        <p:txBody>
          <a:bodyPr/>
          <a:lstStyle/>
          <a:p>
            <a:fld id="{741DA73B-7DF8-4262-AC80-3E1E1C0DF4A1}" type="datetimeFigureOut">
              <a:rPr lang="en-US" smtClean="0"/>
              <a:t>9/12/2026</a:t>
            </a:fld>
            <a:endParaRPr lang="en-US"/>
          </a:p>
        </p:txBody>
      </p:sp>
      <p:sp>
        <p:nvSpPr>
          <p:cNvPr id="4" name="Footer Placeholder 3">
            <a:extLst>
              <a:ext uri="{FF2B5EF4-FFF2-40B4-BE49-F238E27FC236}">
                <a16:creationId xmlns:a16="http://schemas.microsoft.com/office/drawing/2014/main" id="{FE48D35C-35A7-30AB-400C-758102C1CB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000646-727F-48F8-A788-DB43A1BA4481}"/>
              </a:ext>
            </a:extLst>
          </p:cNvPr>
          <p:cNvSpPr>
            <a:spLocks noGrp="1"/>
          </p:cNvSpPr>
          <p:nvPr>
            <p:ph type="sldNum" sz="quarter" idx="12"/>
          </p:nvPr>
        </p:nvSpPr>
        <p:spPr/>
        <p:txBody>
          <a:bodyPr/>
          <a:lstStyle/>
          <a:p>
            <a:fld id="{1C230CF2-51EA-47D9-A9E9-76417FEC01F3}" type="slidenum">
              <a:rPr lang="en-US" smtClean="0"/>
              <a:t>‹#›</a:t>
            </a:fld>
            <a:endParaRPr lang="en-US"/>
          </a:p>
        </p:txBody>
      </p:sp>
    </p:spTree>
    <p:extLst>
      <p:ext uri="{BB962C8B-B14F-4D97-AF65-F5344CB8AC3E}">
        <p14:creationId xmlns:p14="http://schemas.microsoft.com/office/powerpoint/2010/main" val="1134813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96CD5E-25D0-06C2-9F97-A0BFE006AB0D}"/>
              </a:ext>
            </a:extLst>
          </p:cNvPr>
          <p:cNvSpPr>
            <a:spLocks noGrp="1"/>
          </p:cNvSpPr>
          <p:nvPr>
            <p:ph type="dt" sz="half" idx="10"/>
          </p:nvPr>
        </p:nvSpPr>
        <p:spPr/>
        <p:txBody>
          <a:bodyPr/>
          <a:lstStyle/>
          <a:p>
            <a:fld id="{741DA73B-7DF8-4262-AC80-3E1E1C0DF4A1}" type="datetimeFigureOut">
              <a:rPr lang="en-US" smtClean="0"/>
              <a:t>9/12/2026</a:t>
            </a:fld>
            <a:endParaRPr lang="en-US"/>
          </a:p>
        </p:txBody>
      </p:sp>
      <p:sp>
        <p:nvSpPr>
          <p:cNvPr id="3" name="Footer Placeholder 2">
            <a:extLst>
              <a:ext uri="{FF2B5EF4-FFF2-40B4-BE49-F238E27FC236}">
                <a16:creationId xmlns:a16="http://schemas.microsoft.com/office/drawing/2014/main" id="{79A2897B-5714-6ED7-B064-B8273B1E45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B788E7D-89ED-0A18-CEB2-F18035D9935D}"/>
              </a:ext>
            </a:extLst>
          </p:cNvPr>
          <p:cNvSpPr>
            <a:spLocks noGrp="1"/>
          </p:cNvSpPr>
          <p:nvPr>
            <p:ph type="sldNum" sz="quarter" idx="12"/>
          </p:nvPr>
        </p:nvSpPr>
        <p:spPr/>
        <p:txBody>
          <a:bodyPr/>
          <a:lstStyle/>
          <a:p>
            <a:fld id="{1C230CF2-51EA-47D9-A9E9-76417FEC01F3}" type="slidenum">
              <a:rPr lang="en-US" smtClean="0"/>
              <a:t>‹#›</a:t>
            </a:fld>
            <a:endParaRPr lang="en-US"/>
          </a:p>
        </p:txBody>
      </p:sp>
    </p:spTree>
    <p:extLst>
      <p:ext uri="{BB962C8B-B14F-4D97-AF65-F5344CB8AC3E}">
        <p14:creationId xmlns:p14="http://schemas.microsoft.com/office/powerpoint/2010/main" val="1119488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BF2E7-7A3F-80FA-1D93-4DAF637E10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A0E269-5764-E7AB-D669-FBCA2B8A6F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99BBD87-D665-D391-4212-5B64CC9853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738F13-F72F-DA0A-82EA-E7A3627EA3D4}"/>
              </a:ext>
            </a:extLst>
          </p:cNvPr>
          <p:cNvSpPr>
            <a:spLocks noGrp="1"/>
          </p:cNvSpPr>
          <p:nvPr>
            <p:ph type="dt" sz="half" idx="10"/>
          </p:nvPr>
        </p:nvSpPr>
        <p:spPr/>
        <p:txBody>
          <a:bodyPr/>
          <a:lstStyle/>
          <a:p>
            <a:fld id="{741DA73B-7DF8-4262-AC80-3E1E1C0DF4A1}" type="datetimeFigureOut">
              <a:rPr lang="en-US" smtClean="0"/>
              <a:t>9/12/2026</a:t>
            </a:fld>
            <a:endParaRPr lang="en-US"/>
          </a:p>
        </p:txBody>
      </p:sp>
      <p:sp>
        <p:nvSpPr>
          <p:cNvPr id="6" name="Footer Placeholder 5">
            <a:extLst>
              <a:ext uri="{FF2B5EF4-FFF2-40B4-BE49-F238E27FC236}">
                <a16:creationId xmlns:a16="http://schemas.microsoft.com/office/drawing/2014/main" id="{40044D20-CB7E-17B0-D105-4B6B89B52A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FD08C9-1C4E-7E95-E860-DEA91242C184}"/>
              </a:ext>
            </a:extLst>
          </p:cNvPr>
          <p:cNvSpPr>
            <a:spLocks noGrp="1"/>
          </p:cNvSpPr>
          <p:nvPr>
            <p:ph type="sldNum" sz="quarter" idx="12"/>
          </p:nvPr>
        </p:nvSpPr>
        <p:spPr/>
        <p:txBody>
          <a:bodyPr/>
          <a:lstStyle/>
          <a:p>
            <a:fld id="{1C230CF2-51EA-47D9-A9E9-76417FEC01F3}" type="slidenum">
              <a:rPr lang="en-US" smtClean="0"/>
              <a:t>‹#›</a:t>
            </a:fld>
            <a:endParaRPr lang="en-US"/>
          </a:p>
        </p:txBody>
      </p:sp>
    </p:spTree>
    <p:extLst>
      <p:ext uri="{BB962C8B-B14F-4D97-AF65-F5344CB8AC3E}">
        <p14:creationId xmlns:p14="http://schemas.microsoft.com/office/powerpoint/2010/main" val="2788919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26410-6A10-C186-A7ED-FC7D4030E3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FBD911C-F3C5-5BD5-A2CF-99B6DD28B0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D780E0-7567-077F-CDCB-E8BEC7790E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985E49-B9B7-B49B-C4C5-09E2A5C20BB5}"/>
              </a:ext>
            </a:extLst>
          </p:cNvPr>
          <p:cNvSpPr>
            <a:spLocks noGrp="1"/>
          </p:cNvSpPr>
          <p:nvPr>
            <p:ph type="dt" sz="half" idx="10"/>
          </p:nvPr>
        </p:nvSpPr>
        <p:spPr/>
        <p:txBody>
          <a:bodyPr/>
          <a:lstStyle/>
          <a:p>
            <a:fld id="{741DA73B-7DF8-4262-AC80-3E1E1C0DF4A1}" type="datetimeFigureOut">
              <a:rPr lang="en-US" smtClean="0"/>
              <a:t>9/12/2026</a:t>
            </a:fld>
            <a:endParaRPr lang="en-US"/>
          </a:p>
        </p:txBody>
      </p:sp>
      <p:sp>
        <p:nvSpPr>
          <p:cNvPr id="6" name="Footer Placeholder 5">
            <a:extLst>
              <a:ext uri="{FF2B5EF4-FFF2-40B4-BE49-F238E27FC236}">
                <a16:creationId xmlns:a16="http://schemas.microsoft.com/office/drawing/2014/main" id="{D6AA7DEB-8ABE-9F57-E766-11A32F45B7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3FD7FA-2D63-77DC-157B-6F8736CA99B2}"/>
              </a:ext>
            </a:extLst>
          </p:cNvPr>
          <p:cNvSpPr>
            <a:spLocks noGrp="1"/>
          </p:cNvSpPr>
          <p:nvPr>
            <p:ph type="sldNum" sz="quarter" idx="12"/>
          </p:nvPr>
        </p:nvSpPr>
        <p:spPr/>
        <p:txBody>
          <a:bodyPr/>
          <a:lstStyle/>
          <a:p>
            <a:fld id="{1C230CF2-51EA-47D9-A9E9-76417FEC01F3}" type="slidenum">
              <a:rPr lang="en-US" smtClean="0"/>
              <a:t>‹#›</a:t>
            </a:fld>
            <a:endParaRPr lang="en-US"/>
          </a:p>
        </p:txBody>
      </p:sp>
    </p:spTree>
    <p:extLst>
      <p:ext uri="{BB962C8B-B14F-4D97-AF65-F5344CB8AC3E}">
        <p14:creationId xmlns:p14="http://schemas.microsoft.com/office/powerpoint/2010/main" val="266482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6055-C540-269B-9AB0-5B9E210CF5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33F72F-001B-E129-F012-B3934EFBE0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35FB60-B847-47B1-8D83-512E188AED75}"/>
              </a:ext>
            </a:extLst>
          </p:cNvPr>
          <p:cNvSpPr>
            <a:spLocks noGrp="1"/>
          </p:cNvSpPr>
          <p:nvPr>
            <p:ph type="dt" sz="half" idx="10"/>
          </p:nvPr>
        </p:nvSpPr>
        <p:spPr/>
        <p:txBody>
          <a:bodyPr/>
          <a:lstStyle/>
          <a:p>
            <a:fld id="{741DA73B-7DF8-4262-AC80-3E1E1C0DF4A1}" type="datetimeFigureOut">
              <a:rPr lang="en-US" smtClean="0"/>
              <a:t>9/12/2026</a:t>
            </a:fld>
            <a:endParaRPr lang="en-US"/>
          </a:p>
        </p:txBody>
      </p:sp>
      <p:sp>
        <p:nvSpPr>
          <p:cNvPr id="5" name="Footer Placeholder 4">
            <a:extLst>
              <a:ext uri="{FF2B5EF4-FFF2-40B4-BE49-F238E27FC236}">
                <a16:creationId xmlns:a16="http://schemas.microsoft.com/office/drawing/2014/main" id="{9EF4372E-9597-45AF-17BE-1194149EAD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A48FEF-97BE-920D-95F2-1E9A21430625}"/>
              </a:ext>
            </a:extLst>
          </p:cNvPr>
          <p:cNvSpPr>
            <a:spLocks noGrp="1"/>
          </p:cNvSpPr>
          <p:nvPr>
            <p:ph type="sldNum" sz="quarter" idx="12"/>
          </p:nvPr>
        </p:nvSpPr>
        <p:spPr/>
        <p:txBody>
          <a:bodyPr/>
          <a:lstStyle/>
          <a:p>
            <a:fld id="{1C230CF2-51EA-47D9-A9E9-76417FEC01F3}" type="slidenum">
              <a:rPr lang="en-US" smtClean="0"/>
              <a:t>‹#›</a:t>
            </a:fld>
            <a:endParaRPr lang="en-US"/>
          </a:p>
        </p:txBody>
      </p:sp>
    </p:spTree>
    <p:extLst>
      <p:ext uri="{BB962C8B-B14F-4D97-AF65-F5344CB8AC3E}">
        <p14:creationId xmlns:p14="http://schemas.microsoft.com/office/powerpoint/2010/main" val="1053245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A6B77D-EF8B-BF41-FFC6-E7DCF4DCE8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3403D8-A3ED-D4CE-7114-8589052D38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CA15B4-14A3-29F5-EA0F-588257AC4528}"/>
              </a:ext>
            </a:extLst>
          </p:cNvPr>
          <p:cNvSpPr>
            <a:spLocks noGrp="1"/>
          </p:cNvSpPr>
          <p:nvPr>
            <p:ph type="dt" sz="half" idx="10"/>
          </p:nvPr>
        </p:nvSpPr>
        <p:spPr/>
        <p:txBody>
          <a:bodyPr/>
          <a:lstStyle/>
          <a:p>
            <a:fld id="{741DA73B-7DF8-4262-AC80-3E1E1C0DF4A1}" type="datetimeFigureOut">
              <a:rPr lang="en-US" smtClean="0"/>
              <a:t>9/12/2026</a:t>
            </a:fld>
            <a:endParaRPr lang="en-US"/>
          </a:p>
        </p:txBody>
      </p:sp>
      <p:sp>
        <p:nvSpPr>
          <p:cNvPr id="5" name="Footer Placeholder 4">
            <a:extLst>
              <a:ext uri="{FF2B5EF4-FFF2-40B4-BE49-F238E27FC236}">
                <a16:creationId xmlns:a16="http://schemas.microsoft.com/office/drawing/2014/main" id="{7401BF67-37B2-E8A0-98FA-814E0F8C6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C99059-AEC5-D378-CE11-16B4B5EAC93B}"/>
              </a:ext>
            </a:extLst>
          </p:cNvPr>
          <p:cNvSpPr>
            <a:spLocks noGrp="1"/>
          </p:cNvSpPr>
          <p:nvPr>
            <p:ph type="sldNum" sz="quarter" idx="12"/>
          </p:nvPr>
        </p:nvSpPr>
        <p:spPr/>
        <p:txBody>
          <a:bodyPr/>
          <a:lstStyle/>
          <a:p>
            <a:fld id="{1C230CF2-51EA-47D9-A9E9-76417FEC01F3}" type="slidenum">
              <a:rPr lang="en-US" smtClean="0"/>
              <a:t>‹#›</a:t>
            </a:fld>
            <a:endParaRPr lang="en-US"/>
          </a:p>
        </p:txBody>
      </p:sp>
    </p:spTree>
    <p:extLst>
      <p:ext uri="{BB962C8B-B14F-4D97-AF65-F5344CB8AC3E}">
        <p14:creationId xmlns:p14="http://schemas.microsoft.com/office/powerpoint/2010/main" val="373721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E42CBA-929F-4C74-431E-39FEB4B521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E76266-E69D-4CF4-A74D-DA2613809C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3C4452-1452-78C3-C686-492467B740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1DA73B-7DF8-4262-AC80-3E1E1C0DF4A1}" type="datetimeFigureOut">
              <a:rPr lang="en-US" smtClean="0"/>
              <a:t>9/12/2026</a:t>
            </a:fld>
            <a:endParaRPr lang="en-US"/>
          </a:p>
        </p:txBody>
      </p:sp>
      <p:sp>
        <p:nvSpPr>
          <p:cNvPr id="5" name="Footer Placeholder 4">
            <a:extLst>
              <a:ext uri="{FF2B5EF4-FFF2-40B4-BE49-F238E27FC236}">
                <a16:creationId xmlns:a16="http://schemas.microsoft.com/office/drawing/2014/main" id="{47E11BDE-3428-7F8A-C25E-8FEED423A9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A9BB67D-049E-5D32-D021-A9C7ACBEE7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230CF2-51EA-47D9-A9E9-76417FEC01F3}" type="slidenum">
              <a:rPr lang="en-US" smtClean="0"/>
              <a:t>‹#›</a:t>
            </a:fld>
            <a:endParaRPr lang="en-US"/>
          </a:p>
        </p:txBody>
      </p:sp>
    </p:spTree>
    <p:extLst>
      <p:ext uri="{BB962C8B-B14F-4D97-AF65-F5344CB8AC3E}">
        <p14:creationId xmlns:p14="http://schemas.microsoft.com/office/powerpoint/2010/main" val="5204995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8B8B7574-F1E4-BF4C-0451-6DBC515A4AB8}"/>
              </a:ext>
            </a:extLst>
          </p:cNvPr>
          <p:cNvSpPr/>
          <p:nvPr/>
        </p:nvSpPr>
        <p:spPr>
          <a:xfrm>
            <a:off x="1343116" y="1504953"/>
            <a:ext cx="1751067" cy="124780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E296D33-8784-0B9E-4967-44A7028CCC80}"/>
              </a:ext>
            </a:extLst>
          </p:cNvPr>
          <p:cNvSpPr/>
          <p:nvPr/>
        </p:nvSpPr>
        <p:spPr>
          <a:xfrm>
            <a:off x="3149600" y="1190513"/>
            <a:ext cx="2724727" cy="1839551"/>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DCD5FB1C-94C5-7DF6-991B-CF5FFA55E153}"/>
              </a:ext>
            </a:extLst>
          </p:cNvPr>
          <p:cNvSpPr/>
          <p:nvPr/>
        </p:nvSpPr>
        <p:spPr>
          <a:xfrm>
            <a:off x="3402060" y="1579419"/>
            <a:ext cx="2164390" cy="1089890"/>
          </a:xfrm>
          <a:prstGeom prst="roundRect">
            <a:avLst/>
          </a:prstGeom>
          <a:gradFill flip="none" rotWithShape="1">
            <a:gsLst>
              <a:gs pos="100000">
                <a:schemeClr val="accent5">
                  <a:lumMod val="50000"/>
                </a:schemeClr>
              </a:gs>
              <a:gs pos="25000">
                <a:schemeClr val="accent5">
                  <a:lumMod val="60000"/>
                  <a:lumOff val="40000"/>
                </a:schemeClr>
              </a:gs>
              <a:gs pos="80000">
                <a:schemeClr val="accent5">
                  <a:lumMod val="60000"/>
                  <a:lumOff val="40000"/>
                </a:schemeClr>
              </a:gs>
              <a:gs pos="53000">
                <a:schemeClr val="accent6">
                  <a:lumMod val="20000"/>
                  <a:lumOff val="80000"/>
                </a:schemeClr>
              </a:gs>
              <a:gs pos="0">
                <a:schemeClr val="accent5">
                  <a:lumMod val="50000"/>
                </a:schemeClr>
              </a:gs>
            </a:gsLst>
            <a:lin ang="16200000" scaled="1"/>
            <a:tileRect/>
          </a:gradFill>
          <a:ln w="381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A7F9933D-15DF-20AC-F22C-8BC412CA4716}"/>
              </a:ext>
            </a:extLst>
          </p:cNvPr>
          <p:cNvSpPr/>
          <p:nvPr/>
        </p:nvSpPr>
        <p:spPr>
          <a:xfrm>
            <a:off x="1591733" y="1718733"/>
            <a:ext cx="1278467" cy="795867"/>
          </a:xfrm>
          <a:prstGeom prst="roundRect">
            <a:avLst/>
          </a:prstGeom>
          <a:gradFill flip="none" rotWithShape="1">
            <a:gsLst>
              <a:gs pos="93000">
                <a:schemeClr val="accent4">
                  <a:lumMod val="50000"/>
                </a:schemeClr>
              </a:gs>
              <a:gs pos="27000">
                <a:schemeClr val="accent4">
                  <a:lumMod val="60000"/>
                  <a:lumOff val="40000"/>
                </a:schemeClr>
              </a:gs>
              <a:gs pos="73000">
                <a:schemeClr val="accent4">
                  <a:lumMod val="60000"/>
                  <a:lumOff val="40000"/>
                </a:schemeClr>
              </a:gs>
              <a:gs pos="53000">
                <a:schemeClr val="accent4">
                  <a:lumMod val="20000"/>
                  <a:lumOff val="80000"/>
                </a:schemeClr>
              </a:gs>
              <a:gs pos="0">
                <a:schemeClr val="accent4">
                  <a:lumMod val="50000"/>
                </a:schemeClr>
              </a:gs>
            </a:gsLst>
            <a:lin ang="16200000" scaled="1"/>
            <a:tileRect/>
          </a:grad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3DFB7FCC-943C-25AA-E4AB-C1384E6EB42E}"/>
              </a:ext>
            </a:extLst>
          </p:cNvPr>
          <p:cNvSpPr/>
          <p:nvPr/>
        </p:nvSpPr>
        <p:spPr>
          <a:xfrm>
            <a:off x="3474721" y="1578007"/>
            <a:ext cx="1817716" cy="1089890"/>
          </a:xfrm>
          <a:prstGeom prst="roundRect">
            <a:avLst/>
          </a:prstGeom>
          <a:gradFill flip="none" rotWithShape="1">
            <a:gsLst>
              <a:gs pos="100000">
                <a:schemeClr val="accent6">
                  <a:lumMod val="50000"/>
                </a:schemeClr>
              </a:gs>
              <a:gs pos="25000">
                <a:schemeClr val="accent6">
                  <a:lumMod val="40000"/>
                  <a:lumOff val="60000"/>
                </a:schemeClr>
              </a:gs>
              <a:gs pos="80000">
                <a:schemeClr val="accent6">
                  <a:lumMod val="40000"/>
                  <a:lumOff val="60000"/>
                </a:schemeClr>
              </a:gs>
              <a:gs pos="53000">
                <a:schemeClr val="accent6">
                  <a:lumMod val="20000"/>
                  <a:lumOff val="80000"/>
                </a:schemeClr>
              </a:gs>
              <a:gs pos="0">
                <a:schemeClr val="accent6">
                  <a:lumMod val="50000"/>
                </a:schemeClr>
              </a:gs>
            </a:gsLst>
            <a:lin ang="16200000" scaled="1"/>
            <a:tileRect/>
          </a:gradFill>
          <a:ln w="381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7E6D4FB3-C479-4E0E-B876-B15C80BBE78F}"/>
              </a:ext>
            </a:extLst>
          </p:cNvPr>
          <p:cNvCxnSpPr>
            <a:cxnSpLocks/>
          </p:cNvCxnSpPr>
          <p:nvPr/>
        </p:nvCxnSpPr>
        <p:spPr>
          <a:xfrm>
            <a:off x="1228436" y="2105891"/>
            <a:ext cx="4969164"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FA3FF47-1A2D-E4F1-0E7C-34312805DF97}"/>
              </a:ext>
            </a:extLst>
          </p:cNvPr>
          <p:cNvSpPr/>
          <p:nvPr/>
        </p:nvSpPr>
        <p:spPr>
          <a:xfrm>
            <a:off x="2870200" y="1948873"/>
            <a:ext cx="531858" cy="314036"/>
          </a:xfrm>
          <a:prstGeom prst="rect">
            <a:avLst/>
          </a:prstGeom>
          <a:gradFill>
            <a:gsLst>
              <a:gs pos="100000">
                <a:schemeClr val="bg2">
                  <a:lumMod val="25000"/>
                </a:schemeClr>
              </a:gs>
              <a:gs pos="25000">
                <a:schemeClr val="bg2">
                  <a:lumMod val="50000"/>
                </a:schemeClr>
              </a:gs>
              <a:gs pos="80000">
                <a:schemeClr val="bg2">
                  <a:lumMod val="50000"/>
                </a:schemeClr>
              </a:gs>
              <a:gs pos="53000">
                <a:schemeClr val="bg2">
                  <a:lumMod val="90000"/>
                </a:schemeClr>
              </a:gs>
              <a:gs pos="0">
                <a:schemeClr val="bg2">
                  <a:lumMod val="25000"/>
                </a:schemeClr>
              </a:gs>
            </a:gsLst>
            <a:lin ang="162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3D90AC1-5635-EEF8-70E1-2F01F5692DAE}"/>
              </a:ext>
            </a:extLst>
          </p:cNvPr>
          <p:cNvSpPr/>
          <p:nvPr/>
        </p:nvSpPr>
        <p:spPr>
          <a:xfrm>
            <a:off x="1717964" y="1989406"/>
            <a:ext cx="221673" cy="221673"/>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B9D4BA1-C4A9-7F90-885C-BA4431F82D5E}"/>
              </a:ext>
            </a:extLst>
          </p:cNvPr>
          <p:cNvSpPr/>
          <p:nvPr/>
        </p:nvSpPr>
        <p:spPr>
          <a:xfrm>
            <a:off x="3543681" y="1989403"/>
            <a:ext cx="221673" cy="221673"/>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489CB1B-533B-9C79-2865-0DDC3C31FD9B}"/>
              </a:ext>
            </a:extLst>
          </p:cNvPr>
          <p:cNvSpPr/>
          <p:nvPr/>
        </p:nvSpPr>
        <p:spPr>
          <a:xfrm>
            <a:off x="5025777" y="1989404"/>
            <a:ext cx="221673" cy="221673"/>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4EFF989-85F5-77E3-A8FB-FAF55EFD687E}"/>
              </a:ext>
            </a:extLst>
          </p:cNvPr>
          <p:cNvSpPr/>
          <p:nvPr/>
        </p:nvSpPr>
        <p:spPr>
          <a:xfrm>
            <a:off x="4299804" y="2752755"/>
            <a:ext cx="221673" cy="221673"/>
          </a:xfrm>
          <a:prstGeom prst="ellipse">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3B9833D-799D-26CB-7243-534282BE73AE}"/>
              </a:ext>
            </a:extLst>
          </p:cNvPr>
          <p:cNvSpPr/>
          <p:nvPr/>
        </p:nvSpPr>
        <p:spPr>
          <a:xfrm>
            <a:off x="3149600" y="5265807"/>
            <a:ext cx="2724727" cy="36216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5719FAAE-2FD3-6473-CBDA-195DB6DBAB19}"/>
              </a:ext>
            </a:extLst>
          </p:cNvPr>
          <p:cNvSpPr/>
          <p:nvPr/>
        </p:nvSpPr>
        <p:spPr>
          <a:xfrm>
            <a:off x="3402060" y="4177330"/>
            <a:ext cx="2164390" cy="1089890"/>
          </a:xfrm>
          <a:prstGeom prst="roundRect">
            <a:avLst/>
          </a:prstGeom>
          <a:gradFill flip="none" rotWithShape="1">
            <a:gsLst>
              <a:gs pos="100000">
                <a:schemeClr val="accent5">
                  <a:lumMod val="50000"/>
                </a:schemeClr>
              </a:gs>
              <a:gs pos="25000">
                <a:schemeClr val="accent5">
                  <a:lumMod val="60000"/>
                  <a:lumOff val="40000"/>
                </a:schemeClr>
              </a:gs>
              <a:gs pos="80000">
                <a:schemeClr val="accent5">
                  <a:lumMod val="60000"/>
                  <a:lumOff val="40000"/>
                </a:schemeClr>
              </a:gs>
              <a:gs pos="53000">
                <a:schemeClr val="accent6">
                  <a:lumMod val="20000"/>
                  <a:lumOff val="80000"/>
                </a:schemeClr>
              </a:gs>
              <a:gs pos="0">
                <a:schemeClr val="accent5">
                  <a:lumMod val="50000"/>
                </a:schemeClr>
              </a:gs>
            </a:gsLst>
            <a:lin ang="16200000" scaled="1"/>
            <a:tileRect/>
          </a:gradFill>
          <a:ln w="381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4335733-5CA7-58DA-7BF9-88E9B38BBECB}"/>
              </a:ext>
            </a:extLst>
          </p:cNvPr>
          <p:cNvSpPr/>
          <p:nvPr/>
        </p:nvSpPr>
        <p:spPr>
          <a:xfrm>
            <a:off x="1591733" y="4316644"/>
            <a:ext cx="1278467" cy="795867"/>
          </a:xfrm>
          <a:prstGeom prst="roundRect">
            <a:avLst/>
          </a:prstGeom>
          <a:gradFill flip="none" rotWithShape="1">
            <a:gsLst>
              <a:gs pos="93000">
                <a:schemeClr val="accent4">
                  <a:lumMod val="50000"/>
                </a:schemeClr>
              </a:gs>
              <a:gs pos="27000">
                <a:schemeClr val="accent4">
                  <a:lumMod val="60000"/>
                  <a:lumOff val="40000"/>
                </a:schemeClr>
              </a:gs>
              <a:gs pos="73000">
                <a:schemeClr val="accent4">
                  <a:lumMod val="60000"/>
                  <a:lumOff val="40000"/>
                </a:schemeClr>
              </a:gs>
              <a:gs pos="53000">
                <a:schemeClr val="accent4">
                  <a:lumMod val="20000"/>
                  <a:lumOff val="80000"/>
                </a:schemeClr>
              </a:gs>
              <a:gs pos="0">
                <a:schemeClr val="accent4">
                  <a:lumMod val="50000"/>
                </a:schemeClr>
              </a:gs>
            </a:gsLst>
            <a:lin ang="16200000" scaled="1"/>
            <a:tileRect/>
          </a:grad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6DA9C101-0D2F-5C48-5DC6-3635F941D4E0}"/>
              </a:ext>
            </a:extLst>
          </p:cNvPr>
          <p:cNvSpPr/>
          <p:nvPr/>
        </p:nvSpPr>
        <p:spPr>
          <a:xfrm>
            <a:off x="3474721" y="4175918"/>
            <a:ext cx="1817716" cy="1089890"/>
          </a:xfrm>
          <a:prstGeom prst="roundRect">
            <a:avLst/>
          </a:prstGeom>
          <a:gradFill flip="none" rotWithShape="1">
            <a:gsLst>
              <a:gs pos="100000">
                <a:schemeClr val="accent6">
                  <a:lumMod val="50000"/>
                </a:schemeClr>
              </a:gs>
              <a:gs pos="25000">
                <a:schemeClr val="accent6">
                  <a:lumMod val="40000"/>
                  <a:lumOff val="60000"/>
                </a:schemeClr>
              </a:gs>
              <a:gs pos="80000">
                <a:schemeClr val="accent6">
                  <a:lumMod val="40000"/>
                  <a:lumOff val="60000"/>
                </a:schemeClr>
              </a:gs>
              <a:gs pos="53000">
                <a:schemeClr val="accent6">
                  <a:lumMod val="20000"/>
                  <a:lumOff val="80000"/>
                </a:schemeClr>
              </a:gs>
              <a:gs pos="0">
                <a:schemeClr val="accent6">
                  <a:lumMod val="50000"/>
                </a:schemeClr>
              </a:gs>
            </a:gsLst>
            <a:lin ang="16200000" scaled="1"/>
            <a:tileRect/>
          </a:gradFill>
          <a:ln w="381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82575023-145F-22C3-D06A-1D0BA8CD1DED}"/>
              </a:ext>
            </a:extLst>
          </p:cNvPr>
          <p:cNvCxnSpPr>
            <a:cxnSpLocks/>
          </p:cNvCxnSpPr>
          <p:nvPr/>
        </p:nvCxnSpPr>
        <p:spPr>
          <a:xfrm>
            <a:off x="1228436" y="4703802"/>
            <a:ext cx="4969164"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C629BE97-0687-E6C8-8400-0C59C13FED7D}"/>
              </a:ext>
            </a:extLst>
          </p:cNvPr>
          <p:cNvSpPr/>
          <p:nvPr/>
        </p:nvSpPr>
        <p:spPr>
          <a:xfrm>
            <a:off x="2870200" y="4546784"/>
            <a:ext cx="531858" cy="314036"/>
          </a:xfrm>
          <a:prstGeom prst="rect">
            <a:avLst/>
          </a:prstGeom>
          <a:gradFill>
            <a:gsLst>
              <a:gs pos="100000">
                <a:schemeClr val="bg2">
                  <a:lumMod val="25000"/>
                </a:schemeClr>
              </a:gs>
              <a:gs pos="25000">
                <a:schemeClr val="bg2">
                  <a:lumMod val="50000"/>
                </a:schemeClr>
              </a:gs>
              <a:gs pos="80000">
                <a:schemeClr val="bg2">
                  <a:lumMod val="50000"/>
                </a:schemeClr>
              </a:gs>
              <a:gs pos="53000">
                <a:schemeClr val="bg2">
                  <a:lumMod val="90000"/>
                </a:schemeClr>
              </a:gs>
              <a:gs pos="0">
                <a:schemeClr val="bg2">
                  <a:lumMod val="25000"/>
                </a:schemeClr>
              </a:gs>
            </a:gsLst>
            <a:lin ang="162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9A0FC44-21C7-D59A-191B-D62C04ED67B7}"/>
              </a:ext>
            </a:extLst>
          </p:cNvPr>
          <p:cNvSpPr/>
          <p:nvPr/>
        </p:nvSpPr>
        <p:spPr>
          <a:xfrm>
            <a:off x="1717964" y="4019281"/>
            <a:ext cx="229674" cy="299800"/>
          </a:xfrm>
          <a:prstGeom prst="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8C1BF53-F10E-8C71-31C3-F444A2D02966}"/>
              </a:ext>
            </a:extLst>
          </p:cNvPr>
          <p:cNvSpPr/>
          <p:nvPr/>
        </p:nvSpPr>
        <p:spPr>
          <a:xfrm>
            <a:off x="3535680" y="3888782"/>
            <a:ext cx="229674" cy="299800"/>
          </a:xfrm>
          <a:prstGeom prst="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B461688-A55D-9046-82DC-6191D60C90A8}"/>
              </a:ext>
            </a:extLst>
          </p:cNvPr>
          <p:cNvSpPr/>
          <p:nvPr/>
        </p:nvSpPr>
        <p:spPr>
          <a:xfrm>
            <a:off x="5025777" y="3902012"/>
            <a:ext cx="229674" cy="299800"/>
          </a:xfrm>
          <a:prstGeom prst="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78F8B9F-9111-D6EF-0F91-EC31E595C4DA}"/>
              </a:ext>
            </a:extLst>
          </p:cNvPr>
          <p:cNvSpPr/>
          <p:nvPr/>
        </p:nvSpPr>
        <p:spPr>
          <a:xfrm>
            <a:off x="4284720" y="4973043"/>
            <a:ext cx="229674" cy="299800"/>
          </a:xfrm>
          <a:prstGeom prst="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9AC4FB6-92BA-FA19-C80B-103E6C02079D}"/>
              </a:ext>
            </a:extLst>
          </p:cNvPr>
          <p:cNvSpPr/>
          <p:nvPr/>
        </p:nvSpPr>
        <p:spPr>
          <a:xfrm>
            <a:off x="1343117" y="5118315"/>
            <a:ext cx="1741442" cy="50969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B750D882-6B36-8398-F6E1-961AE3969657}"/>
              </a:ext>
            </a:extLst>
          </p:cNvPr>
          <p:cNvSpPr txBox="1"/>
          <p:nvPr/>
        </p:nvSpPr>
        <p:spPr>
          <a:xfrm>
            <a:off x="914400" y="3162300"/>
            <a:ext cx="428716" cy="369332"/>
          </a:xfrm>
          <a:prstGeom prst="rect">
            <a:avLst/>
          </a:prstGeom>
          <a:noFill/>
          <a:ln>
            <a:solidFill>
              <a:schemeClr val="accent1"/>
            </a:solidFill>
          </a:ln>
        </p:spPr>
        <p:txBody>
          <a:bodyPr wrap="square" rtlCol="0">
            <a:spAutoFit/>
          </a:bodyPr>
          <a:lstStyle/>
          <a:p>
            <a:r>
              <a:rPr lang="en-US"/>
              <a:t>S1</a:t>
            </a:r>
          </a:p>
        </p:txBody>
      </p:sp>
      <p:sp>
        <p:nvSpPr>
          <p:cNvPr id="35" name="TextBox 34">
            <a:extLst>
              <a:ext uri="{FF2B5EF4-FFF2-40B4-BE49-F238E27FC236}">
                <a16:creationId xmlns:a16="http://schemas.microsoft.com/office/drawing/2014/main" id="{A87FD0E9-6EF2-B03D-144B-5ACDFC05F088}"/>
              </a:ext>
            </a:extLst>
          </p:cNvPr>
          <p:cNvSpPr txBox="1"/>
          <p:nvPr/>
        </p:nvSpPr>
        <p:spPr>
          <a:xfrm>
            <a:off x="2655842" y="3287006"/>
            <a:ext cx="428716" cy="369332"/>
          </a:xfrm>
          <a:prstGeom prst="rect">
            <a:avLst/>
          </a:prstGeom>
          <a:noFill/>
          <a:ln>
            <a:solidFill>
              <a:schemeClr val="accent1"/>
            </a:solidFill>
          </a:ln>
        </p:spPr>
        <p:txBody>
          <a:bodyPr wrap="square" rtlCol="0">
            <a:spAutoFit/>
          </a:bodyPr>
          <a:lstStyle/>
          <a:p>
            <a:r>
              <a:rPr lang="en-US"/>
              <a:t>S3</a:t>
            </a:r>
          </a:p>
        </p:txBody>
      </p:sp>
      <p:sp>
        <p:nvSpPr>
          <p:cNvPr id="36" name="TextBox 35">
            <a:extLst>
              <a:ext uri="{FF2B5EF4-FFF2-40B4-BE49-F238E27FC236}">
                <a16:creationId xmlns:a16="http://schemas.microsoft.com/office/drawing/2014/main" id="{9F7ADC3E-2F47-A854-6303-650A95BDA81A}"/>
              </a:ext>
            </a:extLst>
          </p:cNvPr>
          <p:cNvSpPr txBox="1"/>
          <p:nvPr/>
        </p:nvSpPr>
        <p:spPr>
          <a:xfrm>
            <a:off x="3871088" y="3387384"/>
            <a:ext cx="428716" cy="369332"/>
          </a:xfrm>
          <a:prstGeom prst="rect">
            <a:avLst/>
          </a:prstGeom>
          <a:noFill/>
          <a:ln>
            <a:solidFill>
              <a:schemeClr val="accent1"/>
            </a:solidFill>
          </a:ln>
        </p:spPr>
        <p:txBody>
          <a:bodyPr wrap="square" rtlCol="0">
            <a:spAutoFit/>
          </a:bodyPr>
          <a:lstStyle/>
          <a:p>
            <a:r>
              <a:rPr lang="en-US"/>
              <a:t>S2</a:t>
            </a:r>
          </a:p>
        </p:txBody>
      </p:sp>
      <p:sp>
        <p:nvSpPr>
          <p:cNvPr id="37" name="TextBox 36">
            <a:extLst>
              <a:ext uri="{FF2B5EF4-FFF2-40B4-BE49-F238E27FC236}">
                <a16:creationId xmlns:a16="http://schemas.microsoft.com/office/drawing/2014/main" id="{63400BA2-40D5-B33E-E016-A1CA0BC7F8EA}"/>
              </a:ext>
            </a:extLst>
          </p:cNvPr>
          <p:cNvSpPr txBox="1"/>
          <p:nvPr/>
        </p:nvSpPr>
        <p:spPr>
          <a:xfrm>
            <a:off x="5566450" y="3282804"/>
            <a:ext cx="428716" cy="369332"/>
          </a:xfrm>
          <a:prstGeom prst="rect">
            <a:avLst/>
          </a:prstGeom>
          <a:noFill/>
          <a:ln>
            <a:solidFill>
              <a:schemeClr val="accent1"/>
            </a:solidFill>
          </a:ln>
        </p:spPr>
        <p:txBody>
          <a:bodyPr wrap="square" rtlCol="0">
            <a:spAutoFit/>
          </a:bodyPr>
          <a:lstStyle/>
          <a:p>
            <a:r>
              <a:rPr lang="en-US"/>
              <a:t>S4</a:t>
            </a:r>
          </a:p>
        </p:txBody>
      </p:sp>
      <p:cxnSp>
        <p:nvCxnSpPr>
          <p:cNvPr id="39" name="Straight Connector 38">
            <a:extLst>
              <a:ext uri="{FF2B5EF4-FFF2-40B4-BE49-F238E27FC236}">
                <a16:creationId xmlns:a16="http://schemas.microsoft.com/office/drawing/2014/main" id="{7DE5AE6D-10AD-6D66-D588-F3C76FF59636}"/>
              </a:ext>
            </a:extLst>
          </p:cNvPr>
          <p:cNvCxnSpPr>
            <a:stCxn id="34" idx="0"/>
            <a:endCxn id="14" idx="3"/>
          </p:cNvCxnSpPr>
          <p:nvPr/>
        </p:nvCxnSpPr>
        <p:spPr>
          <a:xfrm flipV="1">
            <a:off x="1128758" y="2178616"/>
            <a:ext cx="621669" cy="983684"/>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BC8B071-C076-87A1-4ADD-8310E1F4F366}"/>
              </a:ext>
            </a:extLst>
          </p:cNvPr>
          <p:cNvCxnSpPr>
            <a:stCxn id="34" idx="2"/>
          </p:cNvCxnSpPr>
          <p:nvPr/>
        </p:nvCxnSpPr>
        <p:spPr>
          <a:xfrm>
            <a:off x="1128758" y="3531632"/>
            <a:ext cx="579948" cy="499961"/>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76FFAD9-58CE-71A5-1094-821E60DE4924}"/>
              </a:ext>
            </a:extLst>
          </p:cNvPr>
          <p:cNvCxnSpPr>
            <a:stCxn id="35" idx="0"/>
          </p:cNvCxnSpPr>
          <p:nvPr/>
        </p:nvCxnSpPr>
        <p:spPr>
          <a:xfrm flipV="1">
            <a:off x="2870200" y="2222377"/>
            <a:ext cx="689889" cy="1064629"/>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CA9AB3A-59A8-F513-315C-FF7E36D4CBE5}"/>
              </a:ext>
            </a:extLst>
          </p:cNvPr>
          <p:cNvCxnSpPr>
            <a:stCxn id="35" idx="2"/>
          </p:cNvCxnSpPr>
          <p:nvPr/>
        </p:nvCxnSpPr>
        <p:spPr>
          <a:xfrm>
            <a:off x="2870200" y="3656338"/>
            <a:ext cx="627811" cy="22664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22B05FA-EE85-031F-47C0-000FA7AB7790}"/>
              </a:ext>
            </a:extLst>
          </p:cNvPr>
          <p:cNvCxnSpPr>
            <a:stCxn id="36" idx="0"/>
          </p:cNvCxnSpPr>
          <p:nvPr/>
        </p:nvCxnSpPr>
        <p:spPr>
          <a:xfrm flipV="1">
            <a:off x="4085446" y="2988959"/>
            <a:ext cx="265758" cy="3984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E8289CB-A879-6AB3-2122-24C017E09D1C}"/>
              </a:ext>
            </a:extLst>
          </p:cNvPr>
          <p:cNvCxnSpPr>
            <a:stCxn id="36" idx="2"/>
            <a:endCxn id="31" idx="0"/>
          </p:cNvCxnSpPr>
          <p:nvPr/>
        </p:nvCxnSpPr>
        <p:spPr>
          <a:xfrm>
            <a:off x="4085446" y="3756716"/>
            <a:ext cx="314111" cy="1216327"/>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3E63039-1EB7-2204-DDA1-AA34A8450B07}"/>
              </a:ext>
            </a:extLst>
          </p:cNvPr>
          <p:cNvCxnSpPr>
            <a:stCxn id="37" idx="0"/>
            <a:endCxn id="16" idx="4"/>
          </p:cNvCxnSpPr>
          <p:nvPr/>
        </p:nvCxnSpPr>
        <p:spPr>
          <a:xfrm flipH="1" flipV="1">
            <a:off x="5136614" y="2211077"/>
            <a:ext cx="644194" cy="1071727"/>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7BA9497-D736-E071-5687-1CB9224A2CB5}"/>
              </a:ext>
            </a:extLst>
          </p:cNvPr>
          <p:cNvCxnSpPr>
            <a:stCxn id="37" idx="2"/>
            <a:endCxn id="30" idx="0"/>
          </p:cNvCxnSpPr>
          <p:nvPr/>
        </p:nvCxnSpPr>
        <p:spPr>
          <a:xfrm flipH="1">
            <a:off x="5140614" y="3652136"/>
            <a:ext cx="640194" cy="249876"/>
          </a:xfrm>
          <a:prstGeom prst="line">
            <a:avLst/>
          </a:prstGeom>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8F98E35C-E6EA-25D2-5DE2-9D7F0C76C0C8}"/>
              </a:ext>
            </a:extLst>
          </p:cNvPr>
          <p:cNvSpPr txBox="1"/>
          <p:nvPr/>
        </p:nvSpPr>
        <p:spPr>
          <a:xfrm>
            <a:off x="1513601" y="600555"/>
            <a:ext cx="1312726" cy="646331"/>
          </a:xfrm>
          <a:prstGeom prst="rect">
            <a:avLst/>
          </a:prstGeom>
          <a:noFill/>
          <a:ln>
            <a:solidFill>
              <a:schemeClr val="accent1"/>
            </a:solidFill>
          </a:ln>
        </p:spPr>
        <p:txBody>
          <a:bodyPr wrap="square" rtlCol="0">
            <a:spAutoFit/>
          </a:bodyPr>
          <a:lstStyle/>
          <a:p>
            <a:pPr algn="ctr"/>
            <a:r>
              <a:rPr lang="en-US"/>
              <a:t>Compressor</a:t>
            </a:r>
          </a:p>
          <a:p>
            <a:pPr algn="ctr"/>
            <a:r>
              <a:rPr lang="en-US"/>
              <a:t>MYCOM</a:t>
            </a:r>
          </a:p>
        </p:txBody>
      </p:sp>
      <p:sp>
        <p:nvSpPr>
          <p:cNvPr id="55" name="TextBox 54">
            <a:extLst>
              <a:ext uri="{FF2B5EF4-FFF2-40B4-BE49-F238E27FC236}">
                <a16:creationId xmlns:a16="http://schemas.microsoft.com/office/drawing/2014/main" id="{8ECD4D0E-FC76-3777-E232-797A95358606}"/>
              </a:ext>
            </a:extLst>
          </p:cNvPr>
          <p:cNvSpPr txBox="1"/>
          <p:nvPr/>
        </p:nvSpPr>
        <p:spPr>
          <a:xfrm>
            <a:off x="3662121" y="446177"/>
            <a:ext cx="859356" cy="646331"/>
          </a:xfrm>
          <a:prstGeom prst="rect">
            <a:avLst/>
          </a:prstGeom>
          <a:noFill/>
          <a:ln>
            <a:solidFill>
              <a:schemeClr val="accent1"/>
            </a:solidFill>
          </a:ln>
        </p:spPr>
        <p:txBody>
          <a:bodyPr wrap="square" rtlCol="0">
            <a:spAutoFit/>
          </a:bodyPr>
          <a:lstStyle/>
          <a:p>
            <a:pPr algn="ctr"/>
            <a:r>
              <a:rPr lang="en-US"/>
              <a:t>Motor 450kW</a:t>
            </a:r>
          </a:p>
        </p:txBody>
      </p:sp>
      <p:sp>
        <p:nvSpPr>
          <p:cNvPr id="56" name="TextBox 55">
            <a:extLst>
              <a:ext uri="{FF2B5EF4-FFF2-40B4-BE49-F238E27FC236}">
                <a16:creationId xmlns:a16="http://schemas.microsoft.com/office/drawing/2014/main" id="{2B56534F-EAC7-75DE-F7C4-64FBF6367F68}"/>
              </a:ext>
            </a:extLst>
          </p:cNvPr>
          <p:cNvSpPr txBox="1"/>
          <p:nvPr/>
        </p:nvSpPr>
        <p:spPr>
          <a:xfrm>
            <a:off x="5136772" y="427972"/>
            <a:ext cx="859356" cy="369332"/>
          </a:xfrm>
          <a:prstGeom prst="rect">
            <a:avLst/>
          </a:prstGeom>
          <a:noFill/>
          <a:ln>
            <a:solidFill>
              <a:schemeClr val="accent1"/>
            </a:solidFill>
          </a:ln>
        </p:spPr>
        <p:txBody>
          <a:bodyPr wrap="square" rtlCol="0">
            <a:spAutoFit/>
          </a:bodyPr>
          <a:lstStyle/>
          <a:p>
            <a:pPr algn="ctr"/>
            <a:r>
              <a:rPr lang="en-US"/>
              <a:t>Base</a:t>
            </a:r>
          </a:p>
        </p:txBody>
      </p:sp>
      <p:cxnSp>
        <p:nvCxnSpPr>
          <p:cNvPr id="58" name="Straight Connector 57">
            <a:extLst>
              <a:ext uri="{FF2B5EF4-FFF2-40B4-BE49-F238E27FC236}">
                <a16:creationId xmlns:a16="http://schemas.microsoft.com/office/drawing/2014/main" id="{C3E741A4-0EC5-89FB-BF60-67C5C8DD9873}"/>
              </a:ext>
            </a:extLst>
          </p:cNvPr>
          <p:cNvCxnSpPr>
            <a:stCxn id="54" idx="2"/>
          </p:cNvCxnSpPr>
          <p:nvPr/>
        </p:nvCxnSpPr>
        <p:spPr>
          <a:xfrm>
            <a:off x="2169964" y="1246886"/>
            <a:ext cx="84859" cy="610489"/>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2B24459-6873-1BD0-BFDB-533C779D8589}"/>
              </a:ext>
            </a:extLst>
          </p:cNvPr>
          <p:cNvCxnSpPr>
            <a:stCxn id="55" idx="2"/>
            <a:endCxn id="5" idx="0"/>
          </p:cNvCxnSpPr>
          <p:nvPr/>
        </p:nvCxnSpPr>
        <p:spPr>
          <a:xfrm>
            <a:off x="4091799" y="1092508"/>
            <a:ext cx="291780" cy="485499"/>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18379726-ADCB-8025-7A7C-22F2031651D5}"/>
              </a:ext>
            </a:extLst>
          </p:cNvPr>
          <p:cNvCxnSpPr>
            <a:stCxn id="56" idx="2"/>
          </p:cNvCxnSpPr>
          <p:nvPr/>
        </p:nvCxnSpPr>
        <p:spPr>
          <a:xfrm flipH="1">
            <a:off x="5073318" y="797304"/>
            <a:ext cx="493132" cy="664324"/>
          </a:xfrm>
          <a:prstGeom prst="line">
            <a:avLst/>
          </a:prstGeom>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DA391521-2E96-E8E2-D78A-F0E5F2F657D1}"/>
              </a:ext>
            </a:extLst>
          </p:cNvPr>
          <p:cNvSpPr txBox="1"/>
          <p:nvPr/>
        </p:nvSpPr>
        <p:spPr>
          <a:xfrm>
            <a:off x="6469074" y="600555"/>
            <a:ext cx="4854811" cy="3416320"/>
          </a:xfrm>
          <a:prstGeom prst="rect">
            <a:avLst/>
          </a:prstGeom>
          <a:noFill/>
        </p:spPr>
        <p:txBody>
          <a:bodyPr wrap="square" rtlCol="0">
            <a:spAutoFit/>
          </a:bodyPr>
          <a:lstStyle/>
          <a:p>
            <a:r>
              <a:rPr lang="en-US"/>
              <a:t>Vị trí lắp đặt của 4 cảm biến WTVB05:</a:t>
            </a:r>
          </a:p>
          <a:p>
            <a:endParaRPr lang="en-US"/>
          </a:p>
          <a:p>
            <a:pPr marL="285750" indent="-285750">
              <a:buFont typeface="Arial" panose="020B0604020202020204" pitchFamily="34" charset="0"/>
              <a:buChar char="•"/>
            </a:pPr>
            <a:r>
              <a:rPr lang="en-US"/>
              <a:t>Cảm biến S1 – lắp trên đỉnh của Compressor </a:t>
            </a:r>
          </a:p>
          <a:p>
            <a:pPr marL="285750" indent="-285750">
              <a:buFont typeface="Arial" panose="020B0604020202020204" pitchFamily="34" charset="0"/>
              <a:buChar char="•"/>
            </a:pPr>
            <a:r>
              <a:rPr lang="en-US"/>
              <a:t>Cảm biến S2 – lắp trên tấm đỡ của động cơ, ở khoảng giữa của chiều dài động cơ dọc theo trục và gần sát trục động cơ nhất có thể</a:t>
            </a:r>
          </a:p>
          <a:p>
            <a:pPr marL="285750" indent="-285750">
              <a:buFont typeface="Arial" panose="020B0604020202020204" pitchFamily="34" charset="0"/>
              <a:buChar char="•"/>
            </a:pPr>
            <a:r>
              <a:rPr lang="en-US"/>
              <a:t>Cảm biến S3 – lắp trên đỉnh động cơ ở đầu DE </a:t>
            </a:r>
          </a:p>
          <a:p>
            <a:pPr marL="285750" indent="-285750">
              <a:buFont typeface="Arial" panose="020B0604020202020204" pitchFamily="34" charset="0"/>
              <a:buChar char="•"/>
            </a:pPr>
            <a:r>
              <a:rPr lang="en-US"/>
              <a:t>Cảm biến S4 – lắp trên đỉnh động cơ ở đầu NDE </a:t>
            </a:r>
          </a:p>
          <a:p>
            <a:pPr marL="285750" indent="-285750">
              <a:buFont typeface="Arial" panose="020B0604020202020204" pitchFamily="34" charset="0"/>
              <a:buChar char="•"/>
            </a:pPr>
            <a:endParaRPr lang="en-US"/>
          </a:p>
          <a:p>
            <a:r>
              <a:rPr lang="en-US"/>
              <a:t>Tất cả các cảm biến đều lắp theo phương thẳng đứng</a:t>
            </a:r>
          </a:p>
        </p:txBody>
      </p:sp>
      <p:sp>
        <p:nvSpPr>
          <p:cNvPr id="65" name="TextBox 64">
            <a:extLst>
              <a:ext uri="{FF2B5EF4-FFF2-40B4-BE49-F238E27FC236}">
                <a16:creationId xmlns:a16="http://schemas.microsoft.com/office/drawing/2014/main" id="{88016EEB-B55B-9DAA-A7E7-399F63006035}"/>
              </a:ext>
            </a:extLst>
          </p:cNvPr>
          <p:cNvSpPr txBox="1"/>
          <p:nvPr/>
        </p:nvSpPr>
        <p:spPr>
          <a:xfrm>
            <a:off x="6469074" y="4341825"/>
            <a:ext cx="4754033" cy="923330"/>
          </a:xfrm>
          <a:prstGeom prst="rect">
            <a:avLst/>
          </a:prstGeom>
          <a:noFill/>
        </p:spPr>
        <p:txBody>
          <a:bodyPr wrap="square">
            <a:spAutoFit/>
          </a:bodyPr>
          <a:lstStyle/>
          <a:p>
            <a:r>
              <a:rPr lang="en-US"/>
              <a:t>Cấu trúc này chia tách rõ ràng nguồn phát nhiễu lớn nhất (S1) và trạm trung chuyển cấu trúc (S2) để bảo vệ 2 điểm đo cốt lõi (S3, S4).</a:t>
            </a:r>
          </a:p>
        </p:txBody>
      </p:sp>
    </p:spTree>
    <p:extLst>
      <p:ext uri="{BB962C8B-B14F-4D97-AF65-F5344CB8AC3E}">
        <p14:creationId xmlns:p14="http://schemas.microsoft.com/office/powerpoint/2010/main" val="491404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735DE1-93A3-BF56-B300-9E090CA98A8E}"/>
              </a:ext>
            </a:extLst>
          </p:cNvPr>
          <p:cNvSpPr txBox="1"/>
          <p:nvPr/>
        </p:nvSpPr>
        <p:spPr>
          <a:xfrm>
            <a:off x="733425" y="1108760"/>
            <a:ext cx="10115549" cy="369332"/>
          </a:xfrm>
          <a:prstGeom prst="rect">
            <a:avLst/>
          </a:prstGeom>
          <a:noFill/>
        </p:spPr>
        <p:txBody>
          <a:bodyPr wrap="square">
            <a:spAutoFit/>
          </a:bodyPr>
          <a:lstStyle/>
          <a:p>
            <a:r>
              <a:rPr lang="en-US"/>
              <a:t>C</a:t>
            </a:r>
            <a:r>
              <a:rPr lang="vi-VN"/>
              <a:t>ảm biến S2 sẽ đóng vai trò là "biến số trừ" trực tiếp trong phương trình vi sai cho cả hai gối đỡ:</a:t>
            </a:r>
            <a:endParaRPr lang="en-US"/>
          </a:p>
        </p:txBody>
      </p:sp>
      <mc:AlternateContent xmlns:mc="http://schemas.openxmlformats.org/markup-compatibility/2006" xmlns:a14="http://schemas.microsoft.com/office/drawing/2010/main">
        <mc:Choice Requires="a14">
          <p:sp>
            <p:nvSpPr>
              <p:cNvPr id="4" name="Rectangle 1">
                <a:extLst>
                  <a:ext uri="{FF2B5EF4-FFF2-40B4-BE49-F238E27FC236}">
                    <a16:creationId xmlns:a16="http://schemas.microsoft.com/office/drawing/2014/main" id="{F8AD1495-00B5-0367-DFEB-754945B6D399}"/>
                  </a:ext>
                </a:extLst>
              </p:cNvPr>
              <p:cNvSpPr>
                <a:spLocks noChangeArrowheads="1"/>
              </p:cNvSpPr>
              <p:nvPr/>
            </p:nvSpPr>
            <p:spPr bwMode="auto">
              <a:xfrm>
                <a:off x="604838" y="223986"/>
                <a:ext cx="6353176" cy="4616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1. </a:t>
                </a:r>
                <a:r>
                  <a:rPr kumimoji="0" lang="en-US" altLang="en-US" sz="2400" b="1" i="0" u="none" strike="noStrike" cap="none" normalizeH="0" baseline="0">
                    <a:ln>
                      <a:noFill/>
                    </a:ln>
                    <a:solidFill>
                      <a:schemeClr val="tx1"/>
                    </a:solidFill>
                    <a:effectLst/>
                  </a:rPr>
                  <a:t>Công thức tính Rung động cô lập (</a:t>
                </a:r>
                <a14:m>
                  <m:oMath xmlns:m="http://schemas.openxmlformats.org/officeDocument/2006/math">
                    <m:sSub>
                      <m:sSubPr>
                        <m:ctrlPr>
                          <a:rPr kumimoji="0" lang="en-US" altLang="en-US" sz="2400" b="1" i="1" u="none" strike="noStrike" cap="none" normalizeH="0" baseline="0" smtClean="0">
                            <a:ln>
                              <a:noFill/>
                            </a:ln>
                            <a:solidFill>
                              <a:schemeClr val="tx1"/>
                            </a:solidFill>
                            <a:effectLst/>
                            <a:latin typeface="Cambria Math" panose="02040503050406030204" pitchFamily="18" charset="0"/>
                          </a:rPr>
                        </m:ctrlPr>
                      </m:sSubPr>
                      <m:e>
                        <m:r>
                          <a:rPr kumimoji="0" lang="en-US" altLang="en-US" sz="2400" b="1" i="1" u="none" strike="noStrike" cap="none" normalizeH="0" baseline="0" smtClean="0">
                            <a:ln>
                              <a:noFill/>
                            </a:ln>
                            <a:solidFill>
                              <a:schemeClr val="tx1"/>
                            </a:solidFill>
                            <a:effectLst/>
                            <a:latin typeface="Cambria Math" panose="02040503050406030204" pitchFamily="18" charset="0"/>
                          </a:rPr>
                          <m:t>𝑨</m:t>
                        </m:r>
                      </m:e>
                      <m:sub>
                        <m:r>
                          <a:rPr kumimoji="0" lang="en-US" altLang="en-US" sz="2400" b="1" i="1" u="none" strike="noStrike" cap="none" normalizeH="0" baseline="0" smtClean="0">
                            <a:ln>
                              <a:noFill/>
                            </a:ln>
                            <a:solidFill>
                              <a:schemeClr val="tx1"/>
                            </a:solidFill>
                            <a:effectLst/>
                            <a:latin typeface="Cambria Math" panose="02040503050406030204" pitchFamily="18" charset="0"/>
                          </a:rPr>
                          <m:t>𝒊𝒔𝒐</m:t>
                        </m:r>
                      </m:sub>
                    </m:sSub>
                  </m:oMath>
                </a14:m>
                <a:r>
                  <a:rPr kumimoji="0" lang="en-US" altLang="en-US" sz="2400" b="1" i="0" u="none" strike="noStrike" cap="none" normalizeH="0" baseline="0">
                    <a:ln>
                      <a:noFill/>
                    </a:ln>
                    <a:solidFill>
                      <a:schemeClr val="tx1"/>
                    </a:solidFill>
                    <a:effectLst/>
                  </a:rPr>
                  <a:t>)</a:t>
                </a:r>
                <a:endParaRPr kumimoji="0" lang="en-US" altLang="en-US" sz="1800" b="1" i="0" u="none" strike="noStrike" cap="none" normalizeH="0" baseline="0">
                  <a:ln>
                    <a:noFill/>
                  </a:ln>
                  <a:solidFill>
                    <a:schemeClr val="tx1"/>
                  </a:solidFill>
                  <a:effectLst/>
                </a:endParaRPr>
              </a:p>
            </p:txBody>
          </p:sp>
        </mc:Choice>
        <mc:Fallback xmlns="">
          <p:sp>
            <p:nvSpPr>
              <p:cNvPr id="4" name="Rectangle 1">
                <a:extLst>
                  <a:ext uri="{FF2B5EF4-FFF2-40B4-BE49-F238E27FC236}">
                    <a16:creationId xmlns:a16="http://schemas.microsoft.com/office/drawing/2014/main" id="{F8AD1495-00B5-0367-DFEB-754945B6D399}"/>
                  </a:ext>
                </a:extLst>
              </p:cNvPr>
              <p:cNvSpPr>
                <a:spLocks noRot="1" noChangeAspect="1" noMove="1" noResize="1" noEditPoints="1" noAdjustHandles="1" noChangeArrowheads="1" noChangeShapeType="1" noTextEdit="1"/>
              </p:cNvSpPr>
              <p:nvPr/>
            </p:nvSpPr>
            <p:spPr bwMode="auto">
              <a:xfrm>
                <a:off x="604838" y="223986"/>
                <a:ext cx="6353176" cy="461665"/>
              </a:xfrm>
              <a:prstGeom prst="rect">
                <a:avLst/>
              </a:prstGeom>
              <a:blipFill>
                <a:blip r:embed="rId2"/>
                <a:stretch>
                  <a:fillRect l="-768" t="-10667" b="-306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6" name="Picture 5">
            <a:extLst>
              <a:ext uri="{FF2B5EF4-FFF2-40B4-BE49-F238E27FC236}">
                <a16:creationId xmlns:a16="http://schemas.microsoft.com/office/drawing/2014/main" id="{CDAEED44-CFF2-5639-B837-0F17F223032A}"/>
              </a:ext>
            </a:extLst>
          </p:cNvPr>
          <p:cNvPicPr>
            <a:picLocks noChangeAspect="1"/>
          </p:cNvPicPr>
          <p:nvPr/>
        </p:nvPicPr>
        <p:blipFill>
          <a:blip r:embed="rId3"/>
          <a:stretch>
            <a:fillRect/>
          </a:stretch>
        </p:blipFill>
        <p:spPr>
          <a:xfrm>
            <a:off x="725703" y="1666628"/>
            <a:ext cx="10437662" cy="4257922"/>
          </a:xfrm>
          <a:prstGeom prst="rect">
            <a:avLst/>
          </a:prstGeom>
        </p:spPr>
      </p:pic>
    </p:spTree>
    <p:extLst>
      <p:ext uri="{BB962C8B-B14F-4D97-AF65-F5344CB8AC3E}">
        <p14:creationId xmlns:p14="http://schemas.microsoft.com/office/powerpoint/2010/main" val="1903098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120FA26B-DC35-A7C8-23F8-821EEC91CC0A}"/>
                  </a:ext>
                </a:extLst>
              </p:cNvPr>
              <p:cNvSpPr>
                <a:spLocks noChangeArrowheads="1"/>
              </p:cNvSpPr>
              <p:nvPr/>
            </p:nvSpPr>
            <p:spPr bwMode="auto">
              <a:xfrm>
                <a:off x="681037" y="331143"/>
                <a:ext cx="10291763" cy="4616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chemeClr val="tx1"/>
                    </a:solidFill>
                    <a:effectLst/>
                  </a:rPr>
                  <a:t>2. Cách xác định Hệ số truyền động (</a:t>
                </a:r>
                <a14:m>
                  <m:oMath xmlns:m="http://schemas.openxmlformats.org/officeDocument/2006/math">
                    <m:sSub>
                      <m:sSubPr>
                        <m:ctrlPr>
                          <a:rPr kumimoji="0" lang="en-US" altLang="en-US" sz="2400" b="1" i="1" u="none" strike="noStrike" cap="none" normalizeH="0" baseline="0" smtClean="0">
                            <a:ln>
                              <a:noFill/>
                            </a:ln>
                            <a:solidFill>
                              <a:schemeClr val="tx1"/>
                            </a:solidFill>
                            <a:effectLst/>
                            <a:latin typeface="Cambria Math" panose="02040503050406030204" pitchFamily="18" charset="0"/>
                          </a:rPr>
                        </m:ctrlPr>
                      </m:sSubPr>
                      <m:e>
                        <m:r>
                          <a:rPr kumimoji="0" lang="en-US" altLang="en-US" sz="2400" b="1" i="1" u="none" strike="noStrike" cap="none" normalizeH="0" baseline="0" smtClean="0">
                            <a:ln>
                              <a:noFill/>
                            </a:ln>
                            <a:solidFill>
                              <a:schemeClr val="tx1"/>
                            </a:solidFill>
                            <a:effectLst/>
                            <a:latin typeface="Cambria Math" panose="02040503050406030204" pitchFamily="18" charset="0"/>
                          </a:rPr>
                          <m:t>𝜶</m:t>
                        </m:r>
                      </m:e>
                      <m:sub>
                        <m:r>
                          <a:rPr kumimoji="0" lang="en-US" altLang="en-US" sz="2400" b="1" i="1" u="none" strike="noStrike" cap="none" normalizeH="0" baseline="0" smtClean="0">
                            <a:ln>
                              <a:noFill/>
                            </a:ln>
                            <a:solidFill>
                              <a:schemeClr val="tx1"/>
                            </a:solidFill>
                            <a:effectLst/>
                            <a:latin typeface="Cambria Math" panose="02040503050406030204" pitchFamily="18" charset="0"/>
                          </a:rPr>
                          <m:t>𝟑</m:t>
                        </m:r>
                      </m:sub>
                    </m:sSub>
                    <m:r>
                      <a:rPr kumimoji="0" lang="en-US" altLang="en-US" sz="2400" b="1" i="1" u="none" strike="noStrike" cap="none" normalizeH="0" baseline="0" smtClean="0">
                        <a:ln>
                          <a:noFill/>
                        </a:ln>
                        <a:solidFill>
                          <a:schemeClr val="tx1"/>
                        </a:solidFill>
                        <a:effectLst/>
                        <a:latin typeface="Cambria Math" panose="02040503050406030204" pitchFamily="18" charset="0"/>
                      </a:rPr>
                      <m:t>, </m:t>
                    </m:r>
                    <m:sSub>
                      <m:sSubPr>
                        <m:ctrlPr>
                          <a:rPr kumimoji="0" lang="en-US" altLang="en-US" sz="2400" b="1" i="1" u="none" strike="noStrike" cap="none" normalizeH="0" baseline="0" smtClean="0">
                            <a:ln>
                              <a:noFill/>
                            </a:ln>
                            <a:solidFill>
                              <a:schemeClr val="tx1"/>
                            </a:solidFill>
                            <a:effectLst/>
                            <a:latin typeface="Cambria Math" panose="02040503050406030204" pitchFamily="18" charset="0"/>
                          </a:rPr>
                        </m:ctrlPr>
                      </m:sSubPr>
                      <m:e>
                        <m:r>
                          <a:rPr kumimoji="0" lang="en-US" altLang="en-US" sz="2400" b="1" i="1" u="none" strike="noStrike" cap="none" normalizeH="0" baseline="0" smtClean="0">
                            <a:ln>
                              <a:noFill/>
                            </a:ln>
                            <a:solidFill>
                              <a:schemeClr val="tx1"/>
                            </a:solidFill>
                            <a:effectLst/>
                            <a:latin typeface="Cambria Math" panose="02040503050406030204" pitchFamily="18" charset="0"/>
                          </a:rPr>
                          <m:t>𝜶</m:t>
                        </m:r>
                      </m:e>
                      <m:sub>
                        <m:r>
                          <a:rPr kumimoji="0" lang="en-US" altLang="en-US" sz="2400" b="1" i="1" u="none" strike="noStrike" cap="none" normalizeH="0" baseline="0" smtClean="0">
                            <a:ln>
                              <a:noFill/>
                            </a:ln>
                            <a:solidFill>
                              <a:schemeClr val="tx1"/>
                            </a:solidFill>
                            <a:effectLst/>
                            <a:latin typeface="Cambria Math" panose="02040503050406030204" pitchFamily="18" charset="0"/>
                          </a:rPr>
                          <m:t>𝟒</m:t>
                        </m:r>
                      </m:sub>
                    </m:sSub>
                  </m:oMath>
                </a14:m>
                <a:r>
                  <a:rPr kumimoji="0" lang="en-US" altLang="en-US" sz="2400" b="1" i="0" u="none" strike="noStrike" cap="none" normalizeH="0" baseline="0">
                    <a:ln>
                      <a:noFill/>
                    </a:ln>
                    <a:solidFill>
                      <a:schemeClr val="tx1"/>
                    </a:solidFill>
                    <a:effectLst/>
                  </a:rPr>
                  <a:t>)</a:t>
                </a:r>
              </a:p>
            </p:txBody>
          </p:sp>
        </mc:Choice>
        <mc:Fallback xmlns="">
          <p:sp>
            <p:nvSpPr>
              <p:cNvPr id="2" name="Rectangle 1">
                <a:extLst>
                  <a:ext uri="{FF2B5EF4-FFF2-40B4-BE49-F238E27FC236}">
                    <a16:creationId xmlns:a16="http://schemas.microsoft.com/office/drawing/2014/main" id="{120FA26B-DC35-A7C8-23F8-821EEC91CC0A}"/>
                  </a:ext>
                </a:extLst>
              </p:cNvPr>
              <p:cNvSpPr>
                <a:spLocks noRot="1" noChangeAspect="1" noMove="1" noResize="1" noEditPoints="1" noAdjustHandles="1" noChangeArrowheads="1" noChangeShapeType="1" noTextEdit="1"/>
              </p:cNvSpPr>
              <p:nvPr/>
            </p:nvSpPr>
            <p:spPr bwMode="auto">
              <a:xfrm>
                <a:off x="681037" y="331143"/>
                <a:ext cx="10291763" cy="461665"/>
              </a:xfrm>
              <a:prstGeom prst="rect">
                <a:avLst/>
              </a:prstGeom>
              <a:blipFill>
                <a:blip r:embed="rId2"/>
                <a:stretch>
                  <a:fillRect l="-948" t="-9211" b="-3026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97FDB90C-E341-E318-892B-A66DBD121F17}"/>
                  </a:ext>
                </a:extLst>
              </p:cNvPr>
              <p:cNvSpPr>
                <a:spLocks noChangeArrowheads="1"/>
              </p:cNvSpPr>
              <p:nvPr/>
            </p:nvSpPr>
            <p:spPr bwMode="auto">
              <a:xfrm>
                <a:off x="681037" y="1155475"/>
                <a:ext cx="11110912" cy="60016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rPr>
                  <a:t>Hệ số </a:t>
                </a:r>
                <a14:m>
                  <m:oMath xmlns:m="http://schemas.openxmlformats.org/officeDocument/2006/math">
                    <m:r>
                      <a:rPr kumimoji="0" lang="en-US" altLang="en-US" sz="1800" b="0" i="1" u="none" strike="noStrike" cap="none" normalizeH="0" baseline="0" smtClean="0">
                        <a:ln>
                          <a:noFill/>
                        </a:ln>
                        <a:solidFill>
                          <a:schemeClr val="tx1"/>
                        </a:solidFill>
                        <a:effectLst/>
                        <a:latin typeface="Cambria Math" panose="02040503050406030204" pitchFamily="18" charset="0"/>
                      </a:rPr>
                      <m:t>𝛼</m:t>
                    </m:r>
                  </m:oMath>
                </a14:m>
                <a:r>
                  <a:rPr kumimoji="0" lang="en-US" altLang="en-US" sz="1800" b="0" i="0" u="none" strike="noStrike" cap="none" normalizeH="0" baseline="0">
                    <a:ln>
                      <a:noFill/>
                    </a:ln>
                    <a:solidFill>
                      <a:schemeClr val="tx1"/>
                    </a:solidFill>
                    <a:effectLst/>
                  </a:rPr>
                  <a:t> đại diện cho tỷ lệ năng lượng rung động "sống sót" sau khi truyền từ vị trí bệ đỡ (S2) lên vỏ gối đỡ (S3, S4). Việc đặt S2 ở khoảng giữa chiều dài động cơ giúp tham chiếu lượng sóng lan truyền này một cách cân bằng nhất.</a:t>
                </a:r>
              </a:p>
            </p:txBody>
          </p:sp>
        </mc:Choice>
        <mc:Fallback xmlns="">
          <p:sp>
            <p:nvSpPr>
              <p:cNvPr id="3" name="Rectangle 2">
                <a:extLst>
                  <a:ext uri="{FF2B5EF4-FFF2-40B4-BE49-F238E27FC236}">
                    <a16:creationId xmlns:a16="http://schemas.microsoft.com/office/drawing/2014/main" id="{97FDB90C-E341-E318-892B-A66DBD121F17}"/>
                  </a:ext>
                </a:extLst>
              </p:cNvPr>
              <p:cNvSpPr>
                <a:spLocks noRot="1" noChangeAspect="1" noMove="1" noResize="1" noEditPoints="1" noAdjustHandles="1" noChangeArrowheads="1" noChangeShapeType="1" noTextEdit="1"/>
              </p:cNvSpPr>
              <p:nvPr/>
            </p:nvSpPr>
            <p:spPr bwMode="auto">
              <a:xfrm>
                <a:off x="681037" y="1155475"/>
                <a:ext cx="11110912" cy="600164"/>
              </a:xfrm>
              <a:prstGeom prst="rect">
                <a:avLst/>
              </a:prstGeom>
              <a:blipFill>
                <a:blip r:embed="rId3"/>
                <a:stretch>
                  <a:fillRect l="-494" t="-13265" b="-1632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522A3BCC-E968-E769-D845-E1A9DA6EC201}"/>
                  </a:ext>
                </a:extLst>
              </p:cNvPr>
              <p:cNvSpPr>
                <a:spLocks noChangeArrowheads="1"/>
              </p:cNvSpPr>
              <p:nvPr/>
            </p:nvSpPr>
            <p:spPr bwMode="auto">
              <a:xfrm>
                <a:off x="681037" y="1800555"/>
                <a:ext cx="10634663" cy="36933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rPr>
                  <a:t>Để xác định chính xác </a:t>
                </a:r>
                <a14:m>
                  <m:oMath xmlns:m="http://schemas.openxmlformats.org/officeDocument/2006/math">
                    <m:r>
                      <a:rPr kumimoji="0" lang="en-US" altLang="en-US" sz="1800" b="0" i="1" u="none" strike="noStrike" cap="none" normalizeH="0" baseline="0" smtClean="0">
                        <a:ln>
                          <a:noFill/>
                        </a:ln>
                        <a:solidFill>
                          <a:schemeClr val="tx1"/>
                        </a:solidFill>
                        <a:effectLst/>
                        <a:latin typeface="Cambria Math" panose="02040503050406030204" pitchFamily="18" charset="0"/>
                      </a:rPr>
                      <m:t>𝛼</m:t>
                    </m:r>
                  </m:oMath>
                </a14:m>
                <a:r>
                  <a:rPr kumimoji="0" lang="en-US" altLang="en-US" sz="1800" b="0" i="0" u="none" strike="noStrike" cap="none" normalizeH="0" baseline="0">
                    <a:ln>
                      <a:noFill/>
                    </a:ln>
                    <a:solidFill>
                      <a:schemeClr val="tx1"/>
                    </a:solidFill>
                    <a:effectLst/>
                  </a:rPr>
                  <a:t>, hệ thống cần thực hiện Giai đoạn tự học khi máy chạy đầy tải</a:t>
                </a:r>
                <a:r>
                  <a:rPr kumimoji="0" lang="en-US" altLang="en-US" sz="1800" b="0" i="0" u="none" strike="noStrike" cap="none" normalizeH="0">
                    <a:ln>
                      <a:noFill/>
                    </a:ln>
                    <a:solidFill>
                      <a:schemeClr val="tx1"/>
                    </a:solidFill>
                    <a:effectLst/>
                  </a:rPr>
                  <a:t> theo các bước sau:</a:t>
                </a:r>
                <a:endParaRPr kumimoji="0" lang="en-US" altLang="en-US" sz="1800" b="0" i="0" u="none" strike="noStrike" cap="none" normalizeH="0" baseline="0">
                  <a:ln>
                    <a:noFill/>
                  </a:ln>
                  <a:solidFill>
                    <a:schemeClr val="tx1"/>
                  </a:solidFill>
                  <a:effectLst/>
                </a:endParaRPr>
              </a:p>
            </p:txBody>
          </p:sp>
        </mc:Choice>
        <mc:Fallback xmlns="">
          <p:sp>
            <p:nvSpPr>
              <p:cNvPr id="4" name="Rectangle 3">
                <a:extLst>
                  <a:ext uri="{FF2B5EF4-FFF2-40B4-BE49-F238E27FC236}">
                    <a16:creationId xmlns:a16="http://schemas.microsoft.com/office/drawing/2014/main" id="{522A3BCC-E968-E769-D845-E1A9DA6EC201}"/>
                  </a:ext>
                </a:extLst>
              </p:cNvPr>
              <p:cNvSpPr>
                <a:spLocks noRot="1" noChangeAspect="1" noMove="1" noResize="1" noEditPoints="1" noAdjustHandles="1" noChangeArrowheads="1" noChangeShapeType="1" noTextEdit="1"/>
              </p:cNvSpPr>
              <p:nvPr/>
            </p:nvSpPr>
            <p:spPr bwMode="auto">
              <a:xfrm>
                <a:off x="681037" y="1800555"/>
                <a:ext cx="10634663" cy="369332"/>
              </a:xfrm>
              <a:prstGeom prst="rect">
                <a:avLst/>
              </a:prstGeom>
              <a:blipFill>
                <a:blip r:embed="rId4"/>
                <a:stretch>
                  <a:fillRect l="-516" t="-8197" b="-2623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C86D2DA4-6E56-BD1B-119E-F914BC885BA1}"/>
                  </a:ext>
                </a:extLst>
              </p:cNvPr>
              <p:cNvSpPr>
                <a:spLocks noChangeArrowheads="1"/>
              </p:cNvSpPr>
              <p:nvPr/>
            </p:nvSpPr>
            <p:spPr bwMode="auto">
              <a:xfrm>
                <a:off x="681037" y="2214803"/>
                <a:ext cx="10996613" cy="175099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18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Bước A – Xác</a:t>
                </a:r>
                <a:r>
                  <a:rPr kumimoji="0" lang="en-US" altLang="en-US" sz="1800" b="1" i="0" u="none" strike="noStrike" cap="none" normalizeH="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định</a:t>
                </a:r>
                <a:r>
                  <a:rPr kumimoji="0" lang="en-US" altLang="en-US" sz="18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tần số máy</a:t>
                </a:r>
                <a:r>
                  <a:rPr kumimoji="0" lang="en-US" altLang="en-US" sz="1800" b="1" i="0" u="none" strike="noStrike" cap="none" normalizeH="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nén</a:t>
                </a:r>
                <a:r>
                  <a:rPr kumimoji="0" lang="en-US" altLang="en-US" sz="18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en-US" altLang="en-US" sz="18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vi-VN">
                    <a:latin typeface="Calibri" panose="020F0502020204030204" pitchFamily="34" charset="0"/>
                    <a:ea typeface="Calibri" panose="020F0502020204030204" pitchFamily="34" charset="0"/>
                    <a:cs typeface="Calibri" panose="020F0502020204030204" pitchFamily="34" charset="0"/>
                  </a:rPr>
                  <a:t>Máy nén lạnh trục vít công nghiệp thường có thiết kế 4 thùy đực - 6 thùy cái</a:t>
                </a:r>
                <a:r>
                  <a:rPr lang="en-US">
                    <a:latin typeface="Calibri" panose="020F0502020204030204" pitchFamily="34" charset="0"/>
                    <a:ea typeface="Calibri" panose="020F0502020204030204" pitchFamily="34" charset="0"/>
                    <a:cs typeface="Calibri" panose="020F0502020204030204" pitchFamily="34" charset="0"/>
                  </a:rPr>
                  <a:t>, do đó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panose="02040503050406030204" pitchFamily="18" charset="0"/>
                          </a:rPr>
                          <m:t>𝑓</m:t>
                        </m:r>
                      </m:e>
                      <m:sub>
                        <m:r>
                          <a:rPr lang="en-US" altLang="en-US" i="1">
                            <a:latin typeface="Cambria Math" panose="02040503050406030204" pitchFamily="18" charset="0"/>
                          </a:rPr>
                          <m:t>𝑐𝑜𝑚𝑝</m:t>
                        </m:r>
                      </m:sub>
                    </m:sSub>
                    <m:r>
                      <a:rPr lang="en-US" altLang="en-US" i="1">
                        <a:latin typeface="Cambria Math" panose="02040503050406030204" pitchFamily="18" charset="0"/>
                      </a:rPr>
                      <m:t> </m:t>
                    </m:r>
                  </m:oMath>
                </a14:m>
                <a:r>
                  <a:rPr kumimoji="0" lang="en-US" altLang="en-US" sz="18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196 Hz = 4 x 49.17 (49.17 Hz tương đương</a:t>
                </a:r>
                <a:r>
                  <a:rPr kumimoji="0" lang="en-US" altLang="en-US" sz="1800" b="0" i="0" u="none" strike="noStrike" cap="none" normalizeH="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vận tốc 2950 rpm</a:t>
                </a:r>
                <a:r>
                  <a:rPr kumimoji="0" lang="en-US" altLang="en-US" sz="18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a:latin typeface="Calibri" panose="020F0502020204030204" pitchFamily="34" charset="0"/>
                    <a:ea typeface="Calibri" panose="020F0502020204030204" pitchFamily="34" charset="0"/>
                    <a:cs typeface="Calibri" panose="020F0502020204030204" pitchFamily="34" charset="0"/>
                  </a:rPr>
                  <a:t>Cảm biến S1 có nhiệm vụ xác thực bằng số liệu thực tế xem đỉnh nhiễu lớn nhất có chính xác nằm ở mốc này hay không (xem Phụ lục)</a:t>
                </a:r>
                <a:endParaRPr kumimoji="0" lang="en-US" altLang="en-US" sz="18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pPr>
                <a:r>
                  <a:rPr kumimoji="0" lang="en-US" altLang="en-US" sz="18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Bước B - Áp dụng cơ sở:</a:t>
                </a:r>
                <a:r>
                  <a:rPr kumimoji="0" lang="en-US" altLang="en-US" sz="18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Tại chính xác các tần số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panose="02040503050406030204" pitchFamily="18" charset="0"/>
                          </a:rPr>
                          <m:t>𝑓</m:t>
                        </m:r>
                      </m:e>
                      <m:sub>
                        <m:r>
                          <a:rPr lang="en-US" altLang="en-US" i="1">
                            <a:latin typeface="Cambria Math" panose="02040503050406030204" pitchFamily="18" charset="0"/>
                          </a:rPr>
                          <m:t>𝑐𝑜𝑚𝑝</m:t>
                        </m:r>
                      </m:sub>
                    </m:sSub>
                  </m:oMath>
                </a14:m>
                <a:r>
                  <a:rPr kumimoji="0" lang="en-US" altLang="en-US" sz="18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này, bản thân động cơ 450 kW không tự sinh ra dao động. Toàn bộ biên độ tại S3 và S4 đều là nhiễu do S1 và bệ S2 ép nó rung.</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Bước C - Tính toán trung bình:</a:t>
                </a:r>
                <a:r>
                  <a:rPr kumimoji="0" lang="en-US" altLang="en-US" sz="18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ghi nhận N mẫu dữ liệu và chốt hệ số truyền dẫn cho từng dải tần theo công thức:</a:t>
                </a:r>
              </a:p>
            </p:txBody>
          </p:sp>
        </mc:Choice>
        <mc:Fallback xmlns="">
          <p:sp>
            <p:nvSpPr>
              <p:cNvPr id="5" name="Rectangle 4">
                <a:extLst>
                  <a:ext uri="{FF2B5EF4-FFF2-40B4-BE49-F238E27FC236}">
                    <a16:creationId xmlns:a16="http://schemas.microsoft.com/office/drawing/2014/main" id="{C86D2DA4-6E56-BD1B-119E-F914BC885BA1}"/>
                  </a:ext>
                </a:extLst>
              </p:cNvPr>
              <p:cNvSpPr>
                <a:spLocks noRot="1" noChangeAspect="1" noMove="1" noResize="1" noEditPoints="1" noAdjustHandles="1" noChangeArrowheads="1" noChangeShapeType="1" noTextEdit="1"/>
              </p:cNvSpPr>
              <p:nvPr/>
            </p:nvSpPr>
            <p:spPr bwMode="auto">
              <a:xfrm>
                <a:off x="681037" y="2214803"/>
                <a:ext cx="10996613" cy="1750992"/>
              </a:xfrm>
              <a:prstGeom prst="rect">
                <a:avLst/>
              </a:prstGeom>
              <a:blipFill>
                <a:blip r:embed="rId5"/>
                <a:stretch>
                  <a:fillRect l="-499" t="-4167" r="-443" b="-520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7" name="Picture 6">
            <a:extLst>
              <a:ext uri="{FF2B5EF4-FFF2-40B4-BE49-F238E27FC236}">
                <a16:creationId xmlns:a16="http://schemas.microsoft.com/office/drawing/2014/main" id="{95F90169-8E73-1B07-0E3E-1CB335E41038}"/>
              </a:ext>
            </a:extLst>
          </p:cNvPr>
          <p:cNvPicPr>
            <a:picLocks noChangeAspect="1"/>
          </p:cNvPicPr>
          <p:nvPr/>
        </p:nvPicPr>
        <p:blipFill>
          <a:blip r:embed="rId6"/>
          <a:stretch>
            <a:fillRect/>
          </a:stretch>
        </p:blipFill>
        <p:spPr>
          <a:xfrm>
            <a:off x="3295414" y="4180162"/>
            <a:ext cx="4322779" cy="991913"/>
          </a:xfrm>
          <a:prstGeom prst="rect">
            <a:avLst/>
          </a:prstGeom>
        </p:spPr>
      </p:pic>
      <p:pic>
        <p:nvPicPr>
          <p:cNvPr id="9" name="Picture 8">
            <a:extLst>
              <a:ext uri="{FF2B5EF4-FFF2-40B4-BE49-F238E27FC236}">
                <a16:creationId xmlns:a16="http://schemas.microsoft.com/office/drawing/2014/main" id="{8528AD8A-60C1-1638-D346-A124C39849B5}"/>
              </a:ext>
            </a:extLst>
          </p:cNvPr>
          <p:cNvPicPr>
            <a:picLocks noChangeAspect="1"/>
          </p:cNvPicPr>
          <p:nvPr/>
        </p:nvPicPr>
        <p:blipFill>
          <a:blip r:embed="rId7"/>
          <a:stretch>
            <a:fillRect/>
          </a:stretch>
        </p:blipFill>
        <p:spPr>
          <a:xfrm>
            <a:off x="3347807" y="5386331"/>
            <a:ext cx="4270386" cy="1049083"/>
          </a:xfrm>
          <a:prstGeom prst="rect">
            <a:avLst/>
          </a:prstGeom>
        </p:spPr>
      </p:pic>
    </p:spTree>
    <p:extLst>
      <p:ext uri="{BB962C8B-B14F-4D97-AF65-F5344CB8AC3E}">
        <p14:creationId xmlns:p14="http://schemas.microsoft.com/office/powerpoint/2010/main" val="3232716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56E6D2-7B6F-D164-48B1-BF08CEAFB7F8}"/>
              </a:ext>
            </a:extLst>
          </p:cNvPr>
          <p:cNvSpPr txBox="1"/>
          <p:nvPr/>
        </p:nvSpPr>
        <p:spPr>
          <a:xfrm>
            <a:off x="495300" y="305872"/>
            <a:ext cx="6781800" cy="461665"/>
          </a:xfrm>
          <a:prstGeom prst="rect">
            <a:avLst/>
          </a:prstGeom>
          <a:noFill/>
        </p:spPr>
        <p:txBody>
          <a:bodyPr wrap="square">
            <a:spAutoFit/>
          </a:bodyPr>
          <a:lstStyle/>
          <a:p>
            <a:r>
              <a:rPr lang="vi-VN" sz="2400" b="1"/>
              <a:t>3. Tối ưu hóa thuật toán với Cảm biến S1</a:t>
            </a:r>
            <a:endParaRPr lang="en-US" sz="2400" b="1"/>
          </a:p>
        </p:txBody>
      </p:sp>
      <mc:AlternateContent xmlns:mc="http://schemas.openxmlformats.org/markup-compatibility/2006" xmlns:a14="http://schemas.microsoft.com/office/drawing/2010/main">
        <mc:Choice Requires="a14">
          <p:sp>
            <p:nvSpPr>
              <p:cNvPr id="4" name="Rectangle 1">
                <a:extLst>
                  <a:ext uri="{FF2B5EF4-FFF2-40B4-BE49-F238E27FC236}">
                    <a16:creationId xmlns:a16="http://schemas.microsoft.com/office/drawing/2014/main" id="{DC592C51-1A3F-7302-C831-A5D090A9F3E9}"/>
                  </a:ext>
                </a:extLst>
              </p:cNvPr>
              <p:cNvSpPr>
                <a:spLocks noChangeArrowheads="1"/>
              </p:cNvSpPr>
              <p:nvPr/>
            </p:nvSpPr>
            <p:spPr bwMode="auto">
              <a:xfrm>
                <a:off x="766762" y="1377597"/>
                <a:ext cx="10734676" cy="309315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rPr>
                  <a:t>Với việc bổ sung S1 trên đỉnh máy nén, có thể tích hợp thêm </a:t>
                </a:r>
                <a:r>
                  <a:rPr kumimoji="0" lang="en-US" altLang="en-US" sz="2000" b="1" i="0" u="none" strike="noStrike" cap="none" normalizeH="0" baseline="0">
                    <a:ln>
                      <a:noFill/>
                    </a:ln>
                    <a:solidFill>
                      <a:schemeClr val="tx1"/>
                    </a:solidFill>
                    <a:effectLst/>
                  </a:rPr>
                  <a:t>Thuật toán Đối chiếu chéo (Cross-Coherence)</a:t>
                </a:r>
                <a:r>
                  <a:rPr kumimoji="0" lang="en-US" altLang="en-US" sz="2000" b="0" i="0" u="none" strike="noStrike" cap="none" normalizeH="0" baseline="0">
                    <a:ln>
                      <a:noFill/>
                    </a:ln>
                    <a:solidFill>
                      <a:schemeClr val="tx1"/>
                    </a:solidFill>
                    <a:effectLst/>
                  </a:rPr>
                  <a:t>. Nếu một đỉnh tần số bất thường xuất hiện tại gối DE (S3), vi điều khiển sẽ kiểm tra ngay phổ FFT của S1.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a:ln>
                      <a:noFill/>
                    </a:ln>
                    <a:solidFill>
                      <a:schemeClr val="tx1"/>
                    </a:solidFill>
                    <a:effectLst/>
                  </a:rPr>
                  <a:t>Nếu đỉnh đó có mặt ở S1 với biên độ lớn </a:t>
                </a:r>
                <a:r>
                  <a:rPr kumimoji="0" lang="en-US" altLang="en-US" sz="2000" b="0" i="0" u="none" strike="noStrike" cap="none" normalizeH="0" baseline="0">
                    <a:ln>
                      <a:noFill/>
                    </a:ln>
                    <a:solidFill>
                      <a:schemeClr val="tx1"/>
                    </a:solidFill>
                    <a:effectLst/>
                    <a:sym typeface="Wingdings" panose="05000000000000000000" pitchFamily="2" charset="2"/>
                  </a:rPr>
                  <a:t> </a:t>
                </a:r>
                <a:r>
                  <a:rPr kumimoji="0" lang="en-US" altLang="en-US" sz="2000" b="0" i="0" u="none" strike="noStrike" cap="none" normalizeH="0" baseline="0">
                    <a:ln>
                      <a:noFill/>
                    </a:ln>
                    <a:solidFill>
                      <a:schemeClr val="tx1"/>
                    </a:solidFill>
                    <a:effectLst/>
                  </a:rPr>
                  <a:t>100% là nhiễu truyền từ máy nén qua khớp nối, bỏ qua.</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a:ln>
                      <a:noFill/>
                    </a:ln>
                    <a:solidFill>
                      <a:schemeClr val="tx1"/>
                    </a:solidFill>
                    <a:effectLst/>
                  </a:rPr>
                  <a:t>Nếu đỉnh đó KHÔNG có mặt ở S1, đồng thời </a:t>
                </a:r>
                <a14:m>
                  <m:oMath xmlns:m="http://schemas.openxmlformats.org/officeDocument/2006/math">
                    <m:sSub>
                      <m:sSubPr>
                        <m:ctrlPr>
                          <a:rPr kumimoji="0" lang="en-US" altLang="en-US" sz="2000" b="0" i="1" u="none" strike="noStrike" cap="none" normalizeH="0" baseline="0" smtClean="0">
                            <a:ln>
                              <a:noFill/>
                            </a:ln>
                            <a:solidFill>
                              <a:schemeClr val="tx1"/>
                            </a:solidFill>
                            <a:effectLst/>
                            <a:latin typeface="Cambria Math" panose="02040503050406030204" pitchFamily="18" charset="0"/>
                          </a:rPr>
                        </m:ctrlPr>
                      </m:sSubPr>
                      <m:e>
                        <m:r>
                          <a:rPr kumimoji="0" lang="en-US" altLang="en-US" sz="2000" b="0" i="1" u="none" strike="noStrike" cap="none" normalizeH="0" baseline="0" smtClean="0">
                            <a:ln>
                              <a:noFill/>
                            </a:ln>
                            <a:solidFill>
                              <a:schemeClr val="tx1"/>
                            </a:solidFill>
                            <a:effectLst/>
                            <a:latin typeface="Cambria Math" panose="02040503050406030204" pitchFamily="18" charset="0"/>
                          </a:rPr>
                          <m:t>𝐴</m:t>
                        </m:r>
                      </m:e>
                      <m:sub>
                        <m:r>
                          <a:rPr kumimoji="0" lang="en-US" altLang="en-US" sz="2000" b="0" i="1" u="none" strike="noStrike" cap="none" normalizeH="0" baseline="0" smtClean="0">
                            <a:ln>
                              <a:noFill/>
                            </a:ln>
                            <a:solidFill>
                              <a:schemeClr val="tx1"/>
                            </a:solidFill>
                            <a:effectLst/>
                            <a:latin typeface="Cambria Math" panose="02040503050406030204" pitchFamily="18" charset="0"/>
                          </a:rPr>
                          <m:t>𝑖𝑠𝑜</m:t>
                        </m:r>
                      </m:sub>
                    </m:sSub>
                  </m:oMath>
                </a14:m>
                <a:r>
                  <a:rPr kumimoji="0" lang="en-US" altLang="en-US" sz="2000" b="0" i="0" u="none" strike="noStrike" cap="none" normalizeH="0" baseline="0">
                    <a:ln>
                      <a:noFill/>
                    </a:ln>
                    <a:solidFill>
                      <a:schemeClr val="tx1"/>
                    </a:solidFill>
                    <a:effectLst/>
                  </a:rPr>
                  <a:t> ở S3 tăng mạnh </a:t>
                </a:r>
                <a:r>
                  <a:rPr kumimoji="0" lang="en-US" altLang="en-US" sz="2000" b="0" i="0" u="none" strike="noStrike" cap="none" normalizeH="0" baseline="0">
                    <a:ln>
                      <a:noFill/>
                    </a:ln>
                    <a:solidFill>
                      <a:schemeClr val="tx1"/>
                    </a:solidFill>
                    <a:effectLst/>
                    <a:sym typeface="Wingdings" panose="05000000000000000000" pitchFamily="2" charset="2"/>
                  </a:rPr>
                  <a:t> </a:t>
                </a:r>
                <a:r>
                  <a:rPr kumimoji="0" lang="en-US" altLang="en-US" sz="2000" b="0" i="0" u="none" strike="noStrike" cap="none" normalizeH="0" baseline="0">
                    <a:ln>
                      <a:noFill/>
                    </a:ln>
                    <a:solidFill>
                      <a:schemeClr val="tx1"/>
                    </a:solidFill>
                    <a:effectLst/>
                  </a:rPr>
                  <a:t>Phát lệnh báo động đỏ lỗi BPFO/BPFI hoặc lệch tâm cơ khí.</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mc:Choice>
        <mc:Fallback xmlns="">
          <p:sp>
            <p:nvSpPr>
              <p:cNvPr id="4" name="Rectangle 1">
                <a:extLst>
                  <a:ext uri="{FF2B5EF4-FFF2-40B4-BE49-F238E27FC236}">
                    <a16:creationId xmlns:a16="http://schemas.microsoft.com/office/drawing/2014/main" id="{DC592C51-1A3F-7302-C831-A5D090A9F3E9}"/>
                  </a:ext>
                </a:extLst>
              </p:cNvPr>
              <p:cNvSpPr>
                <a:spLocks noRot="1" noChangeAspect="1" noMove="1" noResize="1" noEditPoints="1" noAdjustHandles="1" noChangeArrowheads="1" noChangeShapeType="1" noTextEdit="1"/>
              </p:cNvSpPr>
              <p:nvPr/>
            </p:nvSpPr>
            <p:spPr bwMode="auto">
              <a:xfrm>
                <a:off x="766762" y="1377597"/>
                <a:ext cx="10734676" cy="3093154"/>
              </a:xfrm>
              <a:prstGeom prst="rect">
                <a:avLst/>
              </a:prstGeom>
              <a:blipFill>
                <a:blip r:embed="rId2"/>
                <a:stretch>
                  <a:fillRect l="-625" r="-56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115246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33F4AE-5B66-DC19-4DAB-8687225FE6B7}"/>
              </a:ext>
            </a:extLst>
          </p:cNvPr>
          <p:cNvSpPr>
            <a:spLocks noChangeArrowheads="1"/>
          </p:cNvSpPr>
          <p:nvPr/>
        </p:nvSpPr>
        <p:spPr bwMode="auto">
          <a:xfrm>
            <a:off x="709611" y="989423"/>
            <a:ext cx="11015663" cy="1031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600"/>
              </a:spcBef>
              <a:spcAft>
                <a:spcPct val="0"/>
              </a:spcAft>
              <a:buClrTx/>
              <a:buSzTx/>
              <a:buFontTx/>
              <a:buNone/>
              <a:tabLst/>
            </a:pPr>
            <a:r>
              <a:rPr kumimoji="0" lang="en-US" altLang="en-US" sz="1800" b="0" i="0" u="none" strike="noStrike" cap="none" normalizeH="0" baseline="0">
                <a:ln>
                  <a:noFill/>
                </a:ln>
                <a:solidFill>
                  <a:schemeClr val="tx1"/>
                </a:solidFill>
                <a:effectLst/>
                <a:latin typeface="Google Sans Text"/>
              </a:rPr>
              <a:t>Dao động từ máy nén truyền sang động cơ qua 2 con đường song song:</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ts val="600"/>
              </a:spcBef>
              <a:spcAft>
                <a:spcPct val="0"/>
              </a:spcAft>
              <a:buClrTx/>
              <a:buSzTx/>
              <a:buFontTx/>
              <a:buAutoNum type="arabicPeriod"/>
              <a:tabLst/>
            </a:pPr>
            <a:r>
              <a:rPr kumimoji="0" lang="en-US" altLang="en-US" sz="1800" b="1" i="0" u="none" strike="noStrike" cap="none" normalizeH="0" baseline="0">
                <a:ln>
                  <a:noFill/>
                </a:ln>
                <a:solidFill>
                  <a:schemeClr val="tx1"/>
                </a:solidFill>
                <a:effectLst/>
                <a:latin typeface="Google Sans Text"/>
              </a:rPr>
              <a:t> Đường bệ móng:</a:t>
            </a:r>
            <a:r>
              <a:rPr kumimoji="0" lang="en-US" altLang="en-US" sz="1800" b="0" i="0" u="none" strike="noStrike" cap="none" normalizeH="0" baseline="0">
                <a:ln>
                  <a:noFill/>
                </a:ln>
                <a:solidFill>
                  <a:schemeClr val="tx1"/>
                </a:solidFill>
                <a:effectLst/>
                <a:latin typeface="Google Sans Text"/>
              </a:rPr>
              <a:t> Máy nén </a:t>
            </a:r>
            <a:r>
              <a:rPr kumimoji="0" lang="en-US" altLang="en-US" sz="1800" b="0" i="0" u="none" strike="noStrike" cap="none" normalizeH="0" baseline="0">
                <a:ln>
                  <a:noFill/>
                </a:ln>
                <a:solidFill>
                  <a:schemeClr val="tx1"/>
                </a:solidFill>
                <a:effectLst/>
                <a:latin typeface="Google Sans Text"/>
                <a:sym typeface="Wingdings" panose="05000000000000000000" pitchFamily="2" charset="2"/>
              </a:rPr>
              <a:t> </a:t>
            </a:r>
            <a:r>
              <a:rPr kumimoji="0" lang="en-US" altLang="en-US" sz="1800" b="0" i="0" u="none" strike="noStrike" cap="none" normalizeH="0" baseline="0">
                <a:ln>
                  <a:noFill/>
                </a:ln>
                <a:solidFill>
                  <a:schemeClr val="tx1"/>
                </a:solidFill>
                <a:effectLst/>
                <a:latin typeface="Google Sans Text"/>
              </a:rPr>
              <a:t>Khung thép (Skid) </a:t>
            </a:r>
            <a:r>
              <a:rPr kumimoji="0" lang="en-US" altLang="en-US" sz="1800" b="0" i="0" u="none" strike="noStrike" cap="none" normalizeH="0" baseline="0">
                <a:ln>
                  <a:noFill/>
                </a:ln>
                <a:solidFill>
                  <a:schemeClr val="tx1"/>
                </a:solidFill>
                <a:effectLst/>
                <a:latin typeface="Google Sans Text"/>
                <a:sym typeface="Wingdings" panose="05000000000000000000" pitchFamily="2" charset="2"/>
              </a:rPr>
              <a:t></a:t>
            </a:r>
            <a:r>
              <a:rPr kumimoji="0" lang="en-US" altLang="en-US" sz="1800" b="0" i="0" u="none" strike="noStrike" cap="none" normalizeH="0" baseline="0">
                <a:ln>
                  <a:noFill/>
                </a:ln>
                <a:solidFill>
                  <a:schemeClr val="tx1"/>
                </a:solidFill>
                <a:effectLst/>
                <a:latin typeface="Google Sans Text"/>
              </a:rPr>
              <a:t> Bệ đỡ S2 </a:t>
            </a:r>
            <a:r>
              <a:rPr kumimoji="0" lang="en-US" altLang="en-US" sz="1800" b="0" i="0" u="none" strike="noStrike" cap="none" normalizeH="0" baseline="0">
                <a:ln>
                  <a:noFill/>
                </a:ln>
                <a:solidFill>
                  <a:schemeClr val="tx1"/>
                </a:solidFill>
                <a:effectLst/>
                <a:latin typeface="Google Sans Text"/>
                <a:sym typeface="Wingdings" panose="05000000000000000000" pitchFamily="2" charset="2"/>
              </a:rPr>
              <a:t></a:t>
            </a:r>
            <a:r>
              <a:rPr kumimoji="0" lang="en-US" altLang="en-US" sz="1800" b="0" i="0" u="none" strike="noStrike" cap="none" normalizeH="0" baseline="0">
                <a:ln>
                  <a:noFill/>
                </a:ln>
                <a:solidFill>
                  <a:schemeClr val="tx1"/>
                </a:solidFill>
                <a:effectLst/>
                <a:latin typeface="Google Sans Text"/>
              </a:rPr>
              <a:t> Vỏ gối đỡ động cơ S3/S4.</a:t>
            </a:r>
          </a:p>
          <a:p>
            <a:pPr marL="0" marR="0" lvl="0" indent="0" algn="l" defTabSz="914400" rtl="0" eaLnBrk="0" fontAlgn="base" latinLnBrk="0" hangingPunct="0">
              <a:lnSpc>
                <a:spcPct val="100000"/>
              </a:lnSpc>
              <a:spcBef>
                <a:spcPts val="600"/>
              </a:spcBef>
              <a:spcAft>
                <a:spcPct val="0"/>
              </a:spcAft>
              <a:buClrTx/>
              <a:buSzTx/>
              <a:buFontTx/>
              <a:buAutoNum type="arabicPeriod" startAt="2"/>
              <a:tabLst/>
            </a:pPr>
            <a:r>
              <a:rPr kumimoji="0" lang="en-US" altLang="en-US" sz="1800" b="1" i="0" u="none" strike="noStrike" cap="none" normalizeH="0" baseline="0">
                <a:ln>
                  <a:noFill/>
                </a:ln>
                <a:solidFill>
                  <a:schemeClr val="tx1"/>
                </a:solidFill>
                <a:effectLst/>
                <a:latin typeface="Google Sans Text"/>
              </a:rPr>
              <a:t> Đường trục (Coupling):</a:t>
            </a:r>
            <a:r>
              <a:rPr kumimoji="0" lang="en-US" altLang="en-US" sz="1800" b="0" i="0" u="none" strike="noStrike" cap="none" normalizeH="0" baseline="0">
                <a:ln>
                  <a:noFill/>
                </a:ln>
                <a:solidFill>
                  <a:schemeClr val="tx1"/>
                </a:solidFill>
                <a:effectLst/>
                <a:latin typeface="Google Sans Text"/>
              </a:rPr>
              <a:t> Máy nén </a:t>
            </a:r>
            <a:r>
              <a:rPr kumimoji="0" lang="en-US" altLang="en-US" sz="1800" b="0" i="0" u="none" strike="noStrike" cap="none" normalizeH="0" baseline="0">
                <a:ln>
                  <a:noFill/>
                </a:ln>
                <a:solidFill>
                  <a:schemeClr val="tx1"/>
                </a:solidFill>
                <a:effectLst/>
                <a:latin typeface="Google Sans Text"/>
                <a:sym typeface="Wingdings" panose="05000000000000000000" pitchFamily="2" charset="2"/>
              </a:rPr>
              <a:t></a:t>
            </a:r>
            <a:r>
              <a:rPr kumimoji="0" lang="en-US" altLang="en-US" sz="1800" b="0" i="0" u="none" strike="noStrike" cap="none" normalizeH="0" baseline="0">
                <a:ln>
                  <a:noFill/>
                </a:ln>
                <a:solidFill>
                  <a:schemeClr val="tx1"/>
                </a:solidFill>
                <a:effectLst/>
                <a:latin typeface="Google Sans Text"/>
              </a:rPr>
              <a:t> Trục truyền động </a:t>
            </a:r>
            <a:r>
              <a:rPr kumimoji="0" lang="en-US" altLang="en-US" sz="1800" b="0" i="0" u="none" strike="noStrike" cap="none" normalizeH="0" baseline="0">
                <a:ln>
                  <a:noFill/>
                </a:ln>
                <a:solidFill>
                  <a:schemeClr val="tx1"/>
                </a:solidFill>
                <a:effectLst/>
                <a:latin typeface="Google Sans Text"/>
                <a:sym typeface="Wingdings" panose="05000000000000000000" pitchFamily="2" charset="2"/>
              </a:rPr>
              <a:t></a:t>
            </a:r>
            <a:r>
              <a:rPr kumimoji="0" lang="en-US" altLang="en-US" sz="1800" b="0" i="0" u="none" strike="noStrike" cap="none" normalizeH="0" baseline="0">
                <a:ln>
                  <a:noFill/>
                </a:ln>
                <a:solidFill>
                  <a:schemeClr val="tx1"/>
                </a:solidFill>
                <a:effectLst/>
                <a:latin typeface="Google Sans Text"/>
              </a:rPr>
              <a:t> Khớp nối </a:t>
            </a:r>
            <a:r>
              <a:rPr kumimoji="0" lang="en-US" altLang="en-US" sz="1800" b="0" i="0" u="none" strike="noStrike" cap="none" normalizeH="0" baseline="0">
                <a:ln>
                  <a:noFill/>
                </a:ln>
                <a:solidFill>
                  <a:schemeClr val="tx1"/>
                </a:solidFill>
                <a:effectLst/>
                <a:latin typeface="Google Sans Text"/>
                <a:sym typeface="Wingdings" panose="05000000000000000000" pitchFamily="2" charset="2"/>
              </a:rPr>
              <a:t></a:t>
            </a:r>
            <a:r>
              <a:rPr kumimoji="0" lang="en-US" altLang="en-US" sz="1800" b="0" i="0" u="none" strike="noStrike" cap="none" normalizeH="0" baseline="0">
                <a:ln>
                  <a:noFill/>
                </a:ln>
                <a:solidFill>
                  <a:schemeClr val="tx1"/>
                </a:solidFill>
                <a:effectLst/>
                <a:latin typeface="Google Sans Text"/>
              </a:rPr>
              <a:t> Trục động cơ </a:t>
            </a:r>
            <a:r>
              <a:rPr kumimoji="0" lang="en-US" altLang="en-US" sz="1800" b="0" i="0" u="none" strike="noStrike" cap="none" normalizeH="0" baseline="0">
                <a:ln>
                  <a:noFill/>
                </a:ln>
                <a:solidFill>
                  <a:schemeClr val="tx1"/>
                </a:solidFill>
                <a:effectLst/>
                <a:latin typeface="Google Sans Text"/>
                <a:sym typeface="Wingdings" panose="05000000000000000000" pitchFamily="2" charset="2"/>
              </a:rPr>
              <a:t></a:t>
            </a:r>
            <a:r>
              <a:rPr kumimoji="0" lang="en-US" altLang="en-US" sz="1800" b="0" i="0" u="none" strike="noStrike" cap="none" normalizeH="0" baseline="0">
                <a:ln>
                  <a:noFill/>
                </a:ln>
                <a:solidFill>
                  <a:schemeClr val="tx1"/>
                </a:solidFill>
                <a:effectLst/>
                <a:latin typeface="Google Sans Text"/>
              </a:rPr>
              <a:t> Vòng bi DE </a:t>
            </a:r>
            <a:r>
              <a:rPr kumimoji="0" lang="en-US" altLang="en-US" sz="1800" b="0" i="0" u="none" strike="noStrike" cap="none" normalizeH="0" baseline="0">
                <a:ln>
                  <a:noFill/>
                </a:ln>
                <a:solidFill>
                  <a:schemeClr val="tx1"/>
                </a:solidFill>
                <a:effectLst/>
                <a:latin typeface="Google Sans Text"/>
                <a:sym typeface="Wingdings" panose="05000000000000000000" pitchFamily="2" charset="2"/>
              </a:rPr>
              <a:t></a:t>
            </a:r>
            <a:r>
              <a:rPr kumimoji="0" lang="en-US" altLang="en-US" sz="1800" b="0" i="0" u="none" strike="noStrike" cap="none" normalizeH="0" baseline="0">
                <a:ln>
                  <a:noFill/>
                </a:ln>
                <a:solidFill>
                  <a:schemeClr val="tx1"/>
                </a:solidFill>
                <a:effectLst/>
                <a:latin typeface="Google Sans Text"/>
              </a:rPr>
              <a:t> Vỏ gối đỡ S3.</a:t>
            </a:r>
            <a:endParaRPr kumimoji="0" lang="en-US" altLang="en-US" sz="1800" b="0" i="0" u="none" strike="noStrike" cap="none" normalizeH="0" baseline="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42359BA5-D0B7-3AFE-87A2-23D96B26B493}"/>
                  </a:ext>
                </a:extLst>
              </p:cNvPr>
              <p:cNvSpPr>
                <a:spLocks noChangeArrowheads="1"/>
              </p:cNvSpPr>
              <p:nvPr/>
            </p:nvSpPr>
            <p:spPr bwMode="auto">
              <a:xfrm>
                <a:off x="709611" y="2207671"/>
                <a:ext cx="10753726" cy="415498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600"/>
                  </a:spcBef>
                  <a:spcAft>
                    <a:spcPct val="0"/>
                  </a:spcAft>
                  <a:buClrTx/>
                  <a:buSzTx/>
                  <a:buFontTx/>
                  <a:buNone/>
                  <a:tabLst/>
                </a:pPr>
                <a:r>
                  <a:rPr kumimoji="0" lang="en-US" altLang="en-US" sz="1800" b="0" i="0" u="none" strike="noStrike" cap="none" normalizeH="0" baseline="0">
                    <a:ln>
                      <a:noFill/>
                    </a:ln>
                    <a:solidFill>
                      <a:schemeClr val="tx1"/>
                    </a:solidFill>
                    <a:effectLst/>
                    <a:latin typeface="Google Sans Text"/>
                  </a:rPr>
                  <a:t>Lý do trong công thức vi sai cơ bản không trực tiếp đưa </a:t>
                </a:r>
                <a14:m>
                  <m:oMath xmlns:m="http://schemas.openxmlformats.org/officeDocument/2006/math">
                    <m:sSub>
                      <m:sSubPr>
                        <m:ctrlPr>
                          <a:rPr kumimoji="0" lang="en-US" altLang="en-US" sz="1800" b="0" i="1" u="none" strike="noStrike" cap="none" normalizeH="0" baseline="0" smtClean="0">
                            <a:ln>
                              <a:noFill/>
                            </a:ln>
                            <a:solidFill>
                              <a:schemeClr val="tx1"/>
                            </a:solidFill>
                            <a:effectLst/>
                            <a:latin typeface="Cambria Math" panose="02040503050406030204" pitchFamily="18" charset="0"/>
                          </a:rPr>
                        </m:ctrlPr>
                      </m:sSubPr>
                      <m:e>
                        <m:r>
                          <a:rPr kumimoji="0" lang="en-US" altLang="en-US" sz="1800" b="0" i="1" u="none" strike="noStrike" cap="none" normalizeH="0" baseline="0" smtClean="0">
                            <a:ln>
                              <a:noFill/>
                            </a:ln>
                            <a:solidFill>
                              <a:schemeClr val="tx1"/>
                            </a:solidFill>
                            <a:effectLst/>
                            <a:latin typeface="Cambria Math" panose="02040503050406030204" pitchFamily="18" charset="0"/>
                          </a:rPr>
                          <m:t>𝐴</m:t>
                        </m:r>
                      </m:e>
                      <m:sub>
                        <m:r>
                          <a:rPr kumimoji="0" lang="en-US" altLang="en-US" sz="1800" b="0" i="1" u="none" strike="noStrike" cap="none" normalizeH="0" baseline="0" smtClean="0">
                            <a:ln>
                              <a:noFill/>
                            </a:ln>
                            <a:solidFill>
                              <a:schemeClr val="tx1"/>
                            </a:solidFill>
                            <a:effectLst/>
                            <a:latin typeface="Cambria Math" panose="02040503050406030204" pitchFamily="18" charset="0"/>
                          </a:rPr>
                          <m:t>𝑆</m:t>
                        </m:r>
                        <m:r>
                          <a:rPr kumimoji="0" lang="en-US" altLang="en-US" sz="1800" b="0" i="1" u="none" strike="noStrike" cap="none" normalizeH="0" baseline="0" smtClean="0">
                            <a:ln>
                              <a:noFill/>
                            </a:ln>
                            <a:solidFill>
                              <a:schemeClr val="tx1"/>
                            </a:solidFill>
                            <a:effectLst/>
                            <a:latin typeface="Cambria Math" panose="02040503050406030204" pitchFamily="18" charset="0"/>
                          </a:rPr>
                          <m:t>1</m:t>
                        </m:r>
                      </m:sub>
                    </m:sSub>
                  </m:oMath>
                </a14:m>
                <a:r>
                  <a:rPr kumimoji="0" lang="en-US" altLang="en-US" sz="1800" b="0" i="0" u="none" strike="noStrike" cap="none" normalizeH="0" baseline="0">
                    <a:ln>
                      <a:noFill/>
                    </a:ln>
                    <a:solidFill>
                      <a:schemeClr val="tx1"/>
                    </a:solidFill>
                    <a:effectLst/>
                    <a:latin typeface="Google Sans Text"/>
                  </a:rPr>
                  <a:t> vào xuất phát từ 3 nguyên nhân kỹ thuật cốt lõi sau:</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ts val="60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 Tính phi tuyến của Khớp nối (Coupling Attenuation):</a:t>
                </a:r>
                <a:r>
                  <a:rPr kumimoji="0" lang="en-US" altLang="en-US" sz="1800" b="0" i="0" u="none" strike="noStrike" cap="none" normalizeH="0" baseline="0">
                    <a:ln>
                      <a:noFill/>
                    </a:ln>
                    <a:solidFill>
                      <a:schemeClr val="tx1"/>
                    </a:solidFill>
                    <a:effectLst/>
                    <a:latin typeface="Google Sans Text"/>
                  </a:rPr>
                  <a:t> Động cơ 450 kW thường được nối với máy nén bằng khớp nối mềm (Flexible Coupling). Chức năng của khớp nối này không chỉ để truyền mô-men xoắn mà còn để </a:t>
                </a:r>
                <a:r>
                  <a:rPr kumimoji="0" lang="en-US" altLang="en-US" sz="1800" b="1" i="0" u="none" strike="noStrike" cap="none" normalizeH="0" baseline="0">
                    <a:ln>
                      <a:noFill/>
                    </a:ln>
                    <a:solidFill>
                      <a:schemeClr val="tx1"/>
                    </a:solidFill>
                    <a:effectLst/>
                    <a:latin typeface="Google Sans Text"/>
                  </a:rPr>
                  <a:t>hấp thụ và triệt tiêu rung động</a:t>
                </a:r>
                <a:r>
                  <a:rPr kumimoji="0" lang="en-US" altLang="en-US" sz="1800" b="0" i="0" u="none" strike="noStrike" cap="none" normalizeH="0" baseline="0">
                    <a:ln>
                      <a:noFill/>
                    </a:ln>
                    <a:solidFill>
                      <a:schemeClr val="tx1"/>
                    </a:solidFill>
                    <a:effectLst/>
                    <a:latin typeface="Google Sans Text"/>
                  </a:rPr>
                  <a:t> dọc trục và hướng kính. Do đó, dao động từ máy nén khi đi qua khớp nối sang S3 đã bị biến dạng và suy hao phi tuyến, không tuân theo một tỷ lệ tuyến tính tĩnh nào để có thể đưa vào công thức trừ.</a:t>
                </a:r>
              </a:p>
              <a:p>
                <a:pPr marL="0" marR="0" lvl="0" indent="0" algn="l" defTabSz="914400" rtl="0" eaLnBrk="0" fontAlgn="base" latinLnBrk="0" hangingPunct="0">
                  <a:lnSpc>
                    <a:spcPct val="100000"/>
                  </a:lnSpc>
                  <a:spcBef>
                    <a:spcPts val="60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 Vị trí vật lý của S1:</a:t>
                </a:r>
                <a:r>
                  <a:rPr kumimoji="0" lang="en-US" altLang="en-US" sz="1800" b="0" i="0" u="none" strike="noStrike" cap="none" normalizeH="0" baseline="0">
                    <a:ln>
                      <a:noFill/>
                    </a:ln>
                    <a:solidFill>
                      <a:schemeClr val="tx1"/>
                    </a:solidFill>
                    <a:effectLst/>
                    <a:latin typeface="Google Sans Text"/>
                  </a:rPr>
                  <a:t> Cảm biến S1 được định vị trên "đỉnh của Compressor", tức là rất xa tâm trục quay. Nó đo lường rung động tổng hợp của buồng nén gang, áp suất gas và thành vỏ. Dao động này rất lớn, nhưng năng lượng thực tế truyền tới tâm trục quay (để đi sang động cơ) lại hoàn toàn khác. Nếu lấy </a:t>
                </a:r>
                <a14:m>
                  <m:oMath xmlns:m="http://schemas.openxmlformats.org/officeDocument/2006/math">
                    <m:sSub>
                      <m:sSubPr>
                        <m:ctrlPr>
                          <a:rPr kumimoji="0" lang="en-US" altLang="en-US" sz="1800" b="0" i="1" u="none" strike="noStrike" cap="none" normalizeH="0" baseline="0" smtClean="0">
                            <a:ln>
                              <a:noFill/>
                            </a:ln>
                            <a:solidFill>
                              <a:schemeClr val="tx1"/>
                            </a:solidFill>
                            <a:effectLst/>
                            <a:latin typeface="Cambria Math" panose="02040503050406030204" pitchFamily="18" charset="0"/>
                          </a:rPr>
                        </m:ctrlPr>
                      </m:sSubPr>
                      <m:e>
                        <m:r>
                          <a:rPr kumimoji="0" lang="en-US" altLang="en-US" sz="1800" b="0" i="1" u="none" strike="noStrike" cap="none" normalizeH="0" baseline="0" smtClean="0">
                            <a:ln>
                              <a:noFill/>
                            </a:ln>
                            <a:solidFill>
                              <a:schemeClr val="tx1"/>
                            </a:solidFill>
                            <a:effectLst/>
                            <a:latin typeface="Cambria Math" panose="02040503050406030204" pitchFamily="18" charset="0"/>
                          </a:rPr>
                          <m:t>𝐴</m:t>
                        </m:r>
                      </m:e>
                      <m:sub>
                        <m:r>
                          <a:rPr kumimoji="0" lang="en-US" altLang="en-US" sz="1800" b="0" i="1" u="none" strike="noStrike" cap="none" normalizeH="0" baseline="0" smtClean="0">
                            <a:ln>
                              <a:noFill/>
                            </a:ln>
                            <a:solidFill>
                              <a:schemeClr val="tx1"/>
                            </a:solidFill>
                            <a:effectLst/>
                            <a:latin typeface="Cambria Math" panose="02040503050406030204" pitchFamily="18" charset="0"/>
                          </a:rPr>
                          <m:t>𝑆</m:t>
                        </m:r>
                        <m:r>
                          <a:rPr kumimoji="0" lang="en-US" altLang="en-US" sz="1800" b="0" i="1" u="none" strike="noStrike" cap="none" normalizeH="0" baseline="0" smtClean="0">
                            <a:ln>
                              <a:noFill/>
                            </a:ln>
                            <a:solidFill>
                              <a:schemeClr val="tx1"/>
                            </a:solidFill>
                            <a:effectLst/>
                            <a:latin typeface="Cambria Math" panose="02040503050406030204" pitchFamily="18" charset="0"/>
                          </a:rPr>
                          <m:t>1</m:t>
                        </m:r>
                      </m:sub>
                    </m:sSub>
                  </m:oMath>
                </a14:m>
                <a:r>
                  <a:rPr kumimoji="0" lang="en-US" altLang="en-US" sz="1800" b="0" i="0" u="none" strike="noStrike" cap="none" normalizeH="0" baseline="0">
                    <a:ln>
                      <a:noFill/>
                    </a:ln>
                    <a:solidFill>
                      <a:schemeClr val="tx1"/>
                    </a:solidFill>
                    <a:effectLst/>
                    <a:latin typeface="Google Sans Text"/>
                  </a:rPr>
                  <a:t> trừ trực tiếp, hệ thống sẽ bị </a:t>
                </a:r>
                <a:r>
                  <a:rPr kumimoji="0" lang="en-US" altLang="en-US" sz="1800" b="1" i="0" u="none" strike="noStrike" cap="none" normalizeH="0" baseline="0">
                    <a:ln>
                      <a:noFill/>
                    </a:ln>
                    <a:solidFill>
                      <a:schemeClr val="tx1"/>
                    </a:solidFill>
                    <a:effectLst/>
                    <a:latin typeface="Google Sans Text"/>
                  </a:rPr>
                  <a:t>"Over-compensation" (Trừ lẹm tín hiệu)</a:t>
                </a:r>
                <a:r>
                  <a:rPr kumimoji="0" lang="en-US" altLang="en-US" sz="1800" b="0" i="0" u="none" strike="noStrike" cap="none" normalizeH="0" baseline="0">
                    <a:ln>
                      <a:noFill/>
                    </a:ln>
                    <a:solidFill>
                      <a:schemeClr val="tx1"/>
                    </a:solidFill>
                    <a:effectLst/>
                    <a:latin typeface="Google Sans Text"/>
                  </a:rPr>
                  <a:t>, làm mất đi các dữ liệu lỗi thực sự của gối đỡ S3. </a:t>
                </a:r>
              </a:p>
              <a:p>
                <a:pPr marL="0" marR="0" lvl="0" indent="0" algn="l" defTabSz="914400" rtl="0" eaLnBrk="0" fontAlgn="base" latinLnBrk="0" hangingPunct="0">
                  <a:lnSpc>
                    <a:spcPct val="100000"/>
                  </a:lnSpc>
                  <a:spcBef>
                    <a:spcPts val="60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 Xung đột pha (Phase Cancellation):</a:t>
                </a:r>
                <a:r>
                  <a:rPr kumimoji="0" lang="en-US" altLang="en-US" sz="1800" b="0" i="0" u="none" strike="noStrike" cap="none" normalizeH="0" baseline="0">
                    <a:ln>
                      <a:noFill/>
                    </a:ln>
                    <a:solidFill>
                      <a:schemeClr val="tx1"/>
                    </a:solidFill>
                    <a:effectLst/>
                    <a:latin typeface="Google Sans Text"/>
                  </a:rPr>
                  <a:t> Sóng cơ học đi qua bệ đỡ (S2) và đi qua trục mất những khoảng thời gian khác nhau. Khi gặp nhau tại vỏ gối đỡ S3, chúng có thể cộng hưởng làm biên độ tăng lên, hoặc triệt tiêu làm biên độ giảm đi. Việc trừ mù mờ các biên độ bình phương mà không xét đến góc pha sẽ dẫn đến sai số toán học nghiêm trọng.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mc:Choice>
        <mc:Fallback xmlns="">
          <p:sp>
            <p:nvSpPr>
              <p:cNvPr id="3" name="Rectangle 2">
                <a:extLst>
                  <a:ext uri="{FF2B5EF4-FFF2-40B4-BE49-F238E27FC236}">
                    <a16:creationId xmlns:a16="http://schemas.microsoft.com/office/drawing/2014/main" id="{42359BA5-D0B7-3AFE-87A2-23D96B26B493}"/>
                  </a:ext>
                </a:extLst>
              </p:cNvPr>
              <p:cNvSpPr>
                <a:spLocks noRot="1" noChangeAspect="1" noMove="1" noResize="1" noEditPoints="1" noAdjustHandles="1" noChangeArrowheads="1" noChangeShapeType="1" noTextEdit="1"/>
              </p:cNvSpPr>
              <p:nvPr/>
            </p:nvSpPr>
            <p:spPr bwMode="auto">
              <a:xfrm>
                <a:off x="709611" y="2207671"/>
                <a:ext cx="10753726" cy="4154984"/>
              </a:xfrm>
              <a:prstGeom prst="rect">
                <a:avLst/>
              </a:prstGeom>
              <a:blipFill>
                <a:blip r:embed="rId2"/>
                <a:stretch>
                  <a:fillRect l="-454" t="-1466" r="-85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5" name="TextBox 4">
            <a:extLst>
              <a:ext uri="{FF2B5EF4-FFF2-40B4-BE49-F238E27FC236}">
                <a16:creationId xmlns:a16="http://schemas.microsoft.com/office/drawing/2014/main" id="{E075138B-2099-B385-D1FB-865E50D84585}"/>
              </a:ext>
            </a:extLst>
          </p:cNvPr>
          <p:cNvSpPr txBox="1"/>
          <p:nvPr/>
        </p:nvSpPr>
        <p:spPr>
          <a:xfrm>
            <a:off x="638175" y="310679"/>
            <a:ext cx="6096000" cy="369332"/>
          </a:xfrm>
          <a:prstGeom prst="rect">
            <a:avLst/>
          </a:prstGeom>
          <a:noFill/>
        </p:spPr>
        <p:txBody>
          <a:bodyPr wrap="square">
            <a:spAutoFit/>
          </a:bodyPr>
          <a:lstStyle/>
          <a:p>
            <a:r>
              <a:rPr lang="en-US" sz="1800" b="1"/>
              <a:t>4</a:t>
            </a:r>
            <a:r>
              <a:rPr lang="vi-VN" sz="1800" b="1"/>
              <a:t>. </a:t>
            </a:r>
            <a:r>
              <a:rPr lang="en-US" sz="1800" b="1"/>
              <a:t>Giải thích trong công thức không dùng</a:t>
            </a:r>
            <a:r>
              <a:rPr lang="vi-VN" sz="1800" b="1"/>
              <a:t> Cảm biến S1</a:t>
            </a:r>
            <a:endParaRPr lang="en-US" sz="1800" b="1"/>
          </a:p>
        </p:txBody>
      </p:sp>
    </p:spTree>
    <p:extLst>
      <p:ext uri="{BB962C8B-B14F-4D97-AF65-F5344CB8AC3E}">
        <p14:creationId xmlns:p14="http://schemas.microsoft.com/office/powerpoint/2010/main" val="1061799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33278F-234E-ECB2-1BED-92AE78CB6E8D}"/>
              </a:ext>
            </a:extLst>
          </p:cNvPr>
          <p:cNvSpPr txBox="1"/>
          <p:nvPr/>
        </p:nvSpPr>
        <p:spPr>
          <a:xfrm>
            <a:off x="638175" y="310679"/>
            <a:ext cx="6096000" cy="369332"/>
          </a:xfrm>
          <a:prstGeom prst="rect">
            <a:avLst/>
          </a:prstGeom>
          <a:noFill/>
        </p:spPr>
        <p:txBody>
          <a:bodyPr wrap="square">
            <a:spAutoFit/>
          </a:bodyPr>
          <a:lstStyle/>
          <a:p>
            <a:r>
              <a:rPr lang="en-US" sz="1800" b="1"/>
              <a:t>5</a:t>
            </a:r>
            <a:r>
              <a:rPr lang="vi-VN" sz="1800" b="1"/>
              <a:t>. </a:t>
            </a:r>
            <a:r>
              <a:rPr lang="en-US" sz="1800" b="1"/>
              <a:t>Sử dụng số liệu nhiệt độ từ các cảm biến</a:t>
            </a:r>
          </a:p>
        </p:txBody>
      </p:sp>
      <p:sp>
        <p:nvSpPr>
          <p:cNvPr id="3" name="Rectangle 1">
            <a:extLst>
              <a:ext uri="{FF2B5EF4-FFF2-40B4-BE49-F238E27FC236}">
                <a16:creationId xmlns:a16="http://schemas.microsoft.com/office/drawing/2014/main" id="{B281625E-4888-F2B4-9A54-D95E4EBD37F2}"/>
              </a:ext>
            </a:extLst>
          </p:cNvPr>
          <p:cNvSpPr>
            <a:spLocks noChangeArrowheads="1"/>
          </p:cNvSpPr>
          <p:nvPr/>
        </p:nvSpPr>
        <p:spPr bwMode="auto">
          <a:xfrm>
            <a:off x="638175" y="819193"/>
            <a:ext cx="10663238"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600"/>
              </a:spcBef>
              <a:spcAft>
                <a:spcPct val="0"/>
              </a:spcAft>
              <a:buClrTx/>
              <a:buSzTx/>
              <a:buFontTx/>
              <a:buNone/>
              <a:tabLst/>
            </a:pPr>
            <a:r>
              <a:rPr kumimoji="0" lang="en-US" altLang="en-US" sz="1800" b="1" i="0" u="none" strike="noStrike" cap="none" normalizeH="0" baseline="0">
                <a:ln>
                  <a:noFill/>
                </a:ln>
                <a:solidFill>
                  <a:schemeClr val="tx1"/>
                </a:solidFill>
                <a:effectLst/>
              </a:rPr>
              <a:t>Tiêu chuẩn Động cơ điện (IEC 60034-1 &amp; NEMA MG-1)</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ts val="600"/>
              </a:spcBef>
              <a:spcAft>
                <a:spcPct val="0"/>
              </a:spcAft>
              <a:buClrTx/>
              <a:buSzTx/>
              <a:buFontTx/>
              <a:buChar char="•"/>
              <a:tabLst/>
            </a:pPr>
            <a:r>
              <a:rPr kumimoji="0" lang="en-US" altLang="en-US" sz="1800" b="1" i="0" u="none" strike="noStrike" cap="none" normalizeH="0" baseline="0">
                <a:ln>
                  <a:noFill/>
                </a:ln>
                <a:solidFill>
                  <a:schemeClr val="tx1"/>
                </a:solidFill>
                <a:effectLst/>
              </a:rPr>
              <a:t> Giới hạn cuộn dây:</a:t>
            </a:r>
            <a:r>
              <a:rPr kumimoji="0" lang="en-US" altLang="en-US" sz="1800" b="0" i="0" u="none" strike="noStrike" cap="none" normalizeH="0" baseline="0">
                <a:ln>
                  <a:noFill/>
                </a:ln>
                <a:solidFill>
                  <a:schemeClr val="tx1"/>
                </a:solidFill>
                <a:effectLst/>
              </a:rPr>
              <a:t> Động cơ Honeywell HPM 450kW sử dụng cách điện Cấp F. Ngưỡng chịu đựng tối đa của vật liệu cách điện là 155°C, với độ tăng nhiệt cho phép là 105°C so với môi trường làm việc. </a:t>
            </a:r>
          </a:p>
          <a:p>
            <a:pPr marL="0" marR="0" lvl="0" indent="0" algn="l" defTabSz="914400" rtl="0" eaLnBrk="0" fontAlgn="base" latinLnBrk="0" hangingPunct="0">
              <a:lnSpc>
                <a:spcPct val="100000"/>
              </a:lnSpc>
              <a:spcBef>
                <a:spcPts val="600"/>
              </a:spcBef>
              <a:spcAft>
                <a:spcPct val="0"/>
              </a:spcAft>
              <a:buClrTx/>
              <a:buSzTx/>
              <a:buFontTx/>
              <a:buChar char="•"/>
              <a:tabLst/>
            </a:pPr>
            <a:r>
              <a:rPr kumimoji="0" lang="en-US" altLang="en-US" sz="1800" b="1" i="0" u="none" strike="noStrike" cap="none" normalizeH="0" baseline="0">
                <a:ln>
                  <a:noFill/>
                </a:ln>
                <a:solidFill>
                  <a:schemeClr val="tx1"/>
                </a:solidFill>
                <a:effectLst/>
              </a:rPr>
              <a:t> Cảnh báo gối đỡ (Bearing):</a:t>
            </a:r>
            <a:r>
              <a:rPr kumimoji="0" lang="en-US" altLang="en-US" sz="1800" b="0" i="0" u="none" strike="noStrike" cap="none" normalizeH="0" baseline="0">
                <a:ln>
                  <a:noFill/>
                </a:ln>
                <a:solidFill>
                  <a:schemeClr val="tx1"/>
                </a:solidFill>
                <a:effectLst/>
              </a:rPr>
              <a:t> Ranh giới an toàn phổ biến cho vòng bi công nghiệp là 90°C (Mức Warning) và 100°C (Mức Alarm/Trip). Vượt mức này, mỡ bôi trơn sẽ bị tách lớp dầu khỏi gốc xà phòng, làm mất đặc tính bôi trơn và gây cháy vòng bi.</a:t>
            </a:r>
          </a:p>
        </p:txBody>
      </p:sp>
      <p:sp>
        <p:nvSpPr>
          <p:cNvPr id="5" name="TextBox 4">
            <a:extLst>
              <a:ext uri="{FF2B5EF4-FFF2-40B4-BE49-F238E27FC236}">
                <a16:creationId xmlns:a16="http://schemas.microsoft.com/office/drawing/2014/main" id="{D76C3CD5-F70C-DB8B-2625-5823A729452A}"/>
              </a:ext>
            </a:extLst>
          </p:cNvPr>
          <p:cNvSpPr txBox="1"/>
          <p:nvPr/>
        </p:nvSpPr>
        <p:spPr>
          <a:xfrm>
            <a:off x="638175" y="2774900"/>
            <a:ext cx="10548939" cy="1631216"/>
          </a:xfrm>
          <a:prstGeom prst="rect">
            <a:avLst/>
          </a:prstGeom>
          <a:noFill/>
        </p:spPr>
        <p:txBody>
          <a:bodyPr wrap="square">
            <a:spAutoFit/>
          </a:bodyPr>
          <a:lstStyle/>
          <a:p>
            <a:pPr>
              <a:spcBef>
                <a:spcPts val="600"/>
              </a:spcBef>
            </a:pPr>
            <a:r>
              <a:rPr lang="vi-VN" b="1">
                <a:latin typeface="Calibri" panose="020F0502020204030204" pitchFamily="34" charset="0"/>
                <a:ea typeface="Calibri" panose="020F0502020204030204" pitchFamily="34" charset="0"/>
                <a:cs typeface="Calibri" panose="020F0502020204030204" pitchFamily="34" charset="0"/>
              </a:rPr>
              <a:t>Tiêu chuẩn Máy nén trục vít (API 619 &amp; MYCOM)</a:t>
            </a:r>
            <a:endParaRPr lang="vi-VN">
              <a:latin typeface="Calibri" panose="020F0502020204030204" pitchFamily="34" charset="0"/>
              <a:ea typeface="Calibri" panose="020F0502020204030204" pitchFamily="34" charset="0"/>
              <a:cs typeface="Calibri" panose="020F0502020204030204" pitchFamily="34" charset="0"/>
            </a:endParaRPr>
          </a:p>
          <a:p>
            <a:pPr>
              <a:spcBef>
                <a:spcPts val="600"/>
              </a:spcBef>
              <a:buFont typeface="Arial" panose="020B0604020202020204" pitchFamily="34" charset="0"/>
              <a:buChar char="•"/>
            </a:pPr>
            <a:r>
              <a:rPr lang="en-US" b="1">
                <a:latin typeface="Calibri" panose="020F0502020204030204" pitchFamily="34" charset="0"/>
                <a:ea typeface="Calibri" panose="020F0502020204030204" pitchFamily="34" charset="0"/>
                <a:cs typeface="Calibri" panose="020F0502020204030204" pitchFamily="34" charset="0"/>
              </a:rPr>
              <a:t> </a:t>
            </a:r>
            <a:r>
              <a:rPr lang="vi-VN" b="1">
                <a:latin typeface="Calibri" panose="020F0502020204030204" pitchFamily="34" charset="0"/>
                <a:ea typeface="Calibri" panose="020F0502020204030204" pitchFamily="34" charset="0"/>
                <a:cs typeface="Calibri" panose="020F0502020204030204" pitchFamily="34" charset="0"/>
              </a:rPr>
              <a:t>Nhiệt độ xả nén:</a:t>
            </a:r>
            <a:r>
              <a:rPr lang="vi-VN">
                <a:latin typeface="Calibri" panose="020F0502020204030204" pitchFamily="34" charset="0"/>
                <a:ea typeface="Calibri" panose="020F0502020204030204" pitchFamily="34" charset="0"/>
                <a:cs typeface="Calibri" panose="020F0502020204030204" pitchFamily="34" charset="0"/>
              </a:rPr>
              <a:t> Giới hạn nhiệt độ đầu ra của gas thường không được vượt quá 100°C - 120°C tùy thuộc vào môi chất lạnh.</a:t>
            </a:r>
          </a:p>
          <a:p>
            <a:pPr>
              <a:spcBef>
                <a:spcPts val="600"/>
              </a:spcBef>
              <a:buFont typeface="Arial" panose="020B0604020202020204" pitchFamily="34" charset="0"/>
              <a:buChar char="•"/>
            </a:pPr>
            <a:r>
              <a:rPr lang="en-US" b="1">
                <a:latin typeface="Calibri" panose="020F0502020204030204" pitchFamily="34" charset="0"/>
                <a:ea typeface="Calibri" panose="020F0502020204030204" pitchFamily="34" charset="0"/>
                <a:cs typeface="Calibri" panose="020F0502020204030204" pitchFamily="34" charset="0"/>
              </a:rPr>
              <a:t> </a:t>
            </a:r>
            <a:r>
              <a:rPr lang="vi-VN" b="1">
                <a:latin typeface="Calibri" panose="020F0502020204030204" pitchFamily="34" charset="0"/>
                <a:ea typeface="Calibri" panose="020F0502020204030204" pitchFamily="34" charset="0"/>
                <a:cs typeface="Calibri" panose="020F0502020204030204" pitchFamily="34" charset="0"/>
              </a:rPr>
              <a:t>Nhiệt độ vỏ và gối đỡ:</a:t>
            </a:r>
            <a:r>
              <a:rPr lang="vi-VN">
                <a:latin typeface="Calibri" panose="020F0502020204030204" pitchFamily="34" charset="0"/>
                <a:ea typeface="Calibri" panose="020F0502020204030204" pitchFamily="34" charset="0"/>
                <a:cs typeface="Calibri" panose="020F0502020204030204" pitchFamily="34" charset="0"/>
              </a:rPr>
              <a:t> Thường duy trì ở mức 70°C - 85°C. Khi nhiệt độ thân vỏ khu vực gối đỡ máy nén vượt quá 90°C, độ nhớt của dầu bôi trơn máy nén tụt giảm mạnh, dẫn đến rủi ro kẹt rơ cơ khí giữa các lobe trục vít</a:t>
            </a:r>
            <a:r>
              <a:rPr lang="vi-VN"/>
              <a:t>.</a:t>
            </a:r>
          </a:p>
        </p:txBody>
      </p:sp>
    </p:spTree>
    <p:extLst>
      <p:ext uri="{BB962C8B-B14F-4D97-AF65-F5344CB8AC3E}">
        <p14:creationId xmlns:p14="http://schemas.microsoft.com/office/powerpoint/2010/main" val="1288724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30549C59-EC91-2B85-5034-56EEEEAD898E}"/>
                  </a:ext>
                </a:extLst>
              </p:cNvPr>
              <p:cNvSpPr>
                <a:spLocks noChangeArrowheads="1"/>
              </p:cNvSpPr>
              <p:nvPr/>
            </p:nvSpPr>
            <p:spPr bwMode="auto">
              <a:xfrm>
                <a:off x="481012" y="999500"/>
                <a:ext cx="10944225" cy="372076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60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Quy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trình</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trích</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xuất</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thực</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nghiệm</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trên</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Cảm</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biến</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S1</a:t>
                </a:r>
                <a:endParaRPr kumimoji="0" lang="en-US" altLang="en-US"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ts val="60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Đọc</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phổ</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FFT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toàn</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dải</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Khi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cụm</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MYCOM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chạy</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đầy</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tải</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ổn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định</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và</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áp</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suất</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gas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xả</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đạt</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định</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mức</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hệ</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thống</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điều</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khiển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kéo</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toàn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bộ</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mảng</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dữ</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liệu</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Tần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số</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Biên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độ</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từ</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thanh</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ghi</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Modbus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của</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S1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trong</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dải</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băng</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thông</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từ</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10 Hz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đến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1000 Hz.</a:t>
                </a:r>
              </a:p>
              <a:p>
                <a:pPr marL="0" marR="0" lvl="0" indent="0" algn="l" defTabSz="914400" rtl="0" eaLnBrk="0" fontAlgn="base" latinLnBrk="0" hangingPunct="0">
                  <a:lnSpc>
                    <a:spcPct val="100000"/>
                  </a:lnSpc>
                  <a:spcBef>
                    <a:spcPts val="60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Loại</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trừ</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tần</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số</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cơ</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bản</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Bỏ</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qua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đỉnh</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49.17 Hz} (1X)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vì</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đây</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là</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tần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số</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quay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chung</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của</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cả</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hệ</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thống</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truyền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động</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0" marR="0" lvl="0" indent="0" algn="l" defTabSz="914400" rtl="0" eaLnBrk="0" fontAlgn="base" latinLnBrk="0" hangingPunct="0">
                  <a:lnSpc>
                    <a:spcPct val="100000"/>
                  </a:lnSpc>
                  <a:spcBef>
                    <a:spcPts val="60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Tìm</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đỉnh</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cực</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đại</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(Dominant Peak):</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Quét</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mảng</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dữ</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liệu</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để</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tìm</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giá</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trị</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biên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độ</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(mm/s)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cao</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nhất</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còn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lại</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Tại</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vị</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trí</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S1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đỉnh</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máy</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nén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luồng</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khí</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gas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bị</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nén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và</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xả</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liên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tục</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sẽ</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tạo</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ra</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độ</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rung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cực</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lớn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Đỉnh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có</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biên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độ</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nổi</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trội</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nhất</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này</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chính</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là</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dấu</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vân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tay</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cơ</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học</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sSub>
                      <m:sSubPr>
                        <m:ctrlPr>
                          <a:rPr kumimoji="0" lang="en-US" altLang="en-US"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Calibri" panose="020F0502020204030204" pitchFamily="34" charset="0"/>
                          </a:rPr>
                        </m:ctrlPr>
                      </m:sSubPr>
                      <m:e>
                        <m:r>
                          <a:rPr kumimoji="0" lang="en-US" altLang="en-US"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𝑓</m:t>
                        </m:r>
                      </m:e>
                      <m:sub>
                        <m:r>
                          <a:rPr kumimoji="0" lang="en-US" altLang="en-US"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𝑐𝑜𝑚𝑝</m:t>
                        </m:r>
                      </m:sub>
                    </m:sSub>
                  </m:oMath>
                </a14:m>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0" marR="0" lvl="0" indent="0" algn="l" defTabSz="914400" rtl="0" eaLnBrk="0" fontAlgn="base" latinLnBrk="0" hangingPunct="0">
                  <a:lnSpc>
                    <a:spcPct val="100000"/>
                  </a:lnSpc>
                  <a:spcBef>
                    <a:spcPts val="60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Đối</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chiếu</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hài</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bậc</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(Harmonics):</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Để</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xác</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nhận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độ</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tin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cậy</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kiểm</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tra</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thêm</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trong</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mảng</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FFT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của</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S1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xem</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có</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các</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đỉnh</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nhỏ</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hơn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nằm</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ở </a:t>
                </a:r>
                <a14:m>
                  <m:oMath xmlns:m="http://schemas.openxmlformats.org/officeDocument/2006/math">
                    <m:r>
                      <a:rPr kumimoji="0" lang="en-US" altLang="en-US"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Calibri" panose="020F0502020204030204" pitchFamily="34" charset="0"/>
                      </a:rPr>
                      <m:t>2 ×</m:t>
                    </m:r>
                    <m:sSub>
                      <m:sSubPr>
                        <m:ctrlPr>
                          <a:rPr kumimoji="0" lang="en-US" altLang="en-US"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Calibri" panose="020F0502020204030204" pitchFamily="34" charset="0"/>
                          </a:rPr>
                        </m:ctrlPr>
                      </m:sSubPr>
                      <m:e>
                        <m:r>
                          <a:rPr kumimoji="0" lang="en-US" altLang="en-US"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𝑓</m:t>
                        </m:r>
                      </m:e>
                      <m:sub>
                        <m:r>
                          <a:rPr kumimoji="0" lang="en-US" altLang="en-US"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𝑐𝑜𝑚𝑝</m:t>
                        </m:r>
                      </m:sub>
                    </m:sSub>
                  </m:oMath>
                </a14:m>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khoảng</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393 Hz)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hoặc</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kumimoji="0" lang="en-US" altLang="en-US"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Calibri" panose="020F0502020204030204" pitchFamily="34" charset="0"/>
                      </a:rPr>
                      <m:t>3 ×</m:t>
                    </m:r>
                    <m:sSub>
                      <m:sSubPr>
                        <m:ctrlPr>
                          <a:rPr kumimoji="0" lang="en-US" altLang="en-US"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Calibri" panose="020F0502020204030204" pitchFamily="34" charset="0"/>
                          </a:rPr>
                        </m:ctrlPr>
                      </m:sSubPr>
                      <m:e>
                        <m:r>
                          <a:rPr kumimoji="0" lang="en-US" altLang="en-US"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𝑓</m:t>
                        </m:r>
                      </m:e>
                      <m:sub>
                        <m:r>
                          <a:rPr kumimoji="0" lang="en-US" altLang="en-US" i="1" u="none" strike="noStrike" cap="none" normalizeH="0" baseline="0" smtClean="0">
                            <a:ln>
                              <a:noFill/>
                            </a:ln>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𝑐𝑜𝑚𝑝</m:t>
                        </m:r>
                      </m:sub>
                    </m:sSub>
                  </m:oMath>
                </a14:m>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khoảng</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590 Hz) hay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không</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Đặc</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tính</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của</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xung</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lực</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cắn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khớp</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cơ</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khí</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luôn</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kéo</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theo</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các</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bội</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số</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hài</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này</a:t>
                </a:r>
                <a:r>
                  <a:rPr kumimoji="0" lang="en-US" altLang="en-US"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Choice>
        <mc:Fallback>
          <p:sp>
            <p:nvSpPr>
              <p:cNvPr id="2" name="Rectangle 1">
                <a:extLst>
                  <a:ext uri="{FF2B5EF4-FFF2-40B4-BE49-F238E27FC236}">
                    <a16:creationId xmlns:a16="http://schemas.microsoft.com/office/drawing/2014/main" id="{30549C59-EC91-2B85-5034-56EEEEAD898E}"/>
                  </a:ext>
                </a:extLst>
              </p:cNvPr>
              <p:cNvSpPr>
                <a:spLocks noRot="1" noChangeAspect="1" noMove="1" noResize="1" noEditPoints="1" noAdjustHandles="1" noChangeArrowheads="1" noChangeShapeType="1" noTextEdit="1"/>
              </p:cNvSpPr>
              <p:nvPr/>
            </p:nvSpPr>
            <p:spPr bwMode="auto">
              <a:xfrm>
                <a:off x="481012" y="999500"/>
                <a:ext cx="10944225" cy="3720762"/>
              </a:xfrm>
              <a:prstGeom prst="rect">
                <a:avLst/>
              </a:prstGeom>
              <a:blipFill>
                <a:blip r:embed="rId2"/>
                <a:stretch>
                  <a:fillRect l="-501" t="-1639" r="-11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3" name="TextBox 2">
            <a:extLst>
              <a:ext uri="{FF2B5EF4-FFF2-40B4-BE49-F238E27FC236}">
                <a16:creationId xmlns:a16="http://schemas.microsoft.com/office/drawing/2014/main" id="{FE5A5922-C8A1-2BBC-C812-94D287485213}"/>
              </a:ext>
            </a:extLst>
          </p:cNvPr>
          <p:cNvSpPr txBox="1"/>
          <p:nvPr/>
        </p:nvSpPr>
        <p:spPr>
          <a:xfrm>
            <a:off x="638175" y="310679"/>
            <a:ext cx="6096000" cy="369332"/>
          </a:xfrm>
          <a:prstGeom prst="rect">
            <a:avLst/>
          </a:prstGeom>
          <a:noFill/>
        </p:spPr>
        <p:txBody>
          <a:bodyPr wrap="square">
            <a:spAutoFit/>
          </a:bodyPr>
          <a:lstStyle/>
          <a:p>
            <a:r>
              <a:rPr lang="en-US" sz="1800" b="1" dirty="0"/>
              <a:t>PHỤ LỤC: </a:t>
            </a:r>
            <a:r>
              <a:rPr lang="en-US" sz="1800" b="1" dirty="0" err="1"/>
              <a:t>Dùng</a:t>
            </a:r>
            <a:r>
              <a:rPr lang="en-US" sz="1800" b="1" dirty="0"/>
              <a:t> S1 </a:t>
            </a:r>
            <a:r>
              <a:rPr lang="en-US" sz="1800" b="1" dirty="0" err="1"/>
              <a:t>xác</a:t>
            </a:r>
            <a:r>
              <a:rPr lang="en-US" sz="1800" b="1" dirty="0"/>
              <a:t> </a:t>
            </a:r>
            <a:r>
              <a:rPr lang="en-US" sz="1800" b="1" dirty="0" err="1"/>
              <a:t>định</a:t>
            </a:r>
            <a:r>
              <a:rPr lang="en-US" sz="1800" b="1" dirty="0"/>
              <a:t> </a:t>
            </a:r>
            <a:r>
              <a:rPr lang="en-US" sz="1800" b="1" dirty="0" err="1"/>
              <a:t>tần</a:t>
            </a:r>
            <a:r>
              <a:rPr lang="en-US" sz="1800" b="1" dirty="0"/>
              <a:t> </a:t>
            </a:r>
            <a:r>
              <a:rPr lang="en-US" sz="1800" b="1" dirty="0" err="1"/>
              <a:t>số</a:t>
            </a:r>
            <a:r>
              <a:rPr lang="en-US" sz="1800" b="1" dirty="0"/>
              <a:t> </a:t>
            </a:r>
            <a:r>
              <a:rPr lang="en-US" sz="1800" b="1" dirty="0" err="1"/>
              <a:t>máy</a:t>
            </a:r>
            <a:r>
              <a:rPr lang="en-US" sz="1800" b="1" dirty="0"/>
              <a:t> </a:t>
            </a:r>
            <a:r>
              <a:rPr lang="en-US" sz="1800" b="1" dirty="0" err="1"/>
              <a:t>nén</a:t>
            </a:r>
            <a:endParaRPr lang="en-US" sz="1800" b="1" dirty="0"/>
          </a:p>
        </p:txBody>
      </p:sp>
    </p:spTree>
    <p:extLst>
      <p:ext uri="{BB962C8B-B14F-4D97-AF65-F5344CB8AC3E}">
        <p14:creationId xmlns:p14="http://schemas.microsoft.com/office/powerpoint/2010/main" val="2510555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ộp Văn bản 1">
            <a:extLst>
              <a:ext uri="{FF2B5EF4-FFF2-40B4-BE49-F238E27FC236}">
                <a16:creationId xmlns:a16="http://schemas.microsoft.com/office/drawing/2014/main" id="{F9C68DE5-935C-3AE4-BAEA-11EC93CAA016}"/>
              </a:ext>
            </a:extLst>
          </p:cNvPr>
          <p:cNvSpPr txBox="1"/>
          <p:nvPr/>
        </p:nvSpPr>
        <p:spPr>
          <a:xfrm>
            <a:off x="4301412" y="279918"/>
            <a:ext cx="3972562" cy="492443"/>
          </a:xfrm>
          <a:prstGeom prst="rect">
            <a:avLst/>
          </a:prstGeom>
          <a:noFill/>
        </p:spPr>
        <p:txBody>
          <a:bodyPr wrap="none" rtlCol="0">
            <a:spAutoFit/>
          </a:bodyPr>
          <a:lstStyle/>
          <a:p>
            <a:r>
              <a:rPr lang="en-US" sz="2600" dirty="0" err="1">
                <a:latin typeface="Times New Roman" panose="02020603050405020304" pitchFamily="18" charset="0"/>
                <a:cs typeface="Times New Roman" panose="02020603050405020304" pitchFamily="18" charset="0"/>
              </a:rPr>
              <a:t>Cơ</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sở</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tiêu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chuẩn</a:t>
            </a:r>
            <a:r>
              <a:rPr lang="en-US" sz="2600" dirty="0">
                <a:latin typeface="Times New Roman" panose="02020603050405020304" pitchFamily="18" charset="0"/>
                <a:cs typeface="Times New Roman" panose="02020603050405020304" pitchFamily="18" charset="0"/>
              </a:rPr>
              <a:t> ISO 20816</a:t>
            </a:r>
          </a:p>
        </p:txBody>
      </p:sp>
      <p:sp>
        <p:nvSpPr>
          <p:cNvPr id="4" name="Hộp Văn bản 3">
            <a:extLst>
              <a:ext uri="{FF2B5EF4-FFF2-40B4-BE49-F238E27FC236}">
                <a16:creationId xmlns:a16="http://schemas.microsoft.com/office/drawing/2014/main" id="{3259BCB8-ADC9-84B6-A8D5-B16D310196A3}"/>
              </a:ext>
            </a:extLst>
          </p:cNvPr>
          <p:cNvSpPr txBox="1"/>
          <p:nvPr/>
        </p:nvSpPr>
        <p:spPr>
          <a:xfrm>
            <a:off x="1073020" y="1101012"/>
            <a:ext cx="9918441" cy="923330"/>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ISO 20816 </a:t>
            </a:r>
            <a:r>
              <a:rPr lang="en-US" dirty="0" err="1">
                <a:latin typeface="Times New Roman" panose="02020603050405020304" pitchFamily="18" charset="0"/>
                <a:cs typeface="Times New Roman" panose="02020603050405020304" pitchFamily="18" charset="0"/>
              </a:rPr>
              <a:t>gồm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chuyên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biệt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điện</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nén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suất</a:t>
            </a:r>
            <a:r>
              <a:rPr lang="en-US" dirty="0">
                <a:latin typeface="Times New Roman" panose="02020603050405020304" pitchFamily="18" charset="0"/>
                <a:cs typeface="Times New Roman" panose="02020603050405020304" pitchFamily="18" charset="0"/>
              </a:rPr>
              <a:t> 450kW, </a:t>
            </a:r>
            <a:r>
              <a:rPr lang="en-US" dirty="0" err="1">
                <a:latin typeface="Times New Roman" panose="02020603050405020304" pitchFamily="18" charset="0"/>
                <a:cs typeface="Times New Roman" panose="02020603050405020304" pitchFamily="18" charset="0"/>
              </a:rPr>
              <a:t>tốc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~2950 rpm,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ISO 20816-1 (</a:t>
            </a:r>
            <a:r>
              <a:rPr lang="en-US" dirty="0" err="1">
                <a:latin typeface="Times New Roman" panose="02020603050405020304" pitchFamily="18" charset="0"/>
                <a:cs typeface="Times New Roman" panose="02020603050405020304" pitchFamily="18" charset="0"/>
              </a:rPr>
              <a:t>nguyên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tắc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ISO 20816-3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nghiệp</a:t>
            </a:r>
            <a:r>
              <a:rPr lang="en-US" dirty="0">
                <a:latin typeface="Times New Roman" panose="02020603050405020304" pitchFamily="18" charset="0"/>
                <a:cs typeface="Times New Roman" panose="02020603050405020304" pitchFamily="18" charset="0"/>
              </a:rPr>
              <a:t> quay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suất</a:t>
            </a:r>
            <a:r>
              <a:rPr lang="en-US" dirty="0">
                <a:latin typeface="Times New Roman" panose="02020603050405020304" pitchFamily="18" charset="0"/>
                <a:cs typeface="Times New Roman" panose="02020603050405020304" pitchFamily="18" charset="0"/>
              </a:rPr>
              <a:t> &gt;15kW, </a:t>
            </a:r>
            <a:r>
              <a:rPr lang="en-US" dirty="0" err="1">
                <a:latin typeface="Times New Roman" panose="02020603050405020304" pitchFamily="18" charset="0"/>
                <a:cs typeface="Times New Roman" panose="02020603050405020304" pitchFamily="18" charset="0"/>
              </a:rPr>
              <a:t>tốc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120–15.000 rpm).</a:t>
            </a:r>
          </a:p>
        </p:txBody>
      </p:sp>
      <p:sp>
        <p:nvSpPr>
          <p:cNvPr id="5" name="Hộp Văn bản 4">
            <a:extLst>
              <a:ext uri="{FF2B5EF4-FFF2-40B4-BE49-F238E27FC236}">
                <a16:creationId xmlns:a16="http://schemas.microsoft.com/office/drawing/2014/main" id="{522E2981-F969-4885-D046-2498A298E73A}"/>
              </a:ext>
            </a:extLst>
          </p:cNvPr>
          <p:cNvSpPr txBox="1"/>
          <p:nvPr/>
        </p:nvSpPr>
        <p:spPr>
          <a:xfrm>
            <a:off x="2713383" y="3130826"/>
            <a:ext cx="184731" cy="369332"/>
          </a:xfrm>
          <a:prstGeom prst="rect">
            <a:avLst/>
          </a:prstGeom>
          <a:noFill/>
        </p:spPr>
        <p:txBody>
          <a:bodyPr wrap="none" rtlCol="0">
            <a:spAutoFit/>
          </a:bodyPr>
          <a:lstStyle/>
          <a:p>
            <a:endParaRPr lang="en-US" dirty="0"/>
          </a:p>
        </p:txBody>
      </p:sp>
      <p:sp>
        <p:nvSpPr>
          <p:cNvPr id="9" name="Hộp Văn bản 8">
            <a:extLst>
              <a:ext uri="{FF2B5EF4-FFF2-40B4-BE49-F238E27FC236}">
                <a16:creationId xmlns:a16="http://schemas.microsoft.com/office/drawing/2014/main" id="{3FC747A7-D9A8-9EDB-0A84-86A73DF0B31C}"/>
              </a:ext>
            </a:extLst>
          </p:cNvPr>
          <p:cNvSpPr txBox="1"/>
          <p:nvPr/>
        </p:nvSpPr>
        <p:spPr>
          <a:xfrm>
            <a:off x="1021347" y="731680"/>
            <a:ext cx="3631122" cy="369332"/>
          </a:xfrm>
          <a:prstGeom prst="rect">
            <a:avLst/>
          </a:prstGeom>
          <a:noFill/>
        </p:spPr>
        <p:txBody>
          <a:bodyPr wrap="none" rtlCol="0">
            <a:spAutoFit/>
          </a:bodyPr>
          <a:lstStyle/>
          <a:p>
            <a:r>
              <a:rPr lang="en-US" b="1" dirty="0" err="1">
                <a:latin typeface="Times New Roman" panose="02020603050405020304" pitchFamily="18" charset="0"/>
                <a:cs typeface="Times New Roman" panose="02020603050405020304" pitchFamily="18" charset="0"/>
              </a:rPr>
              <a:t>Lựa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chọn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phần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tiêu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chuẩn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áp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dụng</a:t>
            </a:r>
            <a:endParaRPr lang="en-US" b="1" dirty="0">
              <a:latin typeface="Times New Roman" panose="02020603050405020304" pitchFamily="18" charset="0"/>
              <a:cs typeface="Times New Roman" panose="02020603050405020304" pitchFamily="18" charset="0"/>
            </a:endParaRPr>
          </a:p>
        </p:txBody>
      </p:sp>
      <p:graphicFrame>
        <p:nvGraphicFramePr>
          <p:cNvPr id="11" name="Bảng 10">
            <a:extLst>
              <a:ext uri="{FF2B5EF4-FFF2-40B4-BE49-F238E27FC236}">
                <a16:creationId xmlns:a16="http://schemas.microsoft.com/office/drawing/2014/main" id="{C95BA940-D90F-CAE3-F611-7B23F2CDB931}"/>
              </a:ext>
            </a:extLst>
          </p:cNvPr>
          <p:cNvGraphicFramePr>
            <a:graphicFrameLocks noGrp="1"/>
          </p:cNvGraphicFramePr>
          <p:nvPr>
            <p:extLst>
              <p:ext uri="{D42A27DB-BD31-4B8C-83A1-F6EECF244321}">
                <p14:modId xmlns:p14="http://schemas.microsoft.com/office/powerpoint/2010/main" val="516976357"/>
              </p:ext>
            </p:extLst>
          </p:nvPr>
        </p:nvGraphicFramePr>
        <p:xfrm>
          <a:off x="1147665" y="2136710"/>
          <a:ext cx="10058400" cy="4114800"/>
        </p:xfrm>
        <a:graphic>
          <a:graphicData uri="http://schemas.openxmlformats.org/drawingml/2006/table">
            <a:tbl>
              <a:tblPr>
                <a:tableStyleId>{5C22544A-7EE6-4342-B048-85BDC9FD1C3A}</a:tableStyleId>
              </a:tblPr>
              <a:tblGrid>
                <a:gridCol w="2458720">
                  <a:extLst>
                    <a:ext uri="{9D8B030D-6E8A-4147-A177-3AD203B41FA5}">
                      <a16:colId xmlns:a16="http://schemas.microsoft.com/office/drawing/2014/main" val="1283928889"/>
                    </a:ext>
                  </a:extLst>
                </a:gridCol>
                <a:gridCol w="4693920">
                  <a:extLst>
                    <a:ext uri="{9D8B030D-6E8A-4147-A177-3AD203B41FA5}">
                      <a16:colId xmlns:a16="http://schemas.microsoft.com/office/drawing/2014/main" val="427288958"/>
                    </a:ext>
                  </a:extLst>
                </a:gridCol>
                <a:gridCol w="2905760">
                  <a:extLst>
                    <a:ext uri="{9D8B030D-6E8A-4147-A177-3AD203B41FA5}">
                      <a16:colId xmlns:a16="http://schemas.microsoft.com/office/drawing/2014/main" val="2640770459"/>
                    </a:ext>
                  </a:extLst>
                </a:gridCol>
              </a:tblGrid>
              <a:tr h="265622">
                <a:tc>
                  <a:txBody>
                    <a:bodyPr/>
                    <a:lstStyle/>
                    <a:p>
                      <a:pPr>
                        <a:buNone/>
                      </a:pPr>
                      <a:r>
                        <a:rPr lang="en-US" sz="1800">
                          <a:effectLst/>
                          <a:latin typeface="Times New Roman" panose="02020603050405020304" pitchFamily="18" charset="0"/>
                          <a:cs typeface="Times New Roman" panose="02020603050405020304" pitchFamily="18" charset="0"/>
                        </a:rPr>
                        <a:t>Phần tiêu chuẩn</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Áp dụng cho</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Kết luận với hệ thống này</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extLst>
                  <a:ext uri="{0D108BD9-81ED-4DB2-BD59-A6C34878D82A}">
                    <a16:rowId xmlns:a16="http://schemas.microsoft.com/office/drawing/2014/main" val="76403875"/>
                  </a:ext>
                </a:extLst>
              </a:tr>
              <a:tr h="504681">
                <a:tc>
                  <a:txBody>
                    <a:bodyPr/>
                    <a:lstStyle/>
                    <a:p>
                      <a:pPr>
                        <a:buNone/>
                      </a:pPr>
                      <a:r>
                        <a:rPr lang="en-US" sz="1800">
                          <a:effectLst/>
                          <a:latin typeface="Times New Roman" panose="02020603050405020304" pitchFamily="18" charset="0"/>
                          <a:cs typeface="Times New Roman" panose="02020603050405020304" pitchFamily="18" charset="0"/>
                        </a:rPr>
                        <a:t>ISO 20816-1</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Hướng dẫn chung: nguyên tắc đo, vị trí cảm biến, phương pháp đánh giá</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Áp dụng — dùng làm khung chung</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extLst>
                  <a:ext uri="{0D108BD9-81ED-4DB2-BD59-A6C34878D82A}">
                    <a16:rowId xmlns:a16="http://schemas.microsoft.com/office/drawing/2014/main" val="434609770"/>
                  </a:ext>
                </a:extLst>
              </a:tr>
              <a:tr h="252340">
                <a:tc>
                  <a:txBody>
                    <a:bodyPr/>
                    <a:lstStyle/>
                    <a:p>
                      <a:pPr>
                        <a:buNone/>
                      </a:pPr>
                      <a:r>
                        <a:rPr lang="en-US" sz="1800">
                          <a:effectLst/>
                          <a:latin typeface="Times New Roman" panose="02020603050405020304" pitchFamily="18" charset="0"/>
                          <a:cs typeface="Times New Roman" panose="02020603050405020304" pitchFamily="18" charset="0"/>
                        </a:rPr>
                        <a:t>ISO 20816-2</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Tua-bin hơi nước, máy phát điện lớn &gt;40MW</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Không áp dụng</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extLst>
                  <a:ext uri="{0D108BD9-81ED-4DB2-BD59-A6C34878D82A}">
                    <a16:rowId xmlns:a16="http://schemas.microsoft.com/office/drawing/2014/main" val="1964289185"/>
                  </a:ext>
                </a:extLst>
              </a:tr>
              <a:tr h="504681">
                <a:tc>
                  <a:txBody>
                    <a:bodyPr/>
                    <a:lstStyle/>
                    <a:p>
                      <a:pPr>
                        <a:buNone/>
                      </a:pPr>
                      <a:r>
                        <a:rPr lang="en-US" sz="1800">
                          <a:effectLst/>
                          <a:latin typeface="Times New Roman" panose="02020603050405020304" pitchFamily="18" charset="0"/>
                          <a:cs typeface="Times New Roman" panose="02020603050405020304" pitchFamily="18" charset="0"/>
                        </a:rPr>
                        <a:t>ISO 20816-3</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Máy quay công nghiệp &gt;15kW, 120–15.000 rpm (bơm, quạt, động cơ điện, máy nén...)</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vi-VN" sz="1800" dirty="0">
                          <a:effectLst/>
                          <a:latin typeface="Times New Roman" panose="02020603050405020304" pitchFamily="18" charset="0"/>
                          <a:cs typeface="Times New Roman" panose="02020603050405020304" pitchFamily="18" charset="0"/>
                        </a:rPr>
                        <a:t>Áp dụng chính</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cho</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cả</a:t>
                      </a:r>
                      <a:r>
                        <a:rPr lang="en-US" sz="1800" dirty="0">
                          <a:effectLst/>
                          <a:latin typeface="Times New Roman" panose="02020603050405020304" pitchFamily="18" charset="0"/>
                          <a:cs typeface="Times New Roman" panose="02020603050405020304" pitchFamily="18" charset="0"/>
                        </a:rPr>
                        <a:t> Motor </a:t>
                      </a:r>
                      <a:r>
                        <a:rPr lang="en-US" sz="1800" dirty="0" err="1">
                          <a:effectLst/>
                          <a:latin typeface="Times New Roman" panose="02020603050405020304" pitchFamily="18" charset="0"/>
                          <a:cs typeface="Times New Roman" panose="02020603050405020304" pitchFamily="18" charset="0"/>
                        </a:rPr>
                        <a:t>và</a:t>
                      </a:r>
                      <a:r>
                        <a:rPr lang="en-US" sz="1800" dirty="0">
                          <a:effectLst/>
                          <a:latin typeface="Times New Roman" panose="02020603050405020304" pitchFamily="18" charset="0"/>
                          <a:cs typeface="Times New Roman" panose="02020603050405020304" pitchFamily="18" charset="0"/>
                        </a:rPr>
                        <a:t> Compressor</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extLst>
                  <a:ext uri="{0D108BD9-81ED-4DB2-BD59-A6C34878D82A}">
                    <a16:rowId xmlns:a16="http://schemas.microsoft.com/office/drawing/2014/main" val="222527613"/>
                  </a:ext>
                </a:extLst>
              </a:tr>
              <a:tr h="252340">
                <a:tc>
                  <a:txBody>
                    <a:bodyPr/>
                    <a:lstStyle/>
                    <a:p>
                      <a:pPr>
                        <a:buNone/>
                      </a:pPr>
                      <a:r>
                        <a:rPr lang="en-US" sz="1800">
                          <a:effectLst/>
                          <a:latin typeface="Times New Roman" panose="02020603050405020304" pitchFamily="18" charset="0"/>
                          <a:cs typeface="Times New Roman" panose="02020603050405020304" pitchFamily="18" charset="0"/>
                        </a:rPr>
                        <a:t>ISO 20816-4</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Tua-bin khí &gt;3MW</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Không áp dụng</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extLst>
                  <a:ext uri="{0D108BD9-81ED-4DB2-BD59-A6C34878D82A}">
                    <a16:rowId xmlns:a16="http://schemas.microsoft.com/office/drawing/2014/main" val="1748757013"/>
                  </a:ext>
                </a:extLst>
              </a:tr>
              <a:tr h="252340">
                <a:tc>
                  <a:txBody>
                    <a:bodyPr/>
                    <a:lstStyle/>
                    <a:p>
                      <a:pPr>
                        <a:buNone/>
                      </a:pPr>
                      <a:r>
                        <a:rPr lang="en-US" sz="1800">
                          <a:effectLst/>
                          <a:latin typeface="Times New Roman" panose="02020603050405020304" pitchFamily="18" charset="0"/>
                          <a:cs typeface="Times New Roman" panose="02020603050405020304" pitchFamily="18" charset="0"/>
                        </a:rPr>
                        <a:t>ISO 20816-5</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Tua-bin thủy điện</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Không áp dụng</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extLst>
                  <a:ext uri="{0D108BD9-81ED-4DB2-BD59-A6C34878D82A}">
                    <a16:rowId xmlns:a16="http://schemas.microsoft.com/office/drawing/2014/main" val="4109865054"/>
                  </a:ext>
                </a:extLst>
              </a:tr>
              <a:tr h="504681">
                <a:tc>
                  <a:txBody>
                    <a:bodyPr/>
                    <a:lstStyle/>
                    <a:p>
                      <a:pPr>
                        <a:buNone/>
                      </a:pPr>
                      <a:r>
                        <a:rPr lang="en-US" sz="1800">
                          <a:effectLst/>
                          <a:latin typeface="Times New Roman" panose="02020603050405020304" pitchFamily="18" charset="0"/>
                          <a:cs typeface="Times New Roman" panose="02020603050405020304" pitchFamily="18" charset="0"/>
                        </a:rPr>
                        <a:t>ISO 20816-6/8</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dirty="0" err="1">
                          <a:effectLst/>
                          <a:latin typeface="Times New Roman" panose="02020603050405020304" pitchFamily="18" charset="0"/>
                          <a:cs typeface="Times New Roman" panose="02020603050405020304" pitchFamily="18" charset="0"/>
                        </a:rPr>
                        <a:t>Máy</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chuyển</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động</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tịnh</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tiến</a:t>
                      </a:r>
                      <a:r>
                        <a:rPr lang="en-US" sz="1800" dirty="0">
                          <a:effectLst/>
                          <a:latin typeface="Times New Roman" panose="02020603050405020304" pitchFamily="18" charset="0"/>
                          <a:cs typeface="Times New Roman" panose="02020603050405020304" pitchFamily="18" charset="0"/>
                        </a:rPr>
                        <a:t> (piston)</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dirty="0" err="1">
                          <a:effectLst/>
                          <a:latin typeface="Times New Roman" panose="02020603050405020304" pitchFamily="18" charset="0"/>
                          <a:cs typeface="Times New Roman" panose="02020603050405020304" pitchFamily="18" charset="0"/>
                        </a:rPr>
                        <a:t>Không</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áp</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dụng</a:t>
                      </a:r>
                      <a:r>
                        <a:rPr lang="en-US" sz="1800" dirty="0">
                          <a:effectLst/>
                          <a:latin typeface="Times New Roman" panose="02020603050405020304" pitchFamily="18" charset="0"/>
                          <a:cs typeface="Times New Roman" panose="02020603050405020304" pitchFamily="18" charset="0"/>
                        </a:rPr>
                        <a:t> — </a:t>
                      </a:r>
                      <a:r>
                        <a:rPr lang="vi-VN" sz="1800" dirty="0" err="1">
                          <a:effectLst/>
                          <a:latin typeface="Times New Roman" panose="02020603050405020304" pitchFamily="18" charset="0"/>
                          <a:cs typeface="Times New Roman" panose="02020603050405020304" pitchFamily="18" charset="0"/>
                        </a:rPr>
                        <a:t>Mycom</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là</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trục</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vít</a:t>
                      </a:r>
                      <a:r>
                        <a:rPr lang="en-US" sz="1800" dirty="0">
                          <a:effectLst/>
                          <a:latin typeface="Times New Roman" panose="02020603050405020304" pitchFamily="18" charset="0"/>
                          <a:cs typeface="Times New Roman" panose="02020603050405020304" pitchFamily="18" charset="0"/>
                        </a:rPr>
                        <a:t> (rotary), </a:t>
                      </a:r>
                      <a:r>
                        <a:rPr lang="en-US" sz="1800" dirty="0" err="1">
                          <a:effectLst/>
                          <a:latin typeface="Times New Roman" panose="02020603050405020304" pitchFamily="18" charset="0"/>
                          <a:cs typeface="Times New Roman" panose="02020603050405020304" pitchFamily="18" charset="0"/>
                        </a:rPr>
                        <a:t>không</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phải</a:t>
                      </a:r>
                      <a:r>
                        <a:rPr lang="en-US" sz="1800" dirty="0">
                          <a:effectLst/>
                          <a:latin typeface="Times New Roman" panose="02020603050405020304" pitchFamily="18" charset="0"/>
                          <a:cs typeface="Times New Roman" panose="02020603050405020304" pitchFamily="18" charset="0"/>
                        </a:rPr>
                        <a:t> piston</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extLst>
                  <a:ext uri="{0D108BD9-81ED-4DB2-BD59-A6C34878D82A}">
                    <a16:rowId xmlns:a16="http://schemas.microsoft.com/office/drawing/2014/main" val="435813371"/>
                  </a:ext>
                </a:extLst>
              </a:tr>
              <a:tr h="252340">
                <a:tc>
                  <a:txBody>
                    <a:bodyPr/>
                    <a:lstStyle/>
                    <a:p>
                      <a:pPr>
                        <a:buNone/>
                      </a:pPr>
                      <a:r>
                        <a:rPr lang="en-US" sz="1800">
                          <a:effectLst/>
                          <a:latin typeface="Times New Roman" panose="02020603050405020304" pitchFamily="18" charset="0"/>
                          <a:cs typeface="Times New Roman" panose="02020603050405020304" pitchFamily="18" charset="0"/>
                        </a:rPr>
                        <a:t>ISO 20816-7</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Bơm ly tâm công nghiệp</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Không áp dụng</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extLst>
                  <a:ext uri="{0D108BD9-81ED-4DB2-BD59-A6C34878D82A}">
                    <a16:rowId xmlns:a16="http://schemas.microsoft.com/office/drawing/2014/main" val="1896375416"/>
                  </a:ext>
                </a:extLst>
              </a:tr>
              <a:tr h="504681">
                <a:tc>
                  <a:txBody>
                    <a:bodyPr/>
                    <a:lstStyle/>
                    <a:p>
                      <a:pPr>
                        <a:buNone/>
                      </a:pPr>
                      <a:r>
                        <a:rPr lang="en-US" sz="1800">
                          <a:effectLst/>
                          <a:latin typeface="Times New Roman" panose="02020603050405020304" pitchFamily="18" charset="0"/>
                          <a:cs typeface="Times New Roman" panose="02020603050405020304" pitchFamily="18" charset="0"/>
                        </a:rPr>
                        <a:t>ISO 20816-9</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Hộp số công nghiệp</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dirty="0" err="1">
                          <a:effectLst/>
                          <a:latin typeface="Times New Roman" panose="02020603050405020304" pitchFamily="18" charset="0"/>
                          <a:cs typeface="Times New Roman" panose="02020603050405020304" pitchFamily="18" charset="0"/>
                        </a:rPr>
                        <a:t>Không</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áp</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dụng</a:t>
                      </a:r>
                      <a:r>
                        <a:rPr lang="en-US" sz="1800" dirty="0">
                          <a:effectLst/>
                          <a:latin typeface="Times New Roman" panose="02020603050405020304" pitchFamily="18" charset="0"/>
                          <a:cs typeface="Times New Roman" panose="02020603050405020304" pitchFamily="18" charset="0"/>
                        </a:rPr>
                        <a:t> — </a:t>
                      </a:r>
                      <a:r>
                        <a:rPr lang="en-US" sz="1800" dirty="0" err="1">
                          <a:effectLst/>
                          <a:latin typeface="Times New Roman" panose="02020603050405020304" pitchFamily="18" charset="0"/>
                          <a:cs typeface="Times New Roman" panose="02020603050405020304" pitchFamily="18" charset="0"/>
                        </a:rPr>
                        <a:t>nối</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trực</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tiếp</a:t>
                      </a:r>
                      <a:r>
                        <a:rPr lang="en-US" sz="1800" dirty="0">
                          <a:effectLst/>
                          <a:latin typeface="Times New Roman" panose="02020603050405020304" pitchFamily="18" charset="0"/>
                          <a:cs typeface="Times New Roman" panose="02020603050405020304" pitchFamily="18" charset="0"/>
                        </a:rPr>
                        <a:t> qua </a:t>
                      </a:r>
                      <a:r>
                        <a:rPr lang="en-US" sz="1800" dirty="0" err="1">
                          <a:effectLst/>
                          <a:latin typeface="Times New Roman" panose="02020603050405020304" pitchFamily="18" charset="0"/>
                          <a:cs typeface="Times New Roman" panose="02020603050405020304" pitchFamily="18" charset="0"/>
                        </a:rPr>
                        <a:t>khớp</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nối</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không</a:t>
                      </a:r>
                      <a:r>
                        <a:rPr lang="en-US" sz="1800" dirty="0">
                          <a:effectLst/>
                          <a:latin typeface="Times New Roman" panose="02020603050405020304" pitchFamily="18" charset="0"/>
                          <a:cs typeface="Times New Roman" panose="02020603050405020304" pitchFamily="18" charset="0"/>
                        </a:rPr>
                        <a:t> qua </a:t>
                      </a:r>
                      <a:r>
                        <a:rPr lang="en-US" sz="1800" dirty="0" err="1">
                          <a:effectLst/>
                          <a:latin typeface="Times New Roman" panose="02020603050405020304" pitchFamily="18" charset="0"/>
                          <a:cs typeface="Times New Roman" panose="02020603050405020304" pitchFamily="18" charset="0"/>
                        </a:rPr>
                        <a:t>hộp</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số</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extLst>
                  <a:ext uri="{0D108BD9-81ED-4DB2-BD59-A6C34878D82A}">
                    <a16:rowId xmlns:a16="http://schemas.microsoft.com/office/drawing/2014/main" val="1183164084"/>
                  </a:ext>
                </a:extLst>
              </a:tr>
            </a:tbl>
          </a:graphicData>
        </a:graphic>
      </p:graphicFrame>
    </p:spTree>
    <p:extLst>
      <p:ext uri="{BB962C8B-B14F-4D97-AF65-F5344CB8AC3E}">
        <p14:creationId xmlns:p14="http://schemas.microsoft.com/office/powerpoint/2010/main" val="2049100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D8BC0-87E2-1EA6-BECA-1359A2BB0F26}"/>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C6FDE774-DBDE-72A9-0026-B79DC9AE3F9D}"/>
              </a:ext>
            </a:extLst>
          </p:cNvPr>
          <p:cNvSpPr txBox="1"/>
          <p:nvPr/>
        </p:nvSpPr>
        <p:spPr>
          <a:xfrm>
            <a:off x="4301412" y="279918"/>
            <a:ext cx="3972562" cy="492443"/>
          </a:xfrm>
          <a:prstGeom prst="rect">
            <a:avLst/>
          </a:prstGeom>
          <a:noFill/>
        </p:spPr>
        <p:txBody>
          <a:bodyPr wrap="none" rtlCol="0">
            <a:spAutoFit/>
          </a:bodyPr>
          <a:lstStyle/>
          <a:p>
            <a:r>
              <a:rPr lang="en-US" sz="2600" dirty="0" err="1">
                <a:latin typeface="Times New Roman" panose="02020603050405020304" pitchFamily="18" charset="0"/>
                <a:cs typeface="Times New Roman" panose="02020603050405020304" pitchFamily="18" charset="0"/>
              </a:rPr>
              <a:t>Cơ</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sở</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tiêu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chuẩn</a:t>
            </a:r>
            <a:r>
              <a:rPr lang="en-US" sz="2600" dirty="0">
                <a:latin typeface="Times New Roman" panose="02020603050405020304" pitchFamily="18" charset="0"/>
                <a:cs typeface="Times New Roman" panose="02020603050405020304" pitchFamily="18" charset="0"/>
              </a:rPr>
              <a:t> ISO 20816</a:t>
            </a:r>
          </a:p>
        </p:txBody>
      </p:sp>
      <p:sp>
        <p:nvSpPr>
          <p:cNvPr id="4" name="Hộp Văn bản 3">
            <a:extLst>
              <a:ext uri="{FF2B5EF4-FFF2-40B4-BE49-F238E27FC236}">
                <a16:creationId xmlns:a16="http://schemas.microsoft.com/office/drawing/2014/main" id="{C19A76AD-0E0E-67FC-7622-A1EAD9F189D2}"/>
              </a:ext>
            </a:extLst>
          </p:cNvPr>
          <p:cNvSpPr txBox="1"/>
          <p:nvPr/>
        </p:nvSpPr>
        <p:spPr>
          <a:xfrm>
            <a:off x="1073020" y="1101012"/>
            <a:ext cx="9918441" cy="646331"/>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450kW (&gt;300kW) </a:t>
            </a:r>
            <a:r>
              <a:rPr lang="en-US" dirty="0" err="1">
                <a:latin typeface="Times New Roman" panose="02020603050405020304" pitchFamily="18" charset="0"/>
                <a:cs typeface="Times New Roman" panose="02020603050405020304" pitchFamily="18" charset="0"/>
              </a:rPr>
              <a:t>lắp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skid </a:t>
            </a:r>
            <a:r>
              <a:rPr lang="en-US" dirty="0" err="1">
                <a:latin typeface="Times New Roman" panose="02020603050405020304" pitchFamily="18" charset="0"/>
                <a:cs typeface="Times New Roman" panose="02020603050405020304" pitchFamily="18" charset="0"/>
              </a:rPr>
              <a:t>thép</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cần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cứng</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mềm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tỷ</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quay (</a:t>
            </a:r>
            <a:r>
              <a:rPr lang="en-US" dirty="0" err="1">
                <a:latin typeface="Times New Roman" panose="02020603050405020304" pitchFamily="18" charset="0"/>
                <a:cs typeface="Times New Roman" panose="02020603050405020304" pitchFamily="18" charset="0"/>
              </a:rPr>
              <a:t>fn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frot</a:t>
            </a:r>
            <a:r>
              <a:rPr lang="en-US" dirty="0">
                <a:latin typeface="Times New Roman" panose="02020603050405020304" pitchFamily="18" charset="0"/>
                <a:cs typeface="Times New Roman" panose="02020603050405020304" pitchFamily="18" charset="0"/>
              </a:rPr>
              <a:t> ≥ 1.25 → rigid). </a:t>
            </a:r>
            <a:r>
              <a:rPr lang="en-US" dirty="0" err="1">
                <a:latin typeface="Times New Roman" panose="02020603050405020304" pitchFamily="18" charset="0"/>
                <a:cs typeface="Times New Roman" panose="02020603050405020304" pitchFamily="18" charset="0"/>
              </a:rPr>
              <a:t>Giả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nhóm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lớn</a:t>
            </a:r>
            <a:r>
              <a:rPr lang="en-US" dirty="0">
                <a:latin typeface="Times New Roman" panose="02020603050405020304" pitchFamily="18" charset="0"/>
                <a:cs typeface="Times New Roman" panose="02020603050405020304" pitchFamily="18" charset="0"/>
              </a:rPr>
              <a:t>:</a:t>
            </a:r>
          </a:p>
        </p:txBody>
      </p:sp>
      <p:sp>
        <p:nvSpPr>
          <p:cNvPr id="5" name="Hộp Văn bản 4">
            <a:extLst>
              <a:ext uri="{FF2B5EF4-FFF2-40B4-BE49-F238E27FC236}">
                <a16:creationId xmlns:a16="http://schemas.microsoft.com/office/drawing/2014/main" id="{1446C366-27EA-06A5-661E-D575BBFA7648}"/>
              </a:ext>
            </a:extLst>
          </p:cNvPr>
          <p:cNvSpPr txBox="1"/>
          <p:nvPr/>
        </p:nvSpPr>
        <p:spPr>
          <a:xfrm>
            <a:off x="2713383" y="3130826"/>
            <a:ext cx="184731" cy="369332"/>
          </a:xfrm>
          <a:prstGeom prst="rect">
            <a:avLst/>
          </a:prstGeom>
          <a:noFill/>
        </p:spPr>
        <p:txBody>
          <a:bodyPr wrap="none" rtlCol="0">
            <a:spAutoFit/>
          </a:bodyPr>
          <a:lstStyle/>
          <a:p>
            <a:endParaRPr lang="en-US" dirty="0"/>
          </a:p>
        </p:txBody>
      </p:sp>
      <p:sp>
        <p:nvSpPr>
          <p:cNvPr id="9" name="Hộp Văn bản 8">
            <a:extLst>
              <a:ext uri="{FF2B5EF4-FFF2-40B4-BE49-F238E27FC236}">
                <a16:creationId xmlns:a16="http://schemas.microsoft.com/office/drawing/2014/main" id="{1628A94E-6F59-463A-6BD0-F778F1D9640A}"/>
              </a:ext>
            </a:extLst>
          </p:cNvPr>
          <p:cNvSpPr txBox="1"/>
          <p:nvPr/>
        </p:nvSpPr>
        <p:spPr>
          <a:xfrm>
            <a:off x="1021347" y="731680"/>
            <a:ext cx="2989921" cy="369332"/>
          </a:xfrm>
          <a:prstGeom prst="rect">
            <a:avLst/>
          </a:prstGeom>
          <a:noFill/>
        </p:spPr>
        <p:txBody>
          <a:bodyPr wrap="none" rtlCol="0">
            <a:spAutoFit/>
          </a:bodyPr>
          <a:lstStyle/>
          <a:p>
            <a:r>
              <a:rPr lang="en-US" b="1" dirty="0" err="1">
                <a:latin typeface="Times New Roman" panose="02020603050405020304" pitchFamily="18" charset="0"/>
                <a:cs typeface="Times New Roman" panose="02020603050405020304" pitchFamily="18" charset="0"/>
              </a:rPr>
              <a:t>Ngưỡng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đánh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giá</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theo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nhóm</a:t>
            </a:r>
            <a:endParaRPr lang="en-US" b="1" dirty="0">
              <a:latin typeface="Times New Roman" panose="02020603050405020304" pitchFamily="18" charset="0"/>
              <a:cs typeface="Times New Roman" panose="02020603050405020304" pitchFamily="18" charset="0"/>
            </a:endParaRPr>
          </a:p>
        </p:txBody>
      </p:sp>
      <p:graphicFrame>
        <p:nvGraphicFramePr>
          <p:cNvPr id="3" name="Bảng 2">
            <a:extLst>
              <a:ext uri="{FF2B5EF4-FFF2-40B4-BE49-F238E27FC236}">
                <a16:creationId xmlns:a16="http://schemas.microsoft.com/office/drawing/2014/main" id="{0279ECD8-6621-A043-A780-462E7FCB1789}"/>
              </a:ext>
            </a:extLst>
          </p:cNvPr>
          <p:cNvGraphicFramePr>
            <a:graphicFrameLocks noGrp="1"/>
          </p:cNvGraphicFramePr>
          <p:nvPr>
            <p:extLst>
              <p:ext uri="{D42A27DB-BD31-4B8C-83A1-F6EECF244321}">
                <p14:modId xmlns:p14="http://schemas.microsoft.com/office/powerpoint/2010/main" val="2462440754"/>
              </p:ext>
            </p:extLst>
          </p:nvPr>
        </p:nvGraphicFramePr>
        <p:xfrm>
          <a:off x="1324948" y="1856792"/>
          <a:ext cx="8686800" cy="2361376"/>
        </p:xfrm>
        <a:graphic>
          <a:graphicData uri="http://schemas.openxmlformats.org/drawingml/2006/table">
            <a:tbl>
              <a:tblPr>
                <a:tableStyleId>{5C22544A-7EE6-4342-B048-85BDC9FD1C3A}</a:tableStyleId>
              </a:tblPr>
              <a:tblGrid>
                <a:gridCol w="2895600">
                  <a:extLst>
                    <a:ext uri="{9D8B030D-6E8A-4147-A177-3AD203B41FA5}">
                      <a16:colId xmlns:a16="http://schemas.microsoft.com/office/drawing/2014/main" val="2586043013"/>
                    </a:ext>
                  </a:extLst>
                </a:gridCol>
                <a:gridCol w="2895600">
                  <a:extLst>
                    <a:ext uri="{9D8B030D-6E8A-4147-A177-3AD203B41FA5}">
                      <a16:colId xmlns:a16="http://schemas.microsoft.com/office/drawing/2014/main" val="199002444"/>
                    </a:ext>
                  </a:extLst>
                </a:gridCol>
                <a:gridCol w="2895600">
                  <a:extLst>
                    <a:ext uri="{9D8B030D-6E8A-4147-A177-3AD203B41FA5}">
                      <a16:colId xmlns:a16="http://schemas.microsoft.com/office/drawing/2014/main" val="1227968287"/>
                    </a:ext>
                  </a:extLst>
                </a:gridCol>
              </a:tblGrid>
              <a:tr h="332656">
                <a:tc>
                  <a:txBody>
                    <a:bodyPr/>
                    <a:lstStyle/>
                    <a:p>
                      <a:pPr>
                        <a:buNone/>
                      </a:pPr>
                      <a:r>
                        <a:rPr lang="en-US" sz="1800">
                          <a:effectLst/>
                          <a:latin typeface="Times New Roman" panose="02020603050405020304" pitchFamily="18" charset="0"/>
                          <a:cs typeface="Times New Roman" panose="02020603050405020304" pitchFamily="18" charset="0"/>
                        </a:rPr>
                        <a:t>Vùng (Zone)</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Ý nghĩa</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Ngưỡng RMS (mm/s) — giả định</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extLst>
                  <a:ext uri="{0D108BD9-81ED-4DB2-BD59-A6C34878D82A}">
                    <a16:rowId xmlns:a16="http://schemas.microsoft.com/office/drawing/2014/main" val="1108343378"/>
                  </a:ext>
                </a:extLst>
              </a:tr>
              <a:tr h="316024">
                <a:tc>
                  <a:txBody>
                    <a:bodyPr/>
                    <a:lstStyle/>
                    <a:p>
                      <a:pPr>
                        <a:buNone/>
                      </a:pPr>
                      <a:r>
                        <a:rPr lang="en-US" sz="1800">
                          <a:effectLst/>
                          <a:latin typeface="Times New Roman" panose="02020603050405020304" pitchFamily="18" charset="0"/>
                          <a:cs typeface="Times New Roman" panose="02020603050405020304" pitchFamily="18" charset="0"/>
                        </a:rPr>
                        <a:t>A</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Máy mới / tình trạng tốt</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 2.3</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extLst>
                  <a:ext uri="{0D108BD9-81ED-4DB2-BD59-A6C34878D82A}">
                    <a16:rowId xmlns:a16="http://schemas.microsoft.com/office/drawing/2014/main" val="3647179962"/>
                  </a:ext>
                </a:extLst>
              </a:tr>
              <a:tr h="316024">
                <a:tc>
                  <a:txBody>
                    <a:bodyPr/>
                    <a:lstStyle/>
                    <a:p>
                      <a:pPr>
                        <a:buNone/>
                      </a:pPr>
                      <a:r>
                        <a:rPr lang="en-US" sz="1800" dirty="0">
                          <a:effectLst/>
                          <a:latin typeface="Times New Roman" panose="02020603050405020304" pitchFamily="18" charset="0"/>
                          <a:cs typeface="Times New Roman" panose="02020603050405020304" pitchFamily="18" charset="0"/>
                        </a:rPr>
                        <a:t>B</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Chấp nhận được lâu dài</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2.3 – 4.5</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extLst>
                  <a:ext uri="{0D108BD9-81ED-4DB2-BD59-A6C34878D82A}">
                    <a16:rowId xmlns:a16="http://schemas.microsoft.com/office/drawing/2014/main" val="2332020170"/>
                  </a:ext>
                </a:extLst>
              </a:tr>
              <a:tr h="632048">
                <a:tc>
                  <a:txBody>
                    <a:bodyPr/>
                    <a:lstStyle/>
                    <a:p>
                      <a:pPr>
                        <a:buNone/>
                      </a:pPr>
                      <a:r>
                        <a:rPr lang="en-US" sz="1800" dirty="0">
                          <a:effectLst/>
                          <a:latin typeface="Times New Roman" panose="02020603050405020304" pitchFamily="18" charset="0"/>
                          <a:cs typeface="Times New Roman" panose="02020603050405020304" pitchFamily="18" charset="0"/>
                        </a:rPr>
                        <a:t>C</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Không phù hợp vận hành liên tục lâu dài, cần điều tra</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4.5 – 7.1</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extLst>
                  <a:ext uri="{0D108BD9-81ED-4DB2-BD59-A6C34878D82A}">
                    <a16:rowId xmlns:a16="http://schemas.microsoft.com/office/drawing/2014/main" val="1199606589"/>
                  </a:ext>
                </a:extLst>
              </a:tr>
              <a:tr h="316024">
                <a:tc>
                  <a:txBody>
                    <a:bodyPr/>
                    <a:lstStyle/>
                    <a:p>
                      <a:pPr>
                        <a:buNone/>
                      </a:pPr>
                      <a:r>
                        <a:rPr lang="en-US" sz="1800">
                          <a:effectLst/>
                          <a:latin typeface="Times New Roman" panose="02020603050405020304" pitchFamily="18" charset="0"/>
                          <a:cs typeface="Times New Roman" panose="02020603050405020304" pitchFamily="18" charset="0"/>
                        </a:rPr>
                        <a:t>D</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a:effectLst/>
                          <a:latin typeface="Times New Roman" panose="02020603050405020304" pitchFamily="18" charset="0"/>
                          <a:cs typeface="Times New Roman" panose="02020603050405020304" pitchFamily="18" charset="0"/>
                        </a:rPr>
                        <a:t>Vùng hư hỏng — dừng máy khẩn cấp</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tc>
                  <a:txBody>
                    <a:bodyPr/>
                    <a:lstStyle/>
                    <a:p>
                      <a:pPr>
                        <a:buNone/>
                      </a:pPr>
                      <a:r>
                        <a:rPr lang="en-US" sz="1800" dirty="0">
                          <a:effectLst/>
                          <a:latin typeface="Times New Roman" panose="02020603050405020304" pitchFamily="18" charset="0"/>
                          <a:cs typeface="Times New Roman" panose="02020603050405020304" pitchFamily="18" charset="0"/>
                        </a:rPr>
                        <a:t>&gt; 7.1</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tc>
                <a:extLst>
                  <a:ext uri="{0D108BD9-81ED-4DB2-BD59-A6C34878D82A}">
                    <a16:rowId xmlns:a16="http://schemas.microsoft.com/office/drawing/2014/main" val="1985951277"/>
                  </a:ext>
                </a:extLst>
              </a:tr>
            </a:tbl>
          </a:graphicData>
        </a:graphic>
      </p:graphicFrame>
    </p:spTree>
    <p:extLst>
      <p:ext uri="{BB962C8B-B14F-4D97-AF65-F5344CB8AC3E}">
        <p14:creationId xmlns:p14="http://schemas.microsoft.com/office/powerpoint/2010/main" val="246020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A15DD-67D7-AE90-0D90-AA2C49C54AFC}"/>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DDCCC300-F197-AD43-29CC-DBDD173C686B}"/>
              </a:ext>
            </a:extLst>
          </p:cNvPr>
          <p:cNvSpPr txBox="1"/>
          <p:nvPr/>
        </p:nvSpPr>
        <p:spPr>
          <a:xfrm>
            <a:off x="4301412" y="279918"/>
            <a:ext cx="3972562" cy="492443"/>
          </a:xfrm>
          <a:prstGeom prst="rect">
            <a:avLst/>
          </a:prstGeom>
          <a:noFill/>
        </p:spPr>
        <p:txBody>
          <a:bodyPr wrap="none" rtlCol="0">
            <a:spAutoFit/>
          </a:bodyPr>
          <a:lstStyle/>
          <a:p>
            <a:r>
              <a:rPr lang="en-US" sz="2600" dirty="0" err="1">
                <a:latin typeface="Times New Roman" panose="02020603050405020304" pitchFamily="18" charset="0"/>
                <a:cs typeface="Times New Roman" panose="02020603050405020304" pitchFamily="18" charset="0"/>
              </a:rPr>
              <a:t>Cơ</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sở</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tiêu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chuẩn</a:t>
            </a:r>
            <a:r>
              <a:rPr lang="en-US" sz="2600" dirty="0">
                <a:latin typeface="Times New Roman" panose="02020603050405020304" pitchFamily="18" charset="0"/>
                <a:cs typeface="Times New Roman" panose="02020603050405020304" pitchFamily="18" charset="0"/>
              </a:rPr>
              <a:t> ISO 20816</a:t>
            </a:r>
          </a:p>
        </p:txBody>
      </p:sp>
      <p:sp>
        <p:nvSpPr>
          <p:cNvPr id="4" name="Hộp Văn bản 3">
            <a:extLst>
              <a:ext uri="{FF2B5EF4-FFF2-40B4-BE49-F238E27FC236}">
                <a16:creationId xmlns:a16="http://schemas.microsoft.com/office/drawing/2014/main" id="{6307C2A6-144C-3124-CEC7-FCDD6EE3D0F0}"/>
              </a:ext>
            </a:extLst>
          </p:cNvPr>
          <p:cNvSpPr txBox="1"/>
          <p:nvPr/>
        </p:nvSpPr>
        <p:spPr>
          <a:xfrm>
            <a:off x="1073020" y="1101012"/>
            <a:ext cx="9918441" cy="2031325"/>
          </a:xfrm>
          <a:prstGeom prst="rect">
            <a:avLst/>
          </a:prstGeom>
          <a:noFill/>
        </p:spPr>
        <p:txBody>
          <a:bodyPr wrap="square" rtlCol="0">
            <a:spAutoFit/>
          </a:bodyPr>
          <a:lstStyle/>
          <a:p>
            <a:pPr lvl="0"/>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trị</a:t>
            </a:r>
            <a:r>
              <a:rPr lang="en-US" dirty="0">
                <a:latin typeface="Times New Roman" panose="02020603050405020304" pitchFamily="18" charset="0"/>
                <a:cs typeface="Times New Roman" panose="02020603050405020304" pitchFamily="18" charset="0"/>
              </a:rPr>
              <a:t> RMS </a:t>
            </a:r>
            <a:r>
              <a:rPr lang="en-US" dirty="0" err="1">
                <a:latin typeface="Times New Roman" panose="02020603050405020304" pitchFamily="18" charset="0"/>
                <a:cs typeface="Times New Roman" panose="02020603050405020304" pitchFamily="18" charset="0"/>
              </a:rPr>
              <a:t>vận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tốc</a:t>
            </a:r>
            <a:r>
              <a:rPr lang="en-US" dirty="0">
                <a:latin typeface="Times New Roman" panose="02020603050405020304" pitchFamily="18" charset="0"/>
                <a:cs typeface="Times New Roman" panose="02020603050405020304" pitchFamily="18" charset="0"/>
              </a:rPr>
              <a:t> rung, KHÔNG </a:t>
            </a:r>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trị</a:t>
            </a:r>
            <a:r>
              <a:rPr lang="en-US" dirty="0">
                <a:latin typeface="Times New Roman" panose="02020603050405020304" pitchFamily="18" charset="0"/>
                <a:cs typeface="Times New Roman" panose="02020603050405020304" pitchFamily="18" charset="0"/>
              </a:rPr>
              <a:t> Peak </a:t>
            </a:r>
            <a:r>
              <a:rPr lang="en-US" dirty="0" err="1">
                <a:latin typeface="Times New Roman" panose="02020603050405020304" pitchFamily="18" charset="0"/>
                <a:cs typeface="Times New Roman" panose="02020603050405020304" pitchFamily="18" charset="0"/>
              </a:rPr>
              <a:t>trực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tiếp</a:t>
            </a:r>
            <a:r>
              <a:rPr lang="en-US" dirty="0">
                <a:latin typeface="Times New Roman" panose="02020603050405020304" pitchFamily="18" charset="0"/>
                <a:cs typeface="Times New Roman" panose="02020603050405020304" pitchFamily="18" charset="0"/>
              </a:rPr>
              <a:t> (Peak ≈ 1.414 × RMS, </a:t>
            </a:r>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sẽ</a:t>
            </a:r>
            <a:r>
              <a:rPr lang="en-US" dirty="0">
                <a:latin typeface="Times New Roman" panose="02020603050405020304" pitchFamily="18" charset="0"/>
                <a:cs typeface="Times New Roman" panose="02020603050405020304" pitchFamily="18" charset="0"/>
              </a:rPr>
              <a:t> overestimate </a:t>
            </a:r>
            <a:r>
              <a:rPr lang="en-US" dirty="0" err="1">
                <a:latin typeface="Times New Roman" panose="02020603050405020304" pitchFamily="18" charset="0"/>
                <a:cs typeface="Times New Roman" panose="02020603050405020304" pitchFamily="18" charset="0"/>
              </a:rPr>
              <a:t>mức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nghiêm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trọng</a:t>
            </a:r>
            <a:r>
              <a:rPr lang="en-US" dirty="0">
                <a:latin typeface="Times New Roman" panose="02020603050405020304" pitchFamily="18" charset="0"/>
                <a:cs typeface="Times New Roman" panose="02020603050405020304" pitchFamily="18" charset="0"/>
              </a:rPr>
              <a:t>).</a:t>
            </a:r>
          </a:p>
          <a:p>
            <a:pPr lvl="0"/>
            <a:r>
              <a:rPr lang="en-US" dirty="0" err="1">
                <a:latin typeface="Times New Roman" panose="02020603050405020304" pitchFamily="18" charset="0"/>
                <a:cs typeface="Times New Roman" panose="02020603050405020304" pitchFamily="18" charset="0"/>
              </a:rPr>
              <a:t>Dải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chuẩn</a:t>
            </a:r>
            <a:r>
              <a:rPr lang="en-US" dirty="0">
                <a:latin typeface="Times New Roman" panose="02020603050405020304" pitchFamily="18" charset="0"/>
                <a:cs typeface="Times New Roman" panose="02020603050405020304" pitchFamily="18" charset="0"/>
              </a:rPr>
              <a:t>: 10 Hz – 1000 Hz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quát</a:t>
            </a:r>
            <a:r>
              <a:rPr lang="en-US" dirty="0">
                <a:latin typeface="Times New Roman" panose="02020603050405020304" pitchFamily="18" charset="0"/>
                <a:cs typeface="Times New Roman" panose="02020603050405020304" pitchFamily="18" charset="0"/>
              </a:rPr>
              <a:t> broadband.</a:t>
            </a:r>
          </a:p>
          <a:p>
            <a:pPr lvl="0"/>
            <a:r>
              <a:rPr lang="en-US" dirty="0">
                <a:latin typeface="Times New Roman" panose="02020603050405020304" pitchFamily="18" charset="0"/>
                <a:cs typeface="Times New Roman" panose="02020603050405020304" pitchFamily="18" charset="0"/>
              </a:rPr>
              <a:t>Criterion I: so </a:t>
            </a:r>
            <a:r>
              <a:rPr lang="en-US" dirty="0" err="1">
                <a:latin typeface="Times New Roman" panose="02020603050405020304" pitchFamily="18" charset="0"/>
                <a:cs typeface="Times New Roman" panose="02020603050405020304" pitchFamily="18" charset="0"/>
              </a:rPr>
              <a:t>sánh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tuyệt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đối</a:t>
            </a:r>
            <a:r>
              <a:rPr lang="en-US" dirty="0">
                <a:latin typeface="Times New Roman" panose="02020603050405020304" pitchFamily="18" charset="0"/>
                <a:cs typeface="Times New Roman" panose="02020603050405020304" pitchFamily="18" charset="0"/>
              </a:rPr>
              <a:t> RMS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4 </a:t>
            </a:r>
            <a:r>
              <a:rPr lang="en-US" dirty="0" err="1">
                <a:latin typeface="Times New Roman" panose="02020603050405020304" pitchFamily="18" charset="0"/>
                <a:cs typeface="Times New Roman" panose="02020603050405020304" pitchFamily="18" charset="0"/>
              </a:rPr>
              <a:t>vùng</a:t>
            </a:r>
            <a:r>
              <a:rPr lang="en-US" dirty="0">
                <a:latin typeface="Times New Roman" panose="02020603050405020304" pitchFamily="18" charset="0"/>
                <a:cs typeface="Times New Roman" panose="02020603050405020304" pitchFamily="18" charset="0"/>
              </a:rPr>
              <a:t> A/B/C/D.</a:t>
            </a:r>
          </a:p>
          <a:p>
            <a:pPr lvl="0"/>
            <a:r>
              <a:rPr lang="en-US" dirty="0">
                <a:latin typeface="Times New Roman" panose="02020603050405020304" pitchFamily="18" charset="0"/>
                <a:cs typeface="Times New Roman" panose="02020603050405020304" pitchFamily="18" charset="0"/>
              </a:rPr>
              <a:t>Criterion II: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dõi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đổi</a:t>
            </a:r>
            <a:r>
              <a:rPr lang="en-US" dirty="0">
                <a:latin typeface="Times New Roman" panose="02020603050405020304" pitchFamily="18" charset="0"/>
                <a:cs typeface="Times New Roman" panose="02020603050405020304" pitchFamily="18" charset="0"/>
              </a:rPr>
              <a:t> (ΔRMS)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gian</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nếu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vượt</a:t>
            </a:r>
            <a:r>
              <a:rPr lang="en-US" dirty="0">
                <a:latin typeface="Times New Roman" panose="02020603050405020304" pitchFamily="18" charset="0"/>
                <a:cs typeface="Times New Roman" panose="02020603050405020304" pitchFamily="18" charset="0"/>
              </a:rPr>
              <a:t> 25% </a:t>
            </a:r>
            <a:r>
              <a:rPr lang="en-US" dirty="0" err="1">
                <a:latin typeface="Times New Roman" panose="02020603050405020304" pitchFamily="18" charset="0"/>
                <a:cs typeface="Times New Roman" panose="02020603050405020304" pitchFamily="18" charset="0"/>
              </a:rPr>
              <a:t>khoảng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cách</a:t>
            </a:r>
            <a:r>
              <a:rPr lang="en-US" dirty="0">
                <a:latin typeface="Times New Roman" panose="02020603050405020304" pitchFamily="18" charset="0"/>
                <a:cs typeface="Times New Roman" panose="02020603050405020304" pitchFamily="18" charset="0"/>
              </a:rPr>
              <a:t> B/C </a:t>
            </a:r>
            <a:r>
              <a:rPr lang="en-US" dirty="0" err="1">
                <a:latin typeface="Times New Roman" panose="02020603050405020304" pitchFamily="18" charset="0"/>
                <a:cs typeface="Times New Roman" panose="02020603050405020304" pitchFamily="18" charset="0"/>
              </a:rPr>
              <a:t>dù</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chưa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đổi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vẫn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ngay</a:t>
            </a:r>
            <a:r>
              <a:rPr lang="en-US" dirty="0">
                <a:latin typeface="Times New Roman" panose="02020603050405020304" pitchFamily="18" charset="0"/>
                <a:cs typeface="Times New Roman" panose="02020603050405020304" pitchFamily="18" charset="0"/>
              </a:rPr>
              <a:t>.</a:t>
            </a:r>
          </a:p>
          <a:p>
            <a:endParaRPr lang="en-US" dirty="0"/>
          </a:p>
        </p:txBody>
      </p:sp>
      <p:sp>
        <p:nvSpPr>
          <p:cNvPr id="5" name="Hộp Văn bản 4">
            <a:extLst>
              <a:ext uri="{FF2B5EF4-FFF2-40B4-BE49-F238E27FC236}">
                <a16:creationId xmlns:a16="http://schemas.microsoft.com/office/drawing/2014/main" id="{CFE9BA7C-92C8-1603-350E-6409F4956EC6}"/>
              </a:ext>
            </a:extLst>
          </p:cNvPr>
          <p:cNvSpPr txBox="1"/>
          <p:nvPr/>
        </p:nvSpPr>
        <p:spPr>
          <a:xfrm>
            <a:off x="2713383" y="3130826"/>
            <a:ext cx="184731" cy="369332"/>
          </a:xfrm>
          <a:prstGeom prst="rect">
            <a:avLst/>
          </a:prstGeom>
          <a:noFill/>
        </p:spPr>
        <p:txBody>
          <a:bodyPr wrap="none" rtlCol="0">
            <a:spAutoFit/>
          </a:bodyPr>
          <a:lstStyle/>
          <a:p>
            <a:endParaRPr lang="en-US" dirty="0"/>
          </a:p>
        </p:txBody>
      </p:sp>
      <p:sp>
        <p:nvSpPr>
          <p:cNvPr id="9" name="Hộp Văn bản 8">
            <a:extLst>
              <a:ext uri="{FF2B5EF4-FFF2-40B4-BE49-F238E27FC236}">
                <a16:creationId xmlns:a16="http://schemas.microsoft.com/office/drawing/2014/main" id="{07D13CC7-129A-90E6-AE4A-F5AD51BCBAB4}"/>
              </a:ext>
            </a:extLst>
          </p:cNvPr>
          <p:cNvSpPr txBox="1"/>
          <p:nvPr/>
        </p:nvSpPr>
        <p:spPr>
          <a:xfrm>
            <a:off x="1021347" y="731680"/>
            <a:ext cx="2284600"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Nguyên </a:t>
            </a:r>
            <a:r>
              <a:rPr lang="en-US" b="1" dirty="0" err="1">
                <a:latin typeface="Times New Roman" panose="02020603050405020304" pitchFamily="18" charset="0"/>
                <a:cs typeface="Times New Roman" panose="02020603050405020304" pitchFamily="18" charset="0"/>
              </a:rPr>
              <a:t>tắc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lường</a:t>
            </a:r>
            <a:r>
              <a:rPr lang="en-US"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248243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A3417-8821-11BA-E7D0-DE6981AC6DE0}"/>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9AD25BAA-1D03-2EDA-19D5-7E32AA060AE9}"/>
              </a:ext>
            </a:extLst>
          </p:cNvPr>
          <p:cNvSpPr txBox="1"/>
          <p:nvPr/>
        </p:nvSpPr>
        <p:spPr>
          <a:xfrm>
            <a:off x="4301412" y="279918"/>
            <a:ext cx="3972562" cy="492443"/>
          </a:xfrm>
          <a:prstGeom prst="rect">
            <a:avLst/>
          </a:prstGeom>
          <a:noFill/>
        </p:spPr>
        <p:txBody>
          <a:bodyPr wrap="none" rtlCol="0">
            <a:spAutoFit/>
          </a:bodyPr>
          <a:lstStyle/>
          <a:p>
            <a:r>
              <a:rPr lang="en-US" sz="2600" dirty="0" err="1">
                <a:latin typeface="Times New Roman" panose="02020603050405020304" pitchFamily="18" charset="0"/>
                <a:cs typeface="Times New Roman" panose="02020603050405020304" pitchFamily="18" charset="0"/>
              </a:rPr>
              <a:t>Cơ</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sở</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tiêu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chuẩn</a:t>
            </a:r>
            <a:r>
              <a:rPr lang="en-US" sz="2600" dirty="0">
                <a:latin typeface="Times New Roman" panose="02020603050405020304" pitchFamily="18" charset="0"/>
                <a:cs typeface="Times New Roman" panose="02020603050405020304" pitchFamily="18" charset="0"/>
              </a:rPr>
              <a:t> ISO 20816</a:t>
            </a:r>
          </a:p>
        </p:txBody>
      </p:sp>
      <p:sp>
        <p:nvSpPr>
          <p:cNvPr id="4" name="Hộp Văn bản 3">
            <a:extLst>
              <a:ext uri="{FF2B5EF4-FFF2-40B4-BE49-F238E27FC236}">
                <a16:creationId xmlns:a16="http://schemas.microsoft.com/office/drawing/2014/main" id="{BC3E18A3-8559-B0F0-FD32-E3D7575FD370}"/>
              </a:ext>
            </a:extLst>
          </p:cNvPr>
          <p:cNvSpPr txBox="1"/>
          <p:nvPr/>
        </p:nvSpPr>
        <p:spPr>
          <a:xfrm>
            <a:off x="1073020" y="1101012"/>
            <a:ext cx="9918441" cy="3693319"/>
          </a:xfrm>
          <a:prstGeom prst="rect">
            <a:avLst/>
          </a:prstGeom>
          <a:noFill/>
        </p:spPr>
        <p:txBody>
          <a:bodyPr wrap="square" rtlCol="0">
            <a:spAutoFit/>
          </a:bodyPr>
          <a:lstStyle/>
          <a:p>
            <a:r>
              <a:rPr lang="vi-VN" dirty="0">
                <a:latin typeface="Times New Roman" panose="02020603050405020304" pitchFamily="18" charset="0"/>
                <a:cs typeface="Times New Roman" panose="02020603050405020304" pitchFamily="18" charset="0"/>
              </a:rPr>
              <a:t>Bước</a:t>
            </a:r>
            <a:r>
              <a:rPr lang="en-US" dirty="0">
                <a:latin typeface="Times New Roman" panose="02020603050405020304" pitchFamily="18" charset="0"/>
                <a:cs typeface="Times New Roman" panose="02020603050405020304" pitchFamily="18" charset="0"/>
              </a:rPr>
              <a:t> 1 —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Aiso_DE</a:t>
            </a:r>
            <a:r>
              <a:rPr lang="en-US" dirty="0">
                <a:latin typeface="Times New Roman" panose="02020603050405020304" pitchFamily="18" charset="0"/>
                <a:cs typeface="Times New Roman" panose="02020603050405020304" pitchFamily="18" charset="0"/>
              </a:rPr>
              <a:t>(f), </a:t>
            </a:r>
            <a:r>
              <a:rPr lang="en-US" dirty="0" err="1">
                <a:latin typeface="Times New Roman" panose="02020603050405020304" pitchFamily="18" charset="0"/>
                <a:cs typeface="Times New Roman" panose="02020603050405020304" pitchFamily="18" charset="0"/>
              </a:rPr>
              <a:t>Aiso_NDE</a:t>
            </a:r>
            <a:r>
              <a:rPr lang="en-US" dirty="0">
                <a:latin typeface="Times New Roman" panose="02020603050405020304" pitchFamily="18" charset="0"/>
                <a:cs typeface="Times New Roman" panose="02020603050405020304" pitchFamily="18" charset="0"/>
              </a:rPr>
              <a:t>(f)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nhiễu</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Cross-Coherence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S1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nhiễu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truyền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nén</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vi-VN" dirty="0">
                <a:latin typeface="Times New Roman" panose="02020603050405020304" pitchFamily="18" charset="0"/>
                <a:cs typeface="Times New Roman" panose="02020603050405020304" pitchFamily="18" charset="0"/>
              </a:rPr>
              <a:t>Bước</a:t>
            </a:r>
            <a:r>
              <a:rPr lang="en-US" dirty="0">
                <a:latin typeface="Times New Roman" panose="02020603050405020304" pitchFamily="18" charset="0"/>
                <a:cs typeface="Times New Roman" panose="02020603050405020304" pitchFamily="18" charset="0"/>
              </a:rPr>
              <a:t> 2 —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nhóm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ISO 20816-3: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Input: P (kW), n (rpm), </a:t>
            </a:r>
            <a:r>
              <a:rPr lang="en-US" dirty="0" err="1">
                <a:latin typeface="Times New Roman" panose="02020603050405020304" pitchFamily="18" charset="0"/>
                <a:cs typeface="Times New Roman" panose="02020603050405020304" pitchFamily="18" charset="0"/>
              </a:rPr>
              <a:t>loại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móng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Output: Zone A/B, B/C, C/D (mm/s RMS)</a:t>
            </a:r>
            <a:br>
              <a:rPr lang="en-US" dirty="0">
                <a:latin typeface="Times New Roman" panose="02020603050405020304" pitchFamily="18" charset="0"/>
                <a:cs typeface="Times New Roman" panose="02020603050405020304" pitchFamily="18" charset="0"/>
              </a:rPr>
            </a:br>
            <a:r>
              <a:rPr lang="vi-VN" dirty="0">
                <a:latin typeface="Times New Roman" panose="02020603050405020304" pitchFamily="18" charset="0"/>
                <a:cs typeface="Times New Roman" panose="02020603050405020304" pitchFamily="18" charset="0"/>
              </a:rPr>
              <a:t>Bước</a:t>
            </a:r>
            <a:r>
              <a:rPr lang="en-US" dirty="0">
                <a:latin typeface="Times New Roman" panose="02020603050405020304" pitchFamily="18" charset="0"/>
                <a:cs typeface="Times New Roman" panose="02020603050405020304" pitchFamily="18" charset="0"/>
              </a:rPr>
              <a:t> 3 —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RMS </a:t>
            </a:r>
            <a:r>
              <a:rPr lang="en-US" dirty="0" err="1">
                <a:latin typeface="Times New Roman" panose="02020603050405020304" pitchFamily="18" charset="0"/>
                <a:cs typeface="Times New Roman" panose="02020603050405020304" pitchFamily="18" charset="0"/>
              </a:rPr>
              <a:t>tổng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rộng</a:t>
            </a:r>
            <a:r>
              <a:rPr lang="en-US" dirty="0">
                <a:latin typeface="Times New Roman" panose="02020603050405020304" pitchFamily="18" charset="0"/>
                <a:cs typeface="Times New Roman" panose="02020603050405020304" pitchFamily="18" charset="0"/>
              </a:rPr>
              <a:t> (10–1000 Hz):</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RMS_DE  = sqrt( Σ </a:t>
            </a:r>
            <a:r>
              <a:rPr lang="en-US" dirty="0" err="1">
                <a:latin typeface="Times New Roman" panose="02020603050405020304" pitchFamily="18" charset="0"/>
                <a:cs typeface="Times New Roman" panose="02020603050405020304" pitchFamily="18" charset="0"/>
              </a:rPr>
              <a:t>Aiso_DE</a:t>
            </a:r>
            <a:r>
              <a:rPr lang="en-US" dirty="0">
                <a:latin typeface="Times New Roman" panose="02020603050405020304" pitchFamily="18" charset="0"/>
                <a:cs typeface="Times New Roman" panose="02020603050405020304" pitchFamily="18" charset="0"/>
              </a:rPr>
              <a:t>(f)^2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RMS_NDE = sqrt( Σ </a:t>
            </a:r>
            <a:r>
              <a:rPr lang="en-US" dirty="0" err="1">
                <a:latin typeface="Times New Roman" panose="02020603050405020304" pitchFamily="18" charset="0"/>
                <a:cs typeface="Times New Roman" panose="02020603050405020304" pitchFamily="18" charset="0"/>
              </a:rPr>
              <a:t>Aiso_NDE</a:t>
            </a:r>
            <a:r>
              <a:rPr lang="en-US" dirty="0">
                <a:latin typeface="Times New Roman" panose="02020603050405020304" pitchFamily="18" charset="0"/>
                <a:cs typeface="Times New Roman" panose="02020603050405020304" pitchFamily="18" charset="0"/>
              </a:rPr>
              <a:t>(f)^2 )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So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ngưỡng</a:t>
            </a:r>
            <a:r>
              <a:rPr lang="en-US" dirty="0">
                <a:latin typeface="Times New Roman" panose="02020603050405020304" pitchFamily="18" charset="0"/>
                <a:cs typeface="Times New Roman" panose="02020603050405020304" pitchFamily="18" charset="0"/>
              </a:rPr>
              <a:t> Zone ở </a:t>
            </a:r>
            <a:r>
              <a:rPr lang="en-US" dirty="0" err="1">
                <a:latin typeface="Times New Roman" panose="02020603050405020304" pitchFamily="18" charset="0"/>
                <a:cs typeface="Times New Roman" panose="02020603050405020304" pitchFamily="18" charset="0"/>
              </a:rPr>
              <a:t>Bước</a:t>
            </a:r>
            <a:r>
              <a:rPr lang="en-US" dirty="0">
                <a:latin typeface="Times New Roman" panose="02020603050405020304" pitchFamily="18" charset="0"/>
                <a:cs typeface="Times New Roman" panose="02020603050405020304" pitchFamily="18" charset="0"/>
              </a:rPr>
              <a:t> 2  -&gt;  Criterion I</a:t>
            </a:r>
            <a:br>
              <a:rPr lang="en-US" dirty="0">
                <a:latin typeface="Times New Roman" panose="02020603050405020304" pitchFamily="18" charset="0"/>
                <a:cs typeface="Times New Roman" panose="02020603050405020304" pitchFamily="18" charset="0"/>
              </a:rPr>
            </a:br>
            <a:r>
              <a:rPr lang="vi-VN" dirty="0">
                <a:latin typeface="Times New Roman" panose="02020603050405020304" pitchFamily="18" charset="0"/>
                <a:cs typeface="Times New Roman" panose="02020603050405020304" pitchFamily="18" charset="0"/>
              </a:rPr>
              <a:t>Bước</a:t>
            </a:r>
            <a:r>
              <a:rPr lang="en-US" dirty="0">
                <a:latin typeface="Times New Roman" panose="02020603050405020304" pitchFamily="18" charset="0"/>
                <a:cs typeface="Times New Roman" panose="02020603050405020304" pitchFamily="18" charset="0"/>
              </a:rPr>
              <a:t> 4 — Criterion II (</a:t>
            </a:r>
            <a:r>
              <a:rPr lang="en-US" dirty="0" err="1">
                <a:latin typeface="Times New Roman" panose="02020603050405020304" pitchFamily="18" charset="0"/>
                <a:cs typeface="Times New Roman" panose="02020603050405020304" pitchFamily="18" charset="0"/>
              </a:rPr>
              <a:t>biến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thiên</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ΔRMS = |RMS(t) - RMS(t-1)|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Nếu</a:t>
            </a:r>
            <a:r>
              <a:rPr lang="en-US" dirty="0">
                <a:latin typeface="Times New Roman" panose="02020603050405020304" pitchFamily="18" charset="0"/>
                <a:cs typeface="Times New Roman" panose="02020603050405020304" pitchFamily="18" charset="0"/>
              </a:rPr>
              <a:t> ΔRMS &gt; 0.25 x (B/C - A/B)  -&gt;  </a:t>
            </a:r>
            <a:r>
              <a:rPr lang="en-US" dirty="0" err="1">
                <a:latin typeface="Times New Roman" panose="02020603050405020304" pitchFamily="18" charset="0"/>
                <a:cs typeface="Times New Roman" panose="02020603050405020304" pitchFamily="18" charset="0"/>
              </a:rPr>
              <a:t>cờ</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sớm</a:t>
            </a:r>
            <a:br>
              <a:rPr lang="en-US" dirty="0">
                <a:latin typeface="Times New Roman" panose="02020603050405020304" pitchFamily="18" charset="0"/>
                <a:cs typeface="Times New Roman" panose="02020603050405020304" pitchFamily="18" charset="0"/>
              </a:rPr>
            </a:br>
            <a:r>
              <a:rPr lang="vi-VN" dirty="0">
                <a:latin typeface="Times New Roman" panose="02020603050405020304" pitchFamily="18" charset="0"/>
                <a:cs typeface="Times New Roman" panose="02020603050405020304" pitchFamily="18" charset="0"/>
              </a:rPr>
              <a:t>Bước</a:t>
            </a:r>
            <a:r>
              <a:rPr lang="en-US" dirty="0">
                <a:latin typeface="Times New Roman" panose="02020603050405020304" pitchFamily="18" charset="0"/>
                <a:cs typeface="Times New Roman" panose="02020603050405020304" pitchFamily="18" charset="0"/>
              </a:rPr>
              <a:t> 5 — </a:t>
            </a:r>
            <a:r>
              <a:rPr lang="en-US" dirty="0" err="1">
                <a:latin typeface="Times New Roman" panose="02020603050405020304" pitchFamily="18" charset="0"/>
                <a:cs typeface="Times New Roman" panose="02020603050405020304" pitchFamily="18" charset="0"/>
              </a:rPr>
              <a:t>Đánh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giá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trị</a:t>
            </a:r>
            <a:r>
              <a:rPr lang="en-US" dirty="0">
                <a:latin typeface="Times New Roman" panose="02020603050405020304" pitchFamily="18" charset="0"/>
                <a:cs typeface="Times New Roman" panose="02020603050405020304" pitchFamily="18" charset="0"/>
              </a:rPr>
              <a:t> XẤU NHẤT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a:t>
            </a:r>
            <a:r>
              <a:rPr lang="en-US" dirty="0">
                <a:latin typeface="Times New Roman" panose="02020603050405020304" pitchFamily="18" charset="0"/>
                <a:cs typeface="Times New Roman" panose="02020603050405020304" pitchFamily="18" charset="0"/>
              </a:rPr>
              <a:t> (S3, S4)</a:t>
            </a:r>
          </a:p>
        </p:txBody>
      </p:sp>
      <p:sp>
        <p:nvSpPr>
          <p:cNvPr id="5" name="Hộp Văn bản 4">
            <a:extLst>
              <a:ext uri="{FF2B5EF4-FFF2-40B4-BE49-F238E27FC236}">
                <a16:creationId xmlns:a16="http://schemas.microsoft.com/office/drawing/2014/main" id="{6EB0C173-EFE5-08BF-DD00-FEA1D8AFD9FB}"/>
              </a:ext>
            </a:extLst>
          </p:cNvPr>
          <p:cNvSpPr txBox="1"/>
          <p:nvPr/>
        </p:nvSpPr>
        <p:spPr>
          <a:xfrm>
            <a:off x="2713383" y="3130826"/>
            <a:ext cx="184731" cy="369332"/>
          </a:xfrm>
          <a:prstGeom prst="rect">
            <a:avLst/>
          </a:prstGeom>
          <a:noFill/>
        </p:spPr>
        <p:txBody>
          <a:bodyPr wrap="none" rtlCol="0">
            <a:spAutoFit/>
          </a:bodyPr>
          <a:lstStyle/>
          <a:p>
            <a:endParaRPr lang="en-US" dirty="0"/>
          </a:p>
        </p:txBody>
      </p:sp>
      <p:sp>
        <p:nvSpPr>
          <p:cNvPr id="9" name="Hộp Văn bản 8">
            <a:extLst>
              <a:ext uri="{FF2B5EF4-FFF2-40B4-BE49-F238E27FC236}">
                <a16:creationId xmlns:a16="http://schemas.microsoft.com/office/drawing/2014/main" id="{7EACEF85-A877-5D01-0569-286D22D6BBB3}"/>
              </a:ext>
            </a:extLst>
          </p:cNvPr>
          <p:cNvSpPr txBox="1"/>
          <p:nvPr/>
        </p:nvSpPr>
        <p:spPr>
          <a:xfrm>
            <a:off x="1021347" y="731680"/>
            <a:ext cx="4368504" cy="369332"/>
          </a:xfrm>
          <a:prstGeom prst="rect">
            <a:avLst/>
          </a:prstGeom>
          <a:noFill/>
        </p:spPr>
        <p:txBody>
          <a:bodyPr wrap="none" rtlCol="0">
            <a:spAutoFit/>
          </a:bodyPr>
          <a:lstStyle/>
          <a:p>
            <a:r>
              <a:rPr lang="en-US" b="1" dirty="0" err="1">
                <a:latin typeface="Times New Roman" panose="02020603050405020304" pitchFamily="18" charset="0"/>
                <a:cs typeface="Times New Roman" panose="02020603050405020304" pitchFamily="18" charset="0"/>
              </a:rPr>
              <a:t>Thuật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toán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đánh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giá</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mức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độ</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nghiêm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trọng</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9365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2DF60-692E-CFA7-8C3B-EE2BC2FF07FE}"/>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B0CCFA33-358D-A761-0B81-79CA90057B28}"/>
              </a:ext>
            </a:extLst>
          </p:cNvPr>
          <p:cNvSpPr txBox="1"/>
          <p:nvPr/>
        </p:nvSpPr>
        <p:spPr>
          <a:xfrm>
            <a:off x="4301412" y="279918"/>
            <a:ext cx="3697231" cy="492443"/>
          </a:xfrm>
          <a:prstGeom prst="rect">
            <a:avLst/>
          </a:prstGeom>
          <a:noFill/>
        </p:spPr>
        <p:txBody>
          <a:bodyPr wrap="none" rtlCol="0">
            <a:spAutoFit/>
          </a:bodyPr>
          <a:lstStyle/>
          <a:p>
            <a:r>
              <a:rPr lang="en-US" sz="2600" dirty="0" err="1">
                <a:latin typeface="Times New Roman" panose="02020603050405020304" pitchFamily="18" charset="0"/>
                <a:cs typeface="Times New Roman" panose="02020603050405020304" pitchFamily="18" charset="0"/>
              </a:rPr>
              <a:t>Phân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tích</a:t>
            </a:r>
            <a:r>
              <a:rPr lang="en-US" sz="2600" dirty="0">
                <a:latin typeface="Times New Roman" panose="02020603050405020304" pitchFamily="18" charset="0"/>
                <a:cs typeface="Times New Roman" panose="02020603050405020304" pitchFamily="18" charset="0"/>
              </a:rPr>
              <a:t> FFT </a:t>
            </a:r>
            <a:r>
              <a:rPr lang="en-US" sz="2600" dirty="0" err="1">
                <a:latin typeface="Times New Roman" panose="02020603050405020304" pitchFamily="18" charset="0"/>
                <a:cs typeface="Times New Roman" panose="02020603050405020304" pitchFamily="18" charset="0"/>
              </a:rPr>
              <a:t>chuẩn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đoán</a:t>
            </a:r>
            <a:endParaRPr lang="en-US" sz="2600" dirty="0">
              <a:latin typeface="Times New Roman" panose="02020603050405020304" pitchFamily="18" charset="0"/>
              <a:cs typeface="Times New Roman" panose="02020603050405020304" pitchFamily="18" charset="0"/>
            </a:endParaRPr>
          </a:p>
        </p:txBody>
      </p:sp>
      <p:sp>
        <p:nvSpPr>
          <p:cNvPr id="5" name="Hộp Văn bản 4">
            <a:extLst>
              <a:ext uri="{FF2B5EF4-FFF2-40B4-BE49-F238E27FC236}">
                <a16:creationId xmlns:a16="http://schemas.microsoft.com/office/drawing/2014/main" id="{6D1A3ED6-147E-8088-896B-35B3093E3D5D}"/>
              </a:ext>
            </a:extLst>
          </p:cNvPr>
          <p:cNvSpPr txBox="1"/>
          <p:nvPr/>
        </p:nvSpPr>
        <p:spPr>
          <a:xfrm>
            <a:off x="2713383" y="3130826"/>
            <a:ext cx="184731" cy="369332"/>
          </a:xfrm>
          <a:prstGeom prst="rect">
            <a:avLst/>
          </a:prstGeom>
          <a:noFill/>
        </p:spPr>
        <p:txBody>
          <a:bodyPr wrap="none" rtlCol="0">
            <a:spAutoFit/>
          </a:bodyPr>
          <a:lstStyle/>
          <a:p>
            <a:endParaRPr lang="en-US" dirty="0"/>
          </a:p>
        </p:txBody>
      </p:sp>
      <p:sp>
        <p:nvSpPr>
          <p:cNvPr id="9" name="Hộp Văn bản 8">
            <a:extLst>
              <a:ext uri="{FF2B5EF4-FFF2-40B4-BE49-F238E27FC236}">
                <a16:creationId xmlns:a16="http://schemas.microsoft.com/office/drawing/2014/main" id="{25B8B472-CFA0-CC2A-2BC5-FA8202765CA2}"/>
              </a:ext>
            </a:extLst>
          </p:cNvPr>
          <p:cNvSpPr txBox="1"/>
          <p:nvPr/>
        </p:nvSpPr>
        <p:spPr>
          <a:xfrm>
            <a:off x="1021347" y="731680"/>
            <a:ext cx="5191486" cy="369332"/>
          </a:xfrm>
          <a:prstGeom prst="rect">
            <a:avLst/>
          </a:prstGeom>
          <a:noFill/>
        </p:spPr>
        <p:txBody>
          <a:bodyPr wrap="none" rtlCol="0">
            <a:spAutoFit/>
          </a:bodyPr>
          <a:lstStyle/>
          <a:p>
            <a:r>
              <a:rPr lang="vi-VN" b="1" dirty="0">
                <a:latin typeface="+mj-lt"/>
              </a:rPr>
              <a:t>Chữ ký tần số lỗi</a:t>
            </a:r>
            <a:r>
              <a:rPr lang="en-US" b="1" dirty="0">
                <a:latin typeface="+mj-lt"/>
              </a:rPr>
              <a:t> </a:t>
            </a:r>
            <a:r>
              <a:rPr lang="vi-VN" b="1" dirty="0">
                <a:latin typeface="+mj-lt"/>
              </a:rPr>
              <a:t>cơ khí kết cấu ( bội số của </a:t>
            </a:r>
            <a:r>
              <a:rPr lang="vi-VN" b="1" dirty="0" err="1">
                <a:latin typeface="+mj-lt"/>
              </a:rPr>
              <a:t>f_root</a:t>
            </a:r>
            <a:r>
              <a:rPr lang="vi-VN" b="1" dirty="0">
                <a:latin typeface="+mj-lt"/>
              </a:rPr>
              <a:t>)</a:t>
            </a:r>
            <a:endParaRPr lang="en-US" b="1" dirty="0">
              <a:latin typeface="+mj-lt"/>
            </a:endParaRPr>
          </a:p>
        </p:txBody>
      </p:sp>
      <p:graphicFrame>
        <p:nvGraphicFramePr>
          <p:cNvPr id="3" name="Bảng 2">
            <a:extLst>
              <a:ext uri="{FF2B5EF4-FFF2-40B4-BE49-F238E27FC236}">
                <a16:creationId xmlns:a16="http://schemas.microsoft.com/office/drawing/2014/main" id="{510C3C65-3735-94D0-A8E4-EDA861C0AE82}"/>
              </a:ext>
            </a:extLst>
          </p:cNvPr>
          <p:cNvGraphicFramePr>
            <a:graphicFrameLocks noGrp="1"/>
          </p:cNvGraphicFramePr>
          <p:nvPr>
            <p:extLst>
              <p:ext uri="{D42A27DB-BD31-4B8C-83A1-F6EECF244321}">
                <p14:modId xmlns:p14="http://schemas.microsoft.com/office/powerpoint/2010/main" val="3386526455"/>
              </p:ext>
            </p:extLst>
          </p:nvPr>
        </p:nvGraphicFramePr>
        <p:xfrm>
          <a:off x="1156996" y="1183441"/>
          <a:ext cx="9442579" cy="4286150"/>
        </p:xfrm>
        <a:graphic>
          <a:graphicData uri="http://schemas.openxmlformats.org/drawingml/2006/table">
            <a:tbl>
              <a:tblPr>
                <a:tableStyleId>{5C22544A-7EE6-4342-B048-85BDC9FD1C3A}</a:tableStyleId>
              </a:tblPr>
              <a:tblGrid>
                <a:gridCol w="2727856">
                  <a:extLst>
                    <a:ext uri="{9D8B030D-6E8A-4147-A177-3AD203B41FA5}">
                      <a16:colId xmlns:a16="http://schemas.microsoft.com/office/drawing/2014/main" val="55628903"/>
                    </a:ext>
                  </a:extLst>
                </a:gridCol>
                <a:gridCol w="2727856">
                  <a:extLst>
                    <a:ext uri="{9D8B030D-6E8A-4147-A177-3AD203B41FA5}">
                      <a16:colId xmlns:a16="http://schemas.microsoft.com/office/drawing/2014/main" val="2395171252"/>
                    </a:ext>
                  </a:extLst>
                </a:gridCol>
                <a:gridCol w="3986867">
                  <a:extLst>
                    <a:ext uri="{9D8B030D-6E8A-4147-A177-3AD203B41FA5}">
                      <a16:colId xmlns:a16="http://schemas.microsoft.com/office/drawing/2014/main" val="340620043"/>
                    </a:ext>
                  </a:extLst>
                </a:gridCol>
              </a:tblGrid>
              <a:tr h="402697">
                <a:tc>
                  <a:txBody>
                    <a:bodyPr/>
                    <a:lstStyle/>
                    <a:p>
                      <a:pPr>
                        <a:buNone/>
                      </a:pPr>
                      <a:r>
                        <a:rPr lang="en-US" sz="1800" dirty="0" err="1">
                          <a:effectLst/>
                          <a:latin typeface="Times New Roman" panose="02020603050405020304" pitchFamily="18" charset="0"/>
                          <a:cs typeface="Times New Roman" panose="02020603050405020304" pitchFamily="18" charset="0"/>
                        </a:rPr>
                        <a:t>Lỗi</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a:effectLst/>
                          <a:latin typeface="Times New Roman" panose="02020603050405020304" pitchFamily="18" charset="0"/>
                          <a:cs typeface="Times New Roman" panose="02020603050405020304" pitchFamily="18" charset="0"/>
                        </a:rPr>
                        <a:t>Tần số nổi bật</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a:effectLst/>
                          <a:latin typeface="Times New Roman" panose="02020603050405020304" pitchFamily="18" charset="0"/>
                          <a:cs typeface="Times New Roman" panose="02020603050405020304" pitchFamily="18" charset="0"/>
                        </a:rPr>
                        <a:t>Đặc điểm nhận dạng</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extLst>
                  <a:ext uri="{0D108BD9-81ED-4DB2-BD59-A6C34878D82A}">
                    <a16:rowId xmlns:a16="http://schemas.microsoft.com/office/drawing/2014/main" val="4173630804"/>
                  </a:ext>
                </a:extLst>
              </a:tr>
              <a:tr h="765123">
                <a:tc>
                  <a:txBody>
                    <a:bodyPr/>
                    <a:lstStyle/>
                    <a:p>
                      <a:pPr>
                        <a:buNone/>
                      </a:pPr>
                      <a:r>
                        <a:rPr lang="en-US" sz="1800">
                          <a:effectLst/>
                          <a:latin typeface="Times New Roman" panose="02020603050405020304" pitchFamily="18" charset="0"/>
                          <a:cs typeface="Times New Roman" panose="02020603050405020304" pitchFamily="18" charset="0"/>
                        </a:rPr>
                        <a:t>Mất cân bằng động (Unbalance)</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a:effectLst/>
                          <a:latin typeface="Times New Roman" panose="02020603050405020304" pitchFamily="18" charset="0"/>
                          <a:cs typeface="Times New Roman" panose="02020603050405020304" pitchFamily="18" charset="0"/>
                        </a:rPr>
                        <a:t>1X trội, hài bậc cao thấp</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a:effectLst/>
                          <a:latin typeface="Times New Roman" panose="02020603050405020304" pitchFamily="18" charset="0"/>
                          <a:cs typeface="Times New Roman" panose="02020603050405020304" pitchFamily="18" charset="0"/>
                        </a:rPr>
                        <a:t>Hướng kính (radial) chiếm ưu thế; biên độ tăng theo bình phương tốc độ; pha ổn định</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extLst>
                  <a:ext uri="{0D108BD9-81ED-4DB2-BD59-A6C34878D82A}">
                    <a16:rowId xmlns:a16="http://schemas.microsoft.com/office/drawing/2014/main" val="4076658802"/>
                  </a:ext>
                </a:extLst>
              </a:tr>
              <a:tr h="1530247">
                <a:tc>
                  <a:txBody>
                    <a:bodyPr/>
                    <a:lstStyle/>
                    <a:p>
                      <a:pPr>
                        <a:buNone/>
                      </a:pPr>
                      <a:r>
                        <a:rPr lang="en-US" sz="1800" dirty="0" err="1">
                          <a:effectLst/>
                          <a:latin typeface="Times New Roman" panose="02020603050405020304" pitchFamily="18" charset="0"/>
                          <a:cs typeface="Times New Roman" panose="02020603050405020304" pitchFamily="18" charset="0"/>
                        </a:rPr>
                        <a:t>Lệch</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tâm</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khớp</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nối</a:t>
                      </a:r>
                      <a:r>
                        <a:rPr lang="en-US" sz="1800" dirty="0">
                          <a:effectLst/>
                          <a:latin typeface="Times New Roman" panose="02020603050405020304" pitchFamily="18" charset="0"/>
                          <a:cs typeface="Times New Roman" panose="02020603050405020304" pitchFamily="18" charset="0"/>
                        </a:rPr>
                        <a:t> (Misalignment)</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a:effectLst/>
                          <a:latin typeface="Times New Roman" panose="02020603050405020304" pitchFamily="18" charset="0"/>
                          <a:cs typeface="Times New Roman" panose="02020603050405020304" pitchFamily="18" charset="0"/>
                        </a:rPr>
                        <a:t>2X mạnh (≥1X), có thể cả 3X</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a:effectLst/>
                          <a:latin typeface="Times New Roman" panose="02020603050405020304" pitchFamily="18" charset="0"/>
                          <a:cs typeface="Times New Roman" panose="02020603050405020304" pitchFamily="18" charset="0"/>
                        </a:rPr>
                        <a:t>Rung dọc trục (axial) cao — nếu biên độ trục ở 1X/2X gần bằng/vượt hướng kính → gần như chắc chắn lệch tâm hoặc trục cong; lệch pha 180° qua khớp nối</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extLst>
                  <a:ext uri="{0D108BD9-81ED-4DB2-BD59-A6C34878D82A}">
                    <a16:rowId xmlns:a16="http://schemas.microsoft.com/office/drawing/2014/main" val="2661577227"/>
                  </a:ext>
                </a:extLst>
              </a:tr>
              <a:tr h="765123">
                <a:tc>
                  <a:txBody>
                    <a:bodyPr/>
                    <a:lstStyle/>
                    <a:p>
                      <a:pPr>
                        <a:buNone/>
                      </a:pPr>
                      <a:r>
                        <a:rPr lang="en-US" sz="1800">
                          <a:effectLst/>
                          <a:latin typeface="Times New Roman" panose="02020603050405020304" pitchFamily="18" charset="0"/>
                          <a:cs typeface="Times New Roman" panose="02020603050405020304" pitchFamily="18" charset="0"/>
                        </a:rPr>
                        <a:t>Trục cong (Bent shaft)</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a:effectLst/>
                          <a:latin typeface="Times New Roman" panose="02020603050405020304" pitchFamily="18" charset="0"/>
                          <a:cs typeface="Times New Roman" panose="02020603050405020304" pitchFamily="18" charset="0"/>
                        </a:rPr>
                        <a:t>Giống hệt lệch tâm trên phổ biên độ</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a:effectLst/>
                          <a:latin typeface="Times New Roman" panose="02020603050405020304" pitchFamily="18" charset="0"/>
                          <a:cs typeface="Times New Roman" panose="02020603050405020304" pitchFamily="18" charset="0"/>
                        </a:rPr>
                        <a:t>Chỉ phân biệt được bằng đo pha, không phân biệt được chỉ bằng biên độ</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extLst>
                  <a:ext uri="{0D108BD9-81ED-4DB2-BD59-A6C34878D82A}">
                    <a16:rowId xmlns:a16="http://schemas.microsoft.com/office/drawing/2014/main" val="1539666976"/>
                  </a:ext>
                </a:extLst>
              </a:tr>
              <a:tr h="765123">
                <a:tc>
                  <a:txBody>
                    <a:bodyPr/>
                    <a:lstStyle/>
                    <a:p>
                      <a:pPr>
                        <a:buNone/>
                      </a:pPr>
                      <a:r>
                        <a:rPr lang="en-US" sz="1800">
                          <a:effectLst/>
                          <a:latin typeface="Times New Roman" panose="02020603050405020304" pitchFamily="18" charset="0"/>
                          <a:cs typeface="Times New Roman" panose="02020603050405020304" pitchFamily="18" charset="0"/>
                        </a:rPr>
                        <a:t>Lỏng cơ khí (Looseness)</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a:effectLst/>
                          <a:latin typeface="Times New Roman" panose="02020603050405020304" pitchFamily="18" charset="0"/>
                          <a:cs typeface="Times New Roman" panose="02020603050405020304" pitchFamily="18" charset="0"/>
                        </a:rPr>
                        <a:t>Chuỗi hài dài 1X,2X,3X,4X... đôi khi 0.5X,1.5X</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dirty="0" err="1">
                          <a:effectLst/>
                          <a:latin typeface="Times New Roman" panose="02020603050405020304" pitchFamily="18" charset="0"/>
                          <a:cs typeface="Times New Roman" panose="02020603050405020304" pitchFamily="18" charset="0"/>
                        </a:rPr>
                        <a:t>Biên</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độ</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hài</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thất</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thường</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không</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giảm</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đều</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theo</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tần</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số</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như</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bình</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thường</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extLst>
                  <a:ext uri="{0D108BD9-81ED-4DB2-BD59-A6C34878D82A}">
                    <a16:rowId xmlns:a16="http://schemas.microsoft.com/office/drawing/2014/main" val="4113057230"/>
                  </a:ext>
                </a:extLst>
              </a:tr>
            </a:tbl>
          </a:graphicData>
        </a:graphic>
      </p:graphicFrame>
    </p:spTree>
    <p:extLst>
      <p:ext uri="{BB962C8B-B14F-4D97-AF65-F5344CB8AC3E}">
        <p14:creationId xmlns:p14="http://schemas.microsoft.com/office/powerpoint/2010/main" val="2672445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08DD2-7F23-9CD6-5826-19B71AB6BBDC}"/>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DC8E65EC-9672-F18E-BB18-C008CFEDDB69}"/>
              </a:ext>
            </a:extLst>
          </p:cNvPr>
          <p:cNvSpPr txBox="1"/>
          <p:nvPr/>
        </p:nvSpPr>
        <p:spPr>
          <a:xfrm>
            <a:off x="4301412" y="279918"/>
            <a:ext cx="3697231" cy="492443"/>
          </a:xfrm>
          <a:prstGeom prst="rect">
            <a:avLst/>
          </a:prstGeom>
          <a:noFill/>
        </p:spPr>
        <p:txBody>
          <a:bodyPr wrap="none" rtlCol="0">
            <a:spAutoFit/>
          </a:bodyPr>
          <a:lstStyle/>
          <a:p>
            <a:r>
              <a:rPr lang="en-US" sz="2600" dirty="0" err="1">
                <a:latin typeface="Times New Roman" panose="02020603050405020304" pitchFamily="18" charset="0"/>
                <a:cs typeface="Times New Roman" panose="02020603050405020304" pitchFamily="18" charset="0"/>
              </a:rPr>
              <a:t>Phân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tích</a:t>
            </a:r>
            <a:r>
              <a:rPr lang="en-US" sz="2600" dirty="0">
                <a:latin typeface="Times New Roman" panose="02020603050405020304" pitchFamily="18" charset="0"/>
                <a:cs typeface="Times New Roman" panose="02020603050405020304" pitchFamily="18" charset="0"/>
              </a:rPr>
              <a:t> FFT </a:t>
            </a:r>
            <a:r>
              <a:rPr lang="en-US" sz="2600" dirty="0" err="1">
                <a:latin typeface="Times New Roman" panose="02020603050405020304" pitchFamily="18" charset="0"/>
                <a:cs typeface="Times New Roman" panose="02020603050405020304" pitchFamily="18" charset="0"/>
              </a:rPr>
              <a:t>chuẩn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đoán</a:t>
            </a:r>
            <a:endParaRPr lang="en-US" sz="2600" dirty="0">
              <a:latin typeface="Times New Roman" panose="02020603050405020304" pitchFamily="18" charset="0"/>
              <a:cs typeface="Times New Roman" panose="02020603050405020304" pitchFamily="18" charset="0"/>
            </a:endParaRPr>
          </a:p>
        </p:txBody>
      </p:sp>
      <p:sp>
        <p:nvSpPr>
          <p:cNvPr id="5" name="Hộp Văn bản 4">
            <a:extLst>
              <a:ext uri="{FF2B5EF4-FFF2-40B4-BE49-F238E27FC236}">
                <a16:creationId xmlns:a16="http://schemas.microsoft.com/office/drawing/2014/main" id="{E998BD6C-5E57-59B3-E47E-DB42531AF20F}"/>
              </a:ext>
            </a:extLst>
          </p:cNvPr>
          <p:cNvSpPr txBox="1"/>
          <p:nvPr/>
        </p:nvSpPr>
        <p:spPr>
          <a:xfrm>
            <a:off x="2713383" y="3130826"/>
            <a:ext cx="184731" cy="369332"/>
          </a:xfrm>
          <a:prstGeom prst="rect">
            <a:avLst/>
          </a:prstGeom>
          <a:noFill/>
        </p:spPr>
        <p:txBody>
          <a:bodyPr wrap="none" rtlCol="0">
            <a:spAutoFit/>
          </a:bodyPr>
          <a:lstStyle/>
          <a:p>
            <a:endParaRPr lang="en-US" dirty="0"/>
          </a:p>
        </p:txBody>
      </p:sp>
      <p:sp>
        <p:nvSpPr>
          <p:cNvPr id="9" name="Hộp Văn bản 8">
            <a:extLst>
              <a:ext uri="{FF2B5EF4-FFF2-40B4-BE49-F238E27FC236}">
                <a16:creationId xmlns:a16="http://schemas.microsoft.com/office/drawing/2014/main" id="{B71E0B38-8D94-B499-E9E2-21B7EE1AEB14}"/>
              </a:ext>
            </a:extLst>
          </p:cNvPr>
          <p:cNvSpPr txBox="1"/>
          <p:nvPr/>
        </p:nvSpPr>
        <p:spPr>
          <a:xfrm>
            <a:off x="1021347" y="731680"/>
            <a:ext cx="9716955" cy="923330"/>
          </a:xfrm>
          <a:prstGeom prst="rect">
            <a:avLst/>
          </a:prstGeom>
          <a:noFill/>
        </p:spPr>
        <p:txBody>
          <a:bodyPr wrap="none" rtlCol="0">
            <a:spAutoFit/>
          </a:bodyPr>
          <a:lstStyle/>
          <a:p>
            <a:r>
              <a:rPr lang="vi-VN" b="1" dirty="0">
                <a:latin typeface="+mj-lt"/>
              </a:rPr>
              <a:t>Chữ ký tần số lỗi</a:t>
            </a:r>
            <a:r>
              <a:rPr lang="en-US" b="1" dirty="0">
                <a:latin typeface="+mj-lt"/>
              </a:rPr>
              <a:t> </a:t>
            </a:r>
            <a:r>
              <a:rPr lang="vi-VN" b="1" dirty="0">
                <a:latin typeface="+mj-lt"/>
              </a:rPr>
              <a:t>vòng bi</a:t>
            </a:r>
            <a:r>
              <a:rPr lang="en-US" b="1" dirty="0">
                <a:latin typeface="+mj-lt"/>
              </a:rPr>
              <a:t>( </a:t>
            </a:r>
            <a:r>
              <a:rPr lang="vi-VN" b="1" dirty="0">
                <a:latin typeface="+mj-lt"/>
              </a:rPr>
              <a:t>không phải số nguyên của 1X</a:t>
            </a:r>
            <a:r>
              <a:rPr lang="en-US" b="1" dirty="0">
                <a:latin typeface="+mj-lt"/>
              </a:rPr>
              <a:t>)</a:t>
            </a:r>
            <a:endParaRPr lang="vi-VN" b="1" dirty="0">
              <a:latin typeface="+mj-lt"/>
            </a:endParaRPr>
          </a:p>
          <a:p>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vòng</a:t>
            </a:r>
            <a:r>
              <a:rPr lang="en-US" dirty="0">
                <a:latin typeface="Times New Roman" panose="02020603050405020304" pitchFamily="18" charset="0"/>
                <a:cs typeface="Times New Roman" panose="02020603050405020304" pitchFamily="18" charset="0"/>
              </a:rPr>
              <a:t> bi </a:t>
            </a:r>
            <a:r>
              <a:rPr lang="en-US" dirty="0" err="1">
                <a:latin typeface="Times New Roman" panose="02020603050405020304" pitchFamily="18" charset="0"/>
                <a:cs typeface="Times New Roman" panose="02020603050405020304" pitchFamily="18" charset="0"/>
              </a:rPr>
              <a:t>cụ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viên</a:t>
            </a:r>
            <a:r>
              <a:rPr lang="en-US" dirty="0">
                <a:latin typeface="Times New Roman" panose="02020603050405020304" pitchFamily="18" charset="0"/>
                <a:cs typeface="Times New Roman" panose="02020603050405020304" pitchFamily="18" charset="0"/>
              </a:rPr>
              <a:t> bi N, </a:t>
            </a:r>
            <a:r>
              <a:rPr lang="en-US" dirty="0" err="1">
                <a:latin typeface="Times New Roman" panose="02020603050405020304" pitchFamily="18" charset="0"/>
                <a:cs typeface="Times New Roman" panose="02020603050405020304" pitchFamily="18" charset="0"/>
              </a:rPr>
              <a:t>đường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kính</a:t>
            </a:r>
            <a:r>
              <a:rPr lang="en-US" dirty="0">
                <a:latin typeface="Times New Roman" panose="02020603050405020304" pitchFamily="18" charset="0"/>
                <a:cs typeface="Times New Roman" panose="02020603050405020304" pitchFamily="18" charset="0"/>
              </a:rPr>
              <a:t> bi Bd, </a:t>
            </a:r>
            <a:r>
              <a:rPr lang="en-US" dirty="0" err="1">
                <a:latin typeface="Times New Roman" panose="02020603050405020304" pitchFamily="18" charset="0"/>
                <a:cs typeface="Times New Roman" panose="02020603050405020304" pitchFamily="18" charset="0"/>
              </a:rPr>
              <a:t>đường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kính</a:t>
            </a:r>
            <a:r>
              <a:rPr lang="en-US" dirty="0">
                <a:latin typeface="Times New Roman" panose="02020603050405020304" pitchFamily="18" charset="0"/>
                <a:cs typeface="Times New Roman" panose="02020603050405020304" pitchFamily="18" charset="0"/>
              </a:rPr>
              <a:t> pitch Pd, </a:t>
            </a:r>
            <a:r>
              <a:rPr lang="en-US" dirty="0" err="1">
                <a:latin typeface="Times New Roman" panose="02020603050405020304" pitchFamily="18" charset="0"/>
                <a:cs typeface="Times New Roman" panose="02020603050405020304" pitchFamily="18" charset="0"/>
              </a:rPr>
              <a:t>góc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tiếp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xúc</a:t>
            </a:r>
            <a:r>
              <a:rPr lang="en-US" dirty="0">
                <a:latin typeface="Times New Roman" panose="02020603050405020304" pitchFamily="18" charset="0"/>
                <a:cs typeface="Times New Roman" panose="02020603050405020304" pitchFamily="18" charset="0"/>
              </a:rPr>
              <a:t> β.</a:t>
            </a:r>
          </a:p>
          <a:p>
            <a:endParaRPr lang="en-US" dirty="0"/>
          </a:p>
        </p:txBody>
      </p:sp>
      <p:graphicFrame>
        <p:nvGraphicFramePr>
          <p:cNvPr id="4" name="Bảng 3">
            <a:extLst>
              <a:ext uri="{FF2B5EF4-FFF2-40B4-BE49-F238E27FC236}">
                <a16:creationId xmlns:a16="http://schemas.microsoft.com/office/drawing/2014/main" id="{1D19B626-C992-D55D-5624-DA0B857F5AA3}"/>
              </a:ext>
            </a:extLst>
          </p:cNvPr>
          <p:cNvGraphicFramePr>
            <a:graphicFrameLocks noGrp="1"/>
          </p:cNvGraphicFramePr>
          <p:nvPr>
            <p:extLst>
              <p:ext uri="{D42A27DB-BD31-4B8C-83A1-F6EECF244321}">
                <p14:modId xmlns:p14="http://schemas.microsoft.com/office/powerpoint/2010/main" val="824977455"/>
              </p:ext>
            </p:extLst>
          </p:nvPr>
        </p:nvGraphicFramePr>
        <p:xfrm>
          <a:off x="1142127" y="1476183"/>
          <a:ext cx="9596175" cy="4191088"/>
        </p:xfrm>
        <a:graphic>
          <a:graphicData uri="http://schemas.openxmlformats.org/drawingml/2006/table">
            <a:tbl>
              <a:tblPr>
                <a:tableStyleId>{5C22544A-7EE6-4342-B048-85BDC9FD1C3A}</a:tableStyleId>
              </a:tblPr>
              <a:tblGrid>
                <a:gridCol w="2345731">
                  <a:extLst>
                    <a:ext uri="{9D8B030D-6E8A-4147-A177-3AD203B41FA5}">
                      <a16:colId xmlns:a16="http://schemas.microsoft.com/office/drawing/2014/main" val="1373164202"/>
                    </a:ext>
                  </a:extLst>
                </a:gridCol>
                <a:gridCol w="3518598">
                  <a:extLst>
                    <a:ext uri="{9D8B030D-6E8A-4147-A177-3AD203B41FA5}">
                      <a16:colId xmlns:a16="http://schemas.microsoft.com/office/drawing/2014/main" val="2029074556"/>
                    </a:ext>
                  </a:extLst>
                </a:gridCol>
                <a:gridCol w="3731846">
                  <a:extLst>
                    <a:ext uri="{9D8B030D-6E8A-4147-A177-3AD203B41FA5}">
                      <a16:colId xmlns:a16="http://schemas.microsoft.com/office/drawing/2014/main" val="1239334927"/>
                    </a:ext>
                  </a:extLst>
                </a:gridCol>
              </a:tblGrid>
              <a:tr h="487336">
                <a:tc>
                  <a:txBody>
                    <a:bodyPr/>
                    <a:lstStyle/>
                    <a:p>
                      <a:pPr>
                        <a:buNone/>
                      </a:pPr>
                      <a:r>
                        <a:rPr lang="en-US" sz="1800" dirty="0" err="1">
                          <a:effectLst/>
                          <a:latin typeface="Times New Roman" panose="02020603050405020304" pitchFamily="18" charset="0"/>
                          <a:cs typeface="Times New Roman" panose="02020603050405020304" pitchFamily="18" charset="0"/>
                        </a:rPr>
                        <a:t>Lỗi</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a:effectLst/>
                          <a:latin typeface="Times New Roman" panose="02020603050405020304" pitchFamily="18" charset="0"/>
                          <a:cs typeface="Times New Roman" panose="02020603050405020304" pitchFamily="18" charset="0"/>
                        </a:rPr>
                        <a:t>Công thức tần số đặc trưng</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a:effectLst/>
                          <a:latin typeface="Times New Roman" panose="02020603050405020304" pitchFamily="18" charset="0"/>
                          <a:cs typeface="Times New Roman" panose="02020603050405020304" pitchFamily="18" charset="0"/>
                        </a:rPr>
                        <a:t>Chữ ký phổ</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extLst>
                  <a:ext uri="{0D108BD9-81ED-4DB2-BD59-A6C34878D82A}">
                    <a16:rowId xmlns:a16="http://schemas.microsoft.com/office/drawing/2014/main" val="3648203879"/>
                  </a:ext>
                </a:extLst>
              </a:tr>
              <a:tr h="925938">
                <a:tc>
                  <a:txBody>
                    <a:bodyPr/>
                    <a:lstStyle/>
                    <a:p>
                      <a:pPr>
                        <a:buNone/>
                      </a:pPr>
                      <a:r>
                        <a:rPr lang="en-US" sz="1800" dirty="0" err="1">
                          <a:effectLst/>
                          <a:latin typeface="Times New Roman" panose="02020603050405020304" pitchFamily="18" charset="0"/>
                          <a:cs typeface="Times New Roman" panose="02020603050405020304" pitchFamily="18" charset="0"/>
                        </a:rPr>
                        <a:t>Vòng</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ngoài</a:t>
                      </a:r>
                      <a:r>
                        <a:rPr lang="en-US" sz="1800" dirty="0">
                          <a:effectLst/>
                          <a:latin typeface="Times New Roman" panose="02020603050405020304" pitchFamily="18" charset="0"/>
                          <a:cs typeface="Times New Roman" panose="02020603050405020304" pitchFamily="18" charset="0"/>
                        </a:rPr>
                        <a:t> (BPFO)</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a:effectLst/>
                          <a:latin typeface="Times New Roman" panose="02020603050405020304" pitchFamily="18" charset="0"/>
                          <a:cs typeface="Times New Roman" panose="02020603050405020304" pitchFamily="18" charset="0"/>
                        </a:rPr>
                        <a:t>(N/2)·n·(1 − Bd/Pd·cosβ)</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a:effectLst/>
                          <a:latin typeface="Times New Roman" panose="02020603050405020304" pitchFamily="18" charset="0"/>
                          <a:cs typeface="Times New Roman" panose="02020603050405020304" pitchFamily="18" charset="0"/>
                        </a:rPr>
                        <a:t>8–10 hài của BPFO; sideband ±1X quanh BPFO → vòng ngoài lỏng trong ổ trục</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extLst>
                  <a:ext uri="{0D108BD9-81ED-4DB2-BD59-A6C34878D82A}">
                    <a16:rowId xmlns:a16="http://schemas.microsoft.com/office/drawing/2014/main" val="2284185208"/>
                  </a:ext>
                </a:extLst>
              </a:tr>
              <a:tr h="925938">
                <a:tc>
                  <a:txBody>
                    <a:bodyPr/>
                    <a:lstStyle/>
                    <a:p>
                      <a:pPr>
                        <a:buNone/>
                      </a:pPr>
                      <a:r>
                        <a:rPr lang="en-US" sz="1800">
                          <a:effectLst/>
                          <a:latin typeface="Times New Roman" panose="02020603050405020304" pitchFamily="18" charset="0"/>
                          <a:cs typeface="Times New Roman" panose="02020603050405020304" pitchFamily="18" charset="0"/>
                        </a:rPr>
                        <a:t>Vòng trong (BPFI)</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dirty="0">
                          <a:effectLst/>
                          <a:latin typeface="Times New Roman" panose="02020603050405020304" pitchFamily="18" charset="0"/>
                          <a:cs typeface="Times New Roman" panose="02020603050405020304" pitchFamily="18" charset="0"/>
                        </a:rPr>
                        <a:t>(N/2)·n·(1 + Bd/</a:t>
                      </a:r>
                      <a:r>
                        <a:rPr lang="en-US" sz="1800" dirty="0" err="1">
                          <a:effectLst/>
                          <a:latin typeface="Times New Roman" panose="02020603050405020304" pitchFamily="18" charset="0"/>
                          <a:cs typeface="Times New Roman" panose="02020603050405020304" pitchFamily="18" charset="0"/>
                        </a:rPr>
                        <a:t>Pd·cos</a:t>
                      </a:r>
                      <a:r>
                        <a:rPr lang="en-US" sz="1800" dirty="0">
                          <a:effectLst/>
                          <a:latin typeface="Times New Roman" panose="02020603050405020304" pitchFamily="18" charset="0"/>
                          <a:cs typeface="Times New Roman" panose="02020603050405020304" pitchFamily="18" charset="0"/>
                        </a:rPr>
                        <a:t>β)</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a:effectLst/>
                          <a:latin typeface="Times New Roman" panose="02020603050405020304" pitchFamily="18" charset="0"/>
                          <a:cs typeface="Times New Roman" panose="02020603050405020304" pitchFamily="18" charset="0"/>
                        </a:rPr>
                        <a:t>8–10 hài của BPFI, điều chế bởi sideband ±1X — dấu hiệu kinh điển của lỗi vòng trong</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extLst>
                  <a:ext uri="{0D108BD9-81ED-4DB2-BD59-A6C34878D82A}">
                    <a16:rowId xmlns:a16="http://schemas.microsoft.com/office/drawing/2014/main" val="2650116393"/>
                  </a:ext>
                </a:extLst>
              </a:tr>
              <a:tr h="925938">
                <a:tc>
                  <a:txBody>
                    <a:bodyPr/>
                    <a:lstStyle/>
                    <a:p>
                      <a:pPr>
                        <a:buNone/>
                      </a:pPr>
                      <a:r>
                        <a:rPr lang="en-US" sz="1800">
                          <a:effectLst/>
                          <a:latin typeface="Times New Roman" panose="02020603050405020304" pitchFamily="18" charset="0"/>
                          <a:cs typeface="Times New Roman" panose="02020603050405020304" pitchFamily="18" charset="0"/>
                        </a:rPr>
                        <a:t>Viên bi/con lăn (BSF)</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a:effectLst/>
                          <a:latin typeface="Times New Roman" panose="02020603050405020304" pitchFamily="18" charset="0"/>
                          <a:cs typeface="Times New Roman" panose="02020603050405020304" pitchFamily="18" charset="0"/>
                        </a:rPr>
                        <a:t>(Pd/2Bd)·n·[1−(Bd/Pd)²cos²β]</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a:effectLst/>
                          <a:latin typeface="Times New Roman" panose="02020603050405020304" pitchFamily="18" charset="0"/>
                          <a:cs typeface="Times New Roman" panose="02020603050405020304" pitchFamily="18" charset="0"/>
                        </a:rPr>
                        <a:t>Hài bậc 2×BSF thường trội nhất, sideband cách nhau bằng FTF</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extLst>
                  <a:ext uri="{0D108BD9-81ED-4DB2-BD59-A6C34878D82A}">
                    <a16:rowId xmlns:a16="http://schemas.microsoft.com/office/drawing/2014/main" val="2823814034"/>
                  </a:ext>
                </a:extLst>
              </a:tr>
              <a:tr h="925938">
                <a:tc>
                  <a:txBody>
                    <a:bodyPr/>
                    <a:lstStyle/>
                    <a:p>
                      <a:pPr>
                        <a:buNone/>
                      </a:pPr>
                      <a:r>
                        <a:rPr lang="en-US" sz="1800">
                          <a:effectLst/>
                          <a:latin typeface="Times New Roman" panose="02020603050405020304" pitchFamily="18" charset="0"/>
                          <a:cs typeface="Times New Roman" panose="02020603050405020304" pitchFamily="18" charset="0"/>
                        </a:rPr>
                        <a:t>Vòng cách (FTF/Cage)</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a:effectLst/>
                          <a:latin typeface="Times New Roman" panose="02020603050405020304" pitchFamily="18" charset="0"/>
                          <a:cs typeface="Times New Roman" panose="02020603050405020304" pitchFamily="18" charset="0"/>
                        </a:rPr>
                        <a:t>(n/2)(1 − Bd/Pd·cosβ)</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tc>
                  <a:txBody>
                    <a:bodyPr/>
                    <a:lstStyle/>
                    <a:p>
                      <a:pPr>
                        <a:buNone/>
                      </a:pPr>
                      <a:r>
                        <a:rPr lang="en-US" sz="1800" dirty="0">
                          <a:effectLst/>
                          <a:latin typeface="Times New Roman" panose="02020603050405020304" pitchFamily="18" charset="0"/>
                          <a:cs typeface="Times New Roman" panose="02020603050405020304" pitchFamily="18" charset="0"/>
                        </a:rPr>
                        <a:t>Thường </a:t>
                      </a:r>
                      <a:r>
                        <a:rPr lang="en-US" sz="1800" dirty="0" err="1">
                          <a:effectLst/>
                          <a:latin typeface="Times New Roman" panose="02020603050405020304" pitchFamily="18" charset="0"/>
                          <a:cs typeface="Times New Roman" panose="02020603050405020304" pitchFamily="18" charset="0"/>
                        </a:rPr>
                        <a:t>đi</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kèm</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lỗi</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vòng</a:t>
                      </a:r>
                      <a:r>
                        <a:rPr lang="en-US" sz="1800" dirty="0">
                          <a:effectLst/>
                          <a:latin typeface="Times New Roman" panose="02020603050405020304" pitchFamily="18" charset="0"/>
                          <a:cs typeface="Times New Roman" panose="02020603050405020304" pitchFamily="18" charset="0"/>
                        </a:rPr>
                        <a:t> bi </a:t>
                      </a:r>
                      <a:r>
                        <a:rPr lang="en-US" sz="1800" dirty="0" err="1">
                          <a:effectLst/>
                          <a:latin typeface="Times New Roman" panose="02020603050405020304" pitchFamily="18" charset="0"/>
                          <a:cs typeface="Times New Roman" panose="02020603050405020304" pitchFamily="18" charset="0"/>
                        </a:rPr>
                        <a:t>khác</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biên</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độ</a:t>
                      </a:r>
                      <a:r>
                        <a:rPr lang="en-US" sz="1800" dirty="0">
                          <a:effectLst/>
                          <a:latin typeface="Times New Roman" panose="02020603050405020304" pitchFamily="18" charset="0"/>
                          <a:cs typeface="Times New Roman" panose="02020603050405020304" pitchFamily="18" charset="0"/>
                        </a:rPr>
                        <a:t> dao </a:t>
                      </a:r>
                      <a:r>
                        <a:rPr lang="en-US" sz="1800" dirty="0" err="1">
                          <a:effectLst/>
                          <a:latin typeface="Times New Roman" panose="02020603050405020304" pitchFamily="18" charset="0"/>
                          <a:cs typeface="Times New Roman" panose="02020603050405020304" pitchFamily="18" charset="0"/>
                        </a:rPr>
                        <a:t>động</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thất</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thường</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 marR="6350" marT="0" marB="0">
                    <a:solidFill>
                      <a:schemeClr val="bg1"/>
                    </a:solidFill>
                  </a:tcPr>
                </a:tc>
                <a:extLst>
                  <a:ext uri="{0D108BD9-81ED-4DB2-BD59-A6C34878D82A}">
                    <a16:rowId xmlns:a16="http://schemas.microsoft.com/office/drawing/2014/main" val="507872966"/>
                  </a:ext>
                </a:extLst>
              </a:tr>
            </a:tbl>
          </a:graphicData>
        </a:graphic>
      </p:graphicFrame>
      <p:sp>
        <p:nvSpPr>
          <p:cNvPr id="6" name="Hộp Văn bản 5">
            <a:extLst>
              <a:ext uri="{FF2B5EF4-FFF2-40B4-BE49-F238E27FC236}">
                <a16:creationId xmlns:a16="http://schemas.microsoft.com/office/drawing/2014/main" id="{D830F0BE-6E9F-7354-384D-8DEDCC8DD41E}"/>
              </a:ext>
            </a:extLst>
          </p:cNvPr>
          <p:cNvSpPr txBox="1"/>
          <p:nvPr/>
        </p:nvSpPr>
        <p:spPr>
          <a:xfrm>
            <a:off x="1007555" y="5765443"/>
            <a:ext cx="10176889" cy="646331"/>
          </a:xfrm>
          <a:prstGeom prst="rect">
            <a:avLst/>
          </a:prstGeom>
          <a:noFill/>
        </p:spPr>
        <p:txBody>
          <a:bodyPr wrap="none" rtlCol="0">
            <a:spAutoFit/>
          </a:bodyPr>
          <a:lstStyle/>
          <a:p>
            <a:r>
              <a:rPr lang="vi-VN" dirty="0">
                <a:latin typeface="Times New Roman" panose="02020603050405020304" pitchFamily="18" charset="0"/>
                <a:cs typeface="Times New Roman" panose="02020603050405020304" pitchFamily="18" charset="0"/>
              </a:rPr>
              <a:t>L</a:t>
            </a:r>
            <a:r>
              <a:rPr lang="en-US" dirty="0" err="1">
                <a:latin typeface="Times New Roman" panose="02020603050405020304" pitchFamily="18" charset="0"/>
                <a:cs typeface="Times New Roman" panose="02020603050405020304" pitchFamily="18" charset="0"/>
              </a:rPr>
              <a:t>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vòng</a:t>
            </a:r>
            <a:r>
              <a:rPr lang="en-US" dirty="0">
                <a:latin typeface="Times New Roman" panose="02020603050405020304" pitchFamily="18" charset="0"/>
                <a:cs typeface="Times New Roman" panose="02020603050405020304" pitchFamily="18" charset="0"/>
              </a:rPr>
              <a:t> bi </a:t>
            </a:r>
            <a:r>
              <a:rPr lang="en-US" dirty="0" err="1">
                <a:latin typeface="Times New Roman" panose="02020603050405020304" pitchFamily="18" charset="0"/>
                <a:cs typeface="Times New Roman" panose="02020603050405020304" pitchFamily="18" charset="0"/>
              </a:rPr>
              <a:t>giai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sớm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nứt</a:t>
            </a:r>
            <a:r>
              <a:rPr lang="en-US" dirty="0">
                <a:latin typeface="Times New Roman" panose="02020603050405020304" pitchFamily="18" charset="0"/>
                <a:cs typeface="Times New Roman" panose="02020603050405020304" pitchFamily="18" charset="0"/>
              </a:rPr>
              <a:t> vi </a:t>
            </a:r>
            <a:r>
              <a:rPr lang="en-US" dirty="0" err="1">
                <a:latin typeface="Times New Roman" panose="02020603050405020304" pitchFamily="18" charset="0"/>
                <a:cs typeface="Times New Roman" panose="02020603050405020304" pitchFamily="18" charset="0"/>
              </a:rPr>
              <a:t>mô</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rõ</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phổ</a:t>
            </a:r>
            <a:r>
              <a:rPr lang="en-US" dirty="0">
                <a:latin typeface="Times New Roman" panose="02020603050405020304" pitchFamily="18" charset="0"/>
                <a:cs typeface="Times New Roman" panose="02020603050405020304" pitchFamily="18" charset="0"/>
              </a:rPr>
              <a:t> bao (envelope spectrum) </a:t>
            </a:r>
            <a:r>
              <a:rPr lang="en-US" dirty="0" err="1">
                <a:latin typeface="Times New Roman" panose="02020603050405020304" pitchFamily="18" charset="0"/>
                <a:cs typeface="Times New Roman" panose="02020603050405020304" pitchFamily="18" charset="0"/>
              </a:rPr>
              <a:t>sau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khi</a:t>
            </a:r>
            <a:endParaRPr lang="vi-VN"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lọc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chế</a:t>
            </a:r>
            <a:r>
              <a:rPr lang="en-US" dirty="0">
                <a:latin typeface="Times New Roman" panose="02020603050405020304" pitchFamily="18" charset="0"/>
                <a:cs typeface="Times New Roman" panose="02020603050405020304" pitchFamily="18" charset="0"/>
              </a:rPr>
              <a:t> (demodulation) — </a:t>
            </a:r>
            <a:r>
              <a:rPr lang="en-US" dirty="0" err="1">
                <a:latin typeface="Times New Roman" panose="02020603050405020304" pitchFamily="18" charset="0"/>
                <a:cs typeface="Times New Roman" panose="02020603050405020304" pitchFamily="18" charset="0"/>
              </a:rPr>
              <a:t>phổ</a:t>
            </a:r>
            <a:r>
              <a:rPr lang="en-US" dirty="0">
                <a:latin typeface="Times New Roman" panose="02020603050405020304" pitchFamily="18" charset="0"/>
                <a:cs typeface="Times New Roman" panose="02020603050405020304" pitchFamily="18" charset="0"/>
              </a:rPr>
              <a:t> FFT </a:t>
            </a:r>
            <a:r>
              <a:rPr lang="en-US" dirty="0" err="1">
                <a:latin typeface="Times New Roman" panose="02020603050405020304" pitchFamily="18" charset="0"/>
                <a:cs typeface="Times New Roman" panose="02020603050405020304" pitchFamily="18" charset="0"/>
              </a:rPr>
              <a:t>thô</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thường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muộn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đoạn</a:t>
            </a:r>
            <a:r>
              <a:rPr lang="en-US" dirty="0">
                <a:latin typeface="Times New Roman" panose="02020603050405020304" pitchFamily="18" charset="0"/>
                <a:cs typeface="Times New Roman" panose="02020603050405020304" pitchFamily="18" charset="0"/>
              </a:rPr>
              <a:t> 2–3 </a:t>
            </a:r>
            <a:r>
              <a:rPr lang="en-US" dirty="0" err="1">
                <a:latin typeface="Times New Roman" panose="02020603050405020304" pitchFamily="18" charset="0"/>
                <a:cs typeface="Times New Roman" panose="02020603050405020304" pitchFamily="18" charset="0"/>
              </a:rPr>
              <a:t>trở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lên</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89916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15FC8-CEF6-756E-8FD8-A99850D810B5}"/>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2343A7DF-13CB-3816-AC92-92F9F5D04902}"/>
              </a:ext>
            </a:extLst>
          </p:cNvPr>
          <p:cNvSpPr txBox="1"/>
          <p:nvPr/>
        </p:nvSpPr>
        <p:spPr>
          <a:xfrm>
            <a:off x="4301412" y="279918"/>
            <a:ext cx="3425168" cy="461665"/>
          </a:xfrm>
          <a:prstGeom prst="rect">
            <a:avLst/>
          </a:prstGeom>
          <a:noFill/>
        </p:spPr>
        <p:txBody>
          <a:bodyPr wrap="none" rtlCol="0">
            <a:spAutoFit/>
          </a:bodyPr>
          <a:lstStyle/>
          <a:p>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tích</a:t>
            </a:r>
            <a:r>
              <a:rPr lang="en-US" sz="2400" dirty="0">
                <a:latin typeface="Times New Roman" panose="02020603050405020304" pitchFamily="18" charset="0"/>
                <a:cs typeface="Times New Roman" panose="02020603050405020304" pitchFamily="18" charset="0"/>
              </a:rPr>
              <a:t> FFT </a:t>
            </a:r>
            <a:r>
              <a:rPr lang="en-US" sz="2400" dirty="0" err="1">
                <a:latin typeface="Times New Roman" panose="02020603050405020304" pitchFamily="18" charset="0"/>
                <a:cs typeface="Times New Roman" panose="02020603050405020304" pitchFamily="18" charset="0"/>
              </a:rPr>
              <a:t>chuẩn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đoán</a:t>
            </a:r>
            <a:endParaRPr lang="en-US" sz="2400" dirty="0">
              <a:latin typeface="Times New Roman" panose="02020603050405020304" pitchFamily="18" charset="0"/>
              <a:cs typeface="Times New Roman" panose="02020603050405020304" pitchFamily="18" charset="0"/>
            </a:endParaRPr>
          </a:p>
        </p:txBody>
      </p:sp>
      <p:sp>
        <p:nvSpPr>
          <p:cNvPr id="5" name="Hộp Văn bản 4">
            <a:extLst>
              <a:ext uri="{FF2B5EF4-FFF2-40B4-BE49-F238E27FC236}">
                <a16:creationId xmlns:a16="http://schemas.microsoft.com/office/drawing/2014/main" id="{FFADE504-28F8-9BE1-3DB9-432660B30753}"/>
              </a:ext>
            </a:extLst>
          </p:cNvPr>
          <p:cNvSpPr txBox="1"/>
          <p:nvPr/>
        </p:nvSpPr>
        <p:spPr>
          <a:xfrm>
            <a:off x="2713383" y="3130826"/>
            <a:ext cx="184731" cy="369332"/>
          </a:xfrm>
          <a:prstGeom prst="rect">
            <a:avLst/>
          </a:prstGeom>
          <a:noFill/>
        </p:spPr>
        <p:txBody>
          <a:bodyPr wrap="none" rtlCol="0">
            <a:spAutoFit/>
          </a:bodyPr>
          <a:lstStyle/>
          <a:p>
            <a:endParaRPr lang="en-US" dirty="0"/>
          </a:p>
        </p:txBody>
      </p:sp>
      <p:sp>
        <p:nvSpPr>
          <p:cNvPr id="9" name="Hộp Văn bản 8">
            <a:extLst>
              <a:ext uri="{FF2B5EF4-FFF2-40B4-BE49-F238E27FC236}">
                <a16:creationId xmlns:a16="http://schemas.microsoft.com/office/drawing/2014/main" id="{FAC0128F-7B5A-3CD0-491D-339EBD321294}"/>
              </a:ext>
            </a:extLst>
          </p:cNvPr>
          <p:cNvSpPr txBox="1"/>
          <p:nvPr/>
        </p:nvSpPr>
        <p:spPr>
          <a:xfrm>
            <a:off x="1021347" y="731680"/>
            <a:ext cx="4092787" cy="369332"/>
          </a:xfrm>
          <a:prstGeom prst="rect">
            <a:avLst/>
          </a:prstGeom>
          <a:noFill/>
        </p:spPr>
        <p:txBody>
          <a:bodyPr wrap="none" rtlCol="0">
            <a:spAutoFit/>
          </a:bodyPr>
          <a:lstStyle/>
          <a:p>
            <a:r>
              <a:rPr lang="vi-VN" b="1" dirty="0">
                <a:latin typeface="+mj-lt"/>
              </a:rPr>
              <a:t>Chữ ký tần số lỗi</a:t>
            </a:r>
            <a:r>
              <a:rPr lang="en-US" b="1" dirty="0">
                <a:latin typeface="+mj-lt"/>
              </a:rPr>
              <a:t> </a:t>
            </a:r>
            <a:r>
              <a:rPr lang="vi-VN" b="1" dirty="0">
                <a:latin typeface="+mj-lt"/>
              </a:rPr>
              <a:t>điện</a:t>
            </a:r>
            <a:r>
              <a:rPr lang="en-US" b="1" dirty="0">
                <a:latin typeface="+mj-lt"/>
              </a:rPr>
              <a:t>( </a:t>
            </a:r>
            <a:r>
              <a:rPr lang="vi-VN" b="1" dirty="0">
                <a:latin typeface="+mj-lt"/>
              </a:rPr>
              <a:t>đặc thù động cơ</a:t>
            </a:r>
            <a:r>
              <a:rPr lang="en-US" b="1" dirty="0">
                <a:latin typeface="+mj-lt"/>
              </a:rPr>
              <a:t>)</a:t>
            </a:r>
            <a:endParaRPr lang="vi-VN" b="1" dirty="0">
              <a:latin typeface="+mj-lt"/>
            </a:endParaRPr>
          </a:p>
        </p:txBody>
      </p:sp>
      <p:sp>
        <p:nvSpPr>
          <p:cNvPr id="6" name="Hộp Văn bản 5">
            <a:extLst>
              <a:ext uri="{FF2B5EF4-FFF2-40B4-BE49-F238E27FC236}">
                <a16:creationId xmlns:a16="http://schemas.microsoft.com/office/drawing/2014/main" id="{1905F7B3-8646-7169-ADF0-222162FC02D6}"/>
              </a:ext>
            </a:extLst>
          </p:cNvPr>
          <p:cNvSpPr txBox="1"/>
          <p:nvPr/>
        </p:nvSpPr>
        <p:spPr>
          <a:xfrm>
            <a:off x="1007555" y="1146422"/>
            <a:ext cx="11070723" cy="923330"/>
          </a:xfrm>
          <a:prstGeom prst="rect">
            <a:avLst/>
          </a:prstGeom>
          <a:noFill/>
        </p:spPr>
        <p:txBody>
          <a:bodyPr wrap="none" rtlCol="0">
            <a:spAutoFit/>
          </a:bodyPr>
          <a:lstStyle/>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Thanh </a:t>
            </a:r>
            <a:r>
              <a:rPr lang="en-US" dirty="0" err="1">
                <a:latin typeface="Times New Roman" panose="02020603050405020304" pitchFamily="18" charset="0"/>
                <a:cs typeface="Times New Roman" panose="02020603050405020304" pitchFamily="18" charset="0"/>
              </a:rPr>
              <a:t>dẫn</a:t>
            </a:r>
            <a:r>
              <a:rPr lang="en-US" dirty="0">
                <a:latin typeface="Times New Roman" panose="02020603050405020304" pitchFamily="18" charset="0"/>
                <a:cs typeface="Times New Roman" panose="02020603050405020304" pitchFamily="18" charset="0"/>
              </a:rPr>
              <a:t> rotor </a:t>
            </a:r>
            <a:r>
              <a:rPr lang="en-US" dirty="0" err="1">
                <a:latin typeface="Times New Roman" panose="02020603050405020304" pitchFamily="18" charset="0"/>
                <a:cs typeface="Times New Roman" panose="02020603050405020304" pitchFamily="18" charset="0"/>
              </a:rPr>
              <a:t>gãy</a:t>
            </a:r>
            <a:r>
              <a:rPr lang="en-US" dirty="0">
                <a:latin typeface="Times New Roman" panose="02020603050405020304" pitchFamily="18" charset="0"/>
                <a:cs typeface="Times New Roman" panose="02020603050405020304" pitchFamily="18" charset="0"/>
              </a:rPr>
              <a:t> (broken rotor bar): sideband </a:t>
            </a:r>
            <a:r>
              <a:rPr lang="en-US" dirty="0" err="1">
                <a:latin typeface="Times New Roman" panose="02020603050405020304" pitchFamily="18" charset="0"/>
                <a:cs typeface="Times New Roman" panose="02020603050405020304" pitchFamily="18" charset="0"/>
              </a:rPr>
              <a:t>quanh</a:t>
            </a:r>
            <a:r>
              <a:rPr lang="en-US" dirty="0">
                <a:latin typeface="Times New Roman" panose="02020603050405020304" pitchFamily="18" charset="0"/>
                <a:cs typeface="Times New Roman" panose="02020603050405020304" pitchFamily="18" charset="0"/>
              </a:rPr>
              <a:t> 1X </a:t>
            </a:r>
            <a:r>
              <a:rPr lang="en-US" dirty="0" err="1">
                <a:latin typeface="Times New Roman" panose="02020603050405020304" pitchFamily="18" charset="0"/>
                <a:cs typeface="Times New Roman" panose="02020603050405020304" pitchFamily="18" charset="0"/>
              </a:rPr>
              <a:t>cách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nhau</a:t>
            </a:r>
            <a:r>
              <a:rPr lang="en-US" dirty="0">
                <a:latin typeface="Times New Roman" panose="02020603050405020304" pitchFamily="18" charset="0"/>
                <a:cs typeface="Times New Roman" panose="02020603050405020304" pitchFamily="18" charset="0"/>
              </a:rPr>
              <a:t> 2×s×f_line (s =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trượt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f_line</a:t>
            </a:r>
            <a:r>
              <a:rPr lang="en-US" dirty="0">
                <a:latin typeface="Times New Roman" panose="02020603050405020304" pitchFamily="18" charset="0"/>
                <a:cs typeface="Times New Roman" panose="02020603050405020304" pitchFamily="18" charset="0"/>
              </a:rPr>
              <a:t> = 50/60Hz).</a:t>
            </a:r>
          </a:p>
          <a:p>
            <a:pPr marL="285750" lvl="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Lệch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tâm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khí</a:t>
            </a:r>
            <a:r>
              <a:rPr lang="en-US" dirty="0">
                <a:latin typeface="Times New Roman" panose="02020603050405020304" pitchFamily="18" charset="0"/>
                <a:cs typeface="Times New Roman" panose="02020603050405020304" pitchFamily="18" charset="0"/>
              </a:rPr>
              <a:t> (air-gap eccentricity): </a:t>
            </a:r>
            <a:r>
              <a:rPr lang="en-US" dirty="0" err="1">
                <a:latin typeface="Times New Roman" panose="02020603050405020304" pitchFamily="18" charset="0"/>
                <a:cs typeface="Times New Roman" panose="02020603050405020304" pitchFamily="18" charset="0"/>
              </a:rPr>
              <a:t>đỉnh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2×f_line ± </a:t>
            </a:r>
            <a:r>
              <a:rPr lang="en-US" dirty="0" err="1">
                <a:latin typeface="Times New Roman" panose="02020603050405020304" pitchFamily="18" charset="0"/>
                <a:cs typeface="Times New Roman" panose="02020603050405020304" pitchFamily="18" charset="0"/>
              </a:rPr>
              <a:t>tần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quay,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cực</a:t>
            </a:r>
            <a:r>
              <a:rPr lang="en-US"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điện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stato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đỉnh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2×f_line (100Hz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lưới</a:t>
            </a:r>
            <a:r>
              <a:rPr lang="en-US" dirty="0">
                <a:latin typeface="Times New Roman" panose="02020603050405020304" pitchFamily="18" charset="0"/>
                <a:cs typeface="Times New Roman" panose="02020603050405020304" pitchFamily="18" charset="0"/>
              </a:rPr>
              <a:t> 50Hz)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thuộc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đổi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tải</a:t>
            </a:r>
            <a:r>
              <a:rPr lang="en-US" dirty="0">
                <a:latin typeface="Times New Roman" panose="02020603050405020304" pitchFamily="18" charset="0"/>
                <a:cs typeface="Times New Roman" panose="02020603050405020304" pitchFamily="18" charset="0"/>
              </a:rPr>
              <a:t>.</a:t>
            </a:r>
          </a:p>
        </p:txBody>
      </p:sp>
      <p:sp>
        <p:nvSpPr>
          <p:cNvPr id="3" name="Hộp Văn bản 2">
            <a:extLst>
              <a:ext uri="{FF2B5EF4-FFF2-40B4-BE49-F238E27FC236}">
                <a16:creationId xmlns:a16="http://schemas.microsoft.com/office/drawing/2014/main" id="{88EC9E55-6193-40B0-B062-716A2B0DC606}"/>
              </a:ext>
            </a:extLst>
          </p:cNvPr>
          <p:cNvSpPr txBox="1"/>
          <p:nvPr/>
        </p:nvSpPr>
        <p:spPr>
          <a:xfrm>
            <a:off x="1021347" y="2115162"/>
            <a:ext cx="10967426" cy="1754326"/>
          </a:xfrm>
          <a:prstGeom prst="rect">
            <a:avLst/>
          </a:prstGeom>
          <a:noFill/>
        </p:spPr>
        <p:txBody>
          <a:bodyPr wrap="none" rtlCol="0">
            <a:spAutoFit/>
          </a:bodyPr>
          <a:lstStyle/>
          <a:p>
            <a:r>
              <a:rPr lang="vi-VN" b="1" dirty="0">
                <a:latin typeface="+mj-lt"/>
              </a:rPr>
              <a:t>Tần số ăn khớp thủy nén</a:t>
            </a:r>
          </a:p>
          <a:p>
            <a:r>
              <a:rPr lang="en-US" dirty="0" err="1">
                <a:latin typeface="Times New Roman" panose="02020603050405020304" pitchFamily="18" charset="0"/>
                <a:cs typeface="Times New Roman" panose="02020603050405020304" pitchFamily="18" charset="0"/>
              </a:rPr>
              <a:t>Đặc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thù</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riêng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nén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dõi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thêm</a:t>
            </a:r>
            <a:r>
              <a:rPr lang="en-US" dirty="0">
                <a:latin typeface="Times New Roman" panose="02020603050405020304" pitchFamily="18" charset="0"/>
                <a:cs typeface="Times New Roman" panose="02020603050405020304" pitchFamily="18" charset="0"/>
              </a:rPr>
              <a:t>:</a:t>
            </a:r>
          </a:p>
          <a:p>
            <a:r>
              <a:rPr lang="en-US" dirty="0" err="1">
                <a:latin typeface="Times New Roman" panose="02020603050405020304" pitchFamily="18" charset="0"/>
                <a:cs typeface="Times New Roman" panose="02020603050405020304" pitchFamily="18" charset="0"/>
              </a:rPr>
              <a:t>f_mesh</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f_rot</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số_thùy_đực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a:t>
            </a:r>
            <a:r>
              <a:rPr lang="en-US" dirty="0">
                <a:latin typeface="Times New Roman" panose="02020603050405020304" pitchFamily="18" charset="0"/>
                <a:cs typeface="Times New Roman" panose="02020603050405020304" pitchFamily="18" charset="0"/>
              </a:rPr>
              <a:t> 4 </a:t>
            </a:r>
            <a:r>
              <a:rPr lang="en-US" dirty="0" err="1">
                <a:latin typeface="Times New Roman" panose="02020603050405020304" pitchFamily="18" charset="0"/>
                <a:cs typeface="Times New Roman" panose="02020603050405020304" pitchFamily="18" charset="0"/>
              </a:rPr>
              <a:t>thùy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đực</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f_mesh</a:t>
            </a:r>
            <a:r>
              <a:rPr lang="en-US" dirty="0">
                <a:latin typeface="Times New Roman" panose="02020603050405020304" pitchFamily="18" charset="0"/>
                <a:cs typeface="Times New Roman" panose="02020603050405020304" pitchFamily="18" charset="0"/>
              </a:rPr>
              <a:t> = 4×f_rot ≈ 196Hz)</a:t>
            </a:r>
          </a:p>
          <a:p>
            <a:r>
              <a:rPr lang="en-US" dirty="0">
                <a:latin typeface="Times New Roman" panose="02020603050405020304" pitchFamily="18" charset="0"/>
                <a:cs typeface="Times New Roman" panose="02020603050405020304" pitchFamily="18" charset="0"/>
              </a:rPr>
              <a:t>Đỉnh </a:t>
            </a:r>
            <a:r>
              <a:rPr lang="en-US" dirty="0" err="1">
                <a:latin typeface="Times New Roman" panose="02020603050405020304" pitchFamily="18" charset="0"/>
                <a:cs typeface="Times New Roman" panose="02020603050405020304" pitchFamily="18" charset="0"/>
              </a:rPr>
              <a:t>mạnh</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hài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f_mesh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thường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f_mesh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mới</a:t>
            </a:r>
            <a:r>
              <a:rPr lang="en-US" dirty="0">
                <a:latin typeface="Times New Roman" panose="02020603050405020304" pitchFamily="18" charset="0"/>
                <a:cs typeface="Times New Roman" panose="02020603050405020304" pitchFamily="18" charset="0"/>
              </a:rPr>
              <a:t> </a:t>
            </a:r>
            <a:endParaRPr lang="vi-VN"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dấu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mòn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hư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hỏng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mặt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thùy</a:t>
            </a:r>
            <a:r>
              <a:rPr lang="en-US"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3420101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2C446-4B11-4E44-4C98-C8E126D5C678}"/>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A6A8F79A-F155-F88B-9AF8-4EDAD14120A7}"/>
              </a:ext>
            </a:extLst>
          </p:cNvPr>
          <p:cNvSpPr txBox="1"/>
          <p:nvPr/>
        </p:nvSpPr>
        <p:spPr>
          <a:xfrm>
            <a:off x="4301412" y="279918"/>
            <a:ext cx="3697231" cy="492443"/>
          </a:xfrm>
          <a:prstGeom prst="rect">
            <a:avLst/>
          </a:prstGeom>
          <a:noFill/>
        </p:spPr>
        <p:txBody>
          <a:bodyPr wrap="none" rtlCol="0">
            <a:spAutoFit/>
          </a:bodyPr>
          <a:lstStyle/>
          <a:p>
            <a:r>
              <a:rPr lang="en-US" sz="2600" dirty="0" err="1">
                <a:latin typeface="Times New Roman" panose="02020603050405020304" pitchFamily="18" charset="0"/>
                <a:cs typeface="Times New Roman" panose="02020603050405020304" pitchFamily="18" charset="0"/>
              </a:rPr>
              <a:t>Phân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tích</a:t>
            </a:r>
            <a:r>
              <a:rPr lang="en-US" sz="2600" dirty="0">
                <a:latin typeface="Times New Roman" panose="02020603050405020304" pitchFamily="18" charset="0"/>
                <a:cs typeface="Times New Roman" panose="02020603050405020304" pitchFamily="18" charset="0"/>
              </a:rPr>
              <a:t> FFT </a:t>
            </a:r>
            <a:r>
              <a:rPr lang="en-US" sz="2600" dirty="0" err="1">
                <a:latin typeface="Times New Roman" panose="02020603050405020304" pitchFamily="18" charset="0"/>
                <a:cs typeface="Times New Roman" panose="02020603050405020304" pitchFamily="18" charset="0"/>
              </a:rPr>
              <a:t>chuẩn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đoán</a:t>
            </a:r>
            <a:endParaRPr lang="en-US" sz="2600" dirty="0">
              <a:latin typeface="Times New Roman" panose="02020603050405020304" pitchFamily="18" charset="0"/>
              <a:cs typeface="Times New Roman" panose="02020603050405020304" pitchFamily="18" charset="0"/>
            </a:endParaRPr>
          </a:p>
        </p:txBody>
      </p:sp>
      <p:sp>
        <p:nvSpPr>
          <p:cNvPr id="5" name="Hộp Văn bản 4">
            <a:extLst>
              <a:ext uri="{FF2B5EF4-FFF2-40B4-BE49-F238E27FC236}">
                <a16:creationId xmlns:a16="http://schemas.microsoft.com/office/drawing/2014/main" id="{76917718-8526-8DD3-00CB-AC79C2B934F7}"/>
              </a:ext>
            </a:extLst>
          </p:cNvPr>
          <p:cNvSpPr txBox="1"/>
          <p:nvPr/>
        </p:nvSpPr>
        <p:spPr>
          <a:xfrm>
            <a:off x="2713383" y="3130826"/>
            <a:ext cx="184731" cy="369332"/>
          </a:xfrm>
          <a:prstGeom prst="rect">
            <a:avLst/>
          </a:prstGeom>
          <a:noFill/>
        </p:spPr>
        <p:txBody>
          <a:bodyPr wrap="none" rtlCol="0">
            <a:spAutoFit/>
          </a:bodyPr>
          <a:lstStyle/>
          <a:p>
            <a:endParaRPr lang="en-US" dirty="0"/>
          </a:p>
        </p:txBody>
      </p:sp>
      <p:sp>
        <p:nvSpPr>
          <p:cNvPr id="9" name="Hộp Văn bản 8">
            <a:extLst>
              <a:ext uri="{FF2B5EF4-FFF2-40B4-BE49-F238E27FC236}">
                <a16:creationId xmlns:a16="http://schemas.microsoft.com/office/drawing/2014/main" id="{E54A6223-828F-132F-7E38-650E949F516A}"/>
              </a:ext>
            </a:extLst>
          </p:cNvPr>
          <p:cNvSpPr txBox="1"/>
          <p:nvPr/>
        </p:nvSpPr>
        <p:spPr>
          <a:xfrm>
            <a:off x="1021347" y="731680"/>
            <a:ext cx="4277774" cy="369332"/>
          </a:xfrm>
          <a:prstGeom prst="rect">
            <a:avLst/>
          </a:prstGeom>
          <a:noFill/>
        </p:spPr>
        <p:txBody>
          <a:bodyPr wrap="none" rtlCol="0">
            <a:spAutoFit/>
          </a:bodyPr>
          <a:lstStyle/>
          <a:p>
            <a:r>
              <a:rPr lang="en-US" b="1" dirty="0" err="1">
                <a:latin typeface="Times New Roman" panose="02020603050405020304" pitchFamily="18" charset="0"/>
                <a:cs typeface="Times New Roman" panose="02020603050405020304" pitchFamily="18" charset="0"/>
              </a:rPr>
              <a:t>Thuật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toán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quét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chẩn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đoán</a:t>
            </a:r>
            <a:r>
              <a:rPr lang="en-US" b="1" dirty="0">
                <a:latin typeface="Times New Roman" panose="02020603050405020304" pitchFamily="18" charset="0"/>
                <a:cs typeface="Times New Roman" panose="02020603050405020304" pitchFamily="18" charset="0"/>
              </a:rPr>
              <a:t> FFT </a:t>
            </a:r>
            <a:r>
              <a:rPr lang="en-US" b="1" dirty="0" err="1">
                <a:latin typeface="Times New Roman" panose="02020603050405020304" pitchFamily="18" charset="0"/>
                <a:cs typeface="Times New Roman" panose="02020603050405020304" pitchFamily="18" charset="0"/>
              </a:rPr>
              <a:t>tổng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hợp</a:t>
            </a:r>
            <a:endParaRPr lang="vi-VN" b="1" dirty="0">
              <a:latin typeface="Times New Roman" panose="02020603050405020304" pitchFamily="18" charset="0"/>
              <a:cs typeface="Times New Roman" panose="02020603050405020304" pitchFamily="18" charset="0"/>
            </a:endParaRPr>
          </a:p>
        </p:txBody>
      </p:sp>
      <p:sp>
        <p:nvSpPr>
          <p:cNvPr id="6" name="Hộp Văn bản 5">
            <a:extLst>
              <a:ext uri="{FF2B5EF4-FFF2-40B4-BE49-F238E27FC236}">
                <a16:creationId xmlns:a16="http://schemas.microsoft.com/office/drawing/2014/main" id="{3A320904-6E2C-26C2-2CBF-7656F26925BE}"/>
              </a:ext>
            </a:extLst>
          </p:cNvPr>
          <p:cNvSpPr txBox="1"/>
          <p:nvPr/>
        </p:nvSpPr>
        <p:spPr>
          <a:xfrm>
            <a:off x="1007555" y="1146422"/>
            <a:ext cx="9592021" cy="4247317"/>
          </a:xfrm>
          <a:prstGeom prst="rect">
            <a:avLst/>
          </a:prstGeom>
          <a:noFill/>
        </p:spPr>
        <p:txBody>
          <a:bodyPr wrap="square" rtlCol="0">
            <a:spAutoFit/>
          </a:bodyPr>
          <a:lstStyle/>
          <a:p>
            <a:pPr lvl="0"/>
            <a:r>
              <a:rPr lang="en-US" dirty="0">
                <a:latin typeface="Times New Roman" panose="02020603050405020304" pitchFamily="18" charset="0"/>
                <a:cs typeface="Times New Roman" panose="02020603050405020304" pitchFamily="18" charset="0"/>
              </a:rPr>
              <a:t>NẾU RMS (</a:t>
            </a:r>
            <a:r>
              <a:rPr lang="en-US" dirty="0" err="1">
                <a:latin typeface="Times New Roman" panose="02020603050405020304" pitchFamily="18" charset="0"/>
                <a:cs typeface="Times New Roman" panose="02020603050405020304" pitchFamily="18" charset="0"/>
              </a:rPr>
              <a:t>Bước</a:t>
            </a:r>
            <a:r>
              <a:rPr lang="en-US" dirty="0">
                <a:latin typeface="Times New Roman" panose="02020603050405020304" pitchFamily="18" charset="0"/>
                <a:cs typeface="Times New Roman" panose="02020603050405020304" pitchFamily="18" charset="0"/>
              </a:rPr>
              <a:t> 3</a:t>
            </a:r>
            <a:r>
              <a:rPr lang="vi-VN" dirty="0">
                <a:latin typeface="Times New Roman" panose="02020603050405020304" pitchFamily="18" charset="0"/>
                <a:cs typeface="Times New Roman" panose="02020603050405020304" pitchFamily="18" charset="0"/>
              </a:rPr>
              <a:t> thuật toán đánh giá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vào</a:t>
            </a:r>
            <a:r>
              <a:rPr lang="en-US" dirty="0">
                <a:latin typeface="Times New Roman" panose="02020603050405020304" pitchFamily="18" charset="0"/>
                <a:cs typeface="Times New Roman" panose="02020603050405020304" pitchFamily="18" charset="0"/>
              </a:rPr>
              <a:t> Zone B </a:t>
            </a:r>
            <a:r>
              <a:rPr lang="en-US" dirty="0" err="1">
                <a:latin typeface="Times New Roman" panose="02020603050405020304" pitchFamily="18" charset="0"/>
                <a:cs typeface="Times New Roman" panose="02020603050405020304" pitchFamily="18" charset="0"/>
              </a:rPr>
              <a:t>trở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lên</a:t>
            </a:r>
            <a:r>
              <a:rPr lang="en-US" dirty="0">
                <a:latin typeface="Times New Roman" panose="02020603050405020304" pitchFamily="18" charset="0"/>
                <a:cs typeface="Times New Roman" panose="02020603050405020304" pitchFamily="18" charset="0"/>
              </a:rPr>
              <a:t> -&gt; </a:t>
            </a:r>
            <a:r>
              <a:rPr lang="en-US" dirty="0" err="1">
                <a:latin typeface="Times New Roman" panose="02020603050405020304" pitchFamily="18" charset="0"/>
                <a:cs typeface="Times New Roman" panose="02020603050405020304" pitchFamily="18" charset="0"/>
              </a:rPr>
              <a:t>kích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hoạt</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Quét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đỉnh</a:t>
            </a:r>
            <a:r>
              <a:rPr lang="en-US" dirty="0">
                <a:latin typeface="Times New Roman" panose="02020603050405020304" pitchFamily="18" charset="0"/>
                <a:cs typeface="Times New Roman" panose="02020603050405020304" pitchFamily="18" charset="0"/>
              </a:rPr>
              <a:t> 1X, 2X, 3X, 4X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Aiso_DE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Aiso_NDE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So </a:t>
            </a:r>
            <a:r>
              <a:rPr lang="en-US" dirty="0" err="1">
                <a:latin typeface="Times New Roman" panose="02020603050405020304" pitchFamily="18" charset="0"/>
                <a:cs typeface="Times New Roman" panose="02020603050405020304" pitchFamily="18" charset="0"/>
              </a:rPr>
              <a:t>sánh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radial vs axial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S3, S4</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-&gt; </a:t>
            </a:r>
            <a:r>
              <a:rPr lang="en-US" dirty="0" err="1">
                <a:latin typeface="Times New Roman" panose="02020603050405020304" pitchFamily="18" charset="0"/>
                <a:cs typeface="Times New Roman" panose="02020603050405020304" pitchFamily="18" charset="0"/>
              </a:rPr>
              <a:t>Phân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bảng</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chữ ký tần số lỗi cơ khí kết cấu</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b)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BPFO, BPFI, BSF, FTF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vòng</a:t>
            </a:r>
            <a:r>
              <a:rPr lang="en-US" dirty="0">
                <a:latin typeface="Times New Roman" panose="02020603050405020304" pitchFamily="18" charset="0"/>
                <a:cs typeface="Times New Roman" panose="02020603050405020304" pitchFamily="18" charset="0"/>
              </a:rPr>
              <a:t> bi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tế</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Quét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này</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dải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phổ</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Aiso</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-&gt; </a:t>
            </a:r>
            <a:r>
              <a:rPr lang="en-US" dirty="0" err="1">
                <a:latin typeface="Times New Roman" panose="02020603050405020304" pitchFamily="18" charset="0"/>
                <a:cs typeface="Times New Roman" panose="02020603050405020304" pitchFamily="18" charset="0"/>
              </a:rPr>
              <a:t>Nếu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khớp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đúng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trí</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đủ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hài</a:t>
            </a:r>
            <a:r>
              <a:rPr lang="en-US" dirty="0">
                <a:latin typeface="Times New Roman" panose="02020603050405020304" pitchFamily="18" charset="0"/>
                <a:cs typeface="Times New Roman" panose="02020603050405020304" pitchFamily="18" charset="0"/>
              </a:rPr>
              <a:t> -&gt;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vòng</a:t>
            </a:r>
            <a:r>
              <a:rPr lang="en-US" dirty="0">
                <a:latin typeface="Times New Roman" panose="02020603050405020304" pitchFamily="18" charset="0"/>
                <a:cs typeface="Times New Roman" panose="02020603050405020304" pitchFamily="18" charset="0"/>
              </a:rPr>
              <a:t> bi </a:t>
            </a:r>
            <a:r>
              <a:rPr lang="en-US" dirty="0" err="1">
                <a:latin typeface="Times New Roman" panose="02020603050405020304" pitchFamily="18" charset="0"/>
                <a:cs typeface="Times New Roman" panose="02020603050405020304" pitchFamily="18" charset="0"/>
              </a:rPr>
              <a:t>tương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ứng</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theo bảng vòng bi)</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 Cross-Coherence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S1 (</a:t>
            </a:r>
            <a:r>
              <a:rPr lang="vi-VN" dirty="0">
                <a:latin typeface="Times New Roman" panose="02020603050405020304" pitchFamily="18" charset="0"/>
                <a:cs typeface="Times New Roman" panose="02020603050405020304" pitchFamily="18" charset="0"/>
              </a:rPr>
              <a:t>thuật toán đối chiếu chéo)</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Đỉnh </a:t>
            </a:r>
            <a:r>
              <a:rPr lang="en-US" dirty="0" err="1">
                <a:latin typeface="Times New Roman" panose="02020603050405020304" pitchFamily="18" charset="0"/>
                <a:cs typeface="Times New Roman" panose="02020603050405020304" pitchFamily="18" charset="0"/>
              </a:rPr>
              <a:t>bất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thường</a:t>
            </a:r>
            <a:r>
              <a:rPr lang="en-US" dirty="0">
                <a:latin typeface="Times New Roman" panose="02020603050405020304" pitchFamily="18" charset="0"/>
                <a:cs typeface="Times New Roman" panose="02020603050405020304" pitchFamily="18" charset="0"/>
              </a:rPr>
              <a:t> CÓ </a:t>
            </a:r>
            <a:r>
              <a:rPr lang="en-US" dirty="0" err="1">
                <a:latin typeface="Times New Roman" panose="02020603050405020304" pitchFamily="18" charset="0"/>
                <a:cs typeface="Times New Roman" panose="02020603050405020304" pitchFamily="18" charset="0"/>
              </a:rPr>
              <a:t>mặt</a:t>
            </a:r>
            <a:r>
              <a:rPr lang="en-US" dirty="0">
                <a:latin typeface="Times New Roman" panose="02020603050405020304" pitchFamily="18" charset="0"/>
                <a:cs typeface="Times New Roman" panose="02020603050405020304" pitchFamily="18" charset="0"/>
              </a:rPr>
              <a:t> ở S1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lớn</a:t>
            </a:r>
            <a:r>
              <a:rPr lang="en-US" dirty="0">
                <a:latin typeface="Times New Roman" panose="02020603050405020304" pitchFamily="18" charset="0"/>
                <a:cs typeface="Times New Roman" panose="02020603050405020304" pitchFamily="18" charset="0"/>
              </a:rPr>
              <a:t> -&gt; </a:t>
            </a:r>
            <a:r>
              <a:rPr lang="en-US" dirty="0" err="1">
                <a:latin typeface="Times New Roman" panose="02020603050405020304" pitchFamily="18" charset="0"/>
                <a:cs typeface="Times New Roman" panose="02020603050405020304" pitchFamily="18" charset="0"/>
              </a:rPr>
              <a:t>nhiễu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truyền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nén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bỏ</a:t>
            </a:r>
            <a:r>
              <a:rPr lang="en-US" dirty="0">
                <a:latin typeface="Times New Roman" panose="02020603050405020304" pitchFamily="18" charset="0"/>
                <a:cs typeface="Times New Roman" panose="02020603050405020304" pitchFamily="18" charset="0"/>
              </a:rPr>
              <a:t> qua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Đỉnh </a:t>
            </a:r>
            <a:r>
              <a:rPr lang="en-US" dirty="0" err="1">
                <a:latin typeface="Times New Roman" panose="02020603050405020304" pitchFamily="18" charset="0"/>
                <a:cs typeface="Times New Roman" panose="02020603050405020304" pitchFamily="18" charset="0"/>
              </a:rPr>
              <a:t>bất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thường</a:t>
            </a:r>
            <a:r>
              <a:rPr lang="en-US" dirty="0">
                <a:latin typeface="Times New Roman" panose="02020603050405020304" pitchFamily="18" charset="0"/>
                <a:cs typeface="Times New Roman" panose="02020603050405020304" pitchFamily="18" charset="0"/>
              </a:rPr>
              <a:t> KHÔNG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ở S1 -&gt;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motor,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báo</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d)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đỉnh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2×f_line (100Hz)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ổn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tải</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đổi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RPM -&gt; </a:t>
            </a:r>
            <a:r>
              <a:rPr lang="en-US" dirty="0" err="1">
                <a:latin typeface="Times New Roman" panose="02020603050405020304" pitchFamily="18" charset="0"/>
                <a:cs typeface="Times New Roman" panose="02020603050405020304" pitchFamily="18" charset="0"/>
              </a:rPr>
              <a:t>nghi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điện</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theo bảng lỗ điện)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 </a:t>
            </a:r>
            <a:r>
              <a:rPr lang="en-US" dirty="0" err="1">
                <a:latin typeface="Times New Roman" panose="02020603050405020304" pitchFamily="18" charset="0"/>
                <a:cs typeface="Times New Roman" panose="02020603050405020304" pitchFamily="18" charset="0"/>
              </a:rPr>
              <a:t>Đối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chiếu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nhiệt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Mục</a:t>
            </a:r>
            <a:r>
              <a:rPr lang="en-US" dirty="0">
                <a:latin typeface="Times New Roman" panose="02020603050405020304" pitchFamily="18" charset="0"/>
                <a:cs typeface="Times New Roman" panose="02020603050405020304" pitchFamily="18" charset="0"/>
              </a:rPr>
              <a:t> 5):</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chẩn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đoán</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vòng</a:t>
            </a:r>
            <a:r>
              <a:rPr lang="en-US" dirty="0">
                <a:latin typeface="Times New Roman" panose="02020603050405020304" pitchFamily="18" charset="0"/>
                <a:cs typeface="Times New Roman" panose="02020603050405020304" pitchFamily="18" charset="0"/>
              </a:rPr>
              <a:t> bi) </a:t>
            </a:r>
            <a:r>
              <a:rPr lang="vi-VN" dirty="0">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nhiệt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đỡ</a:t>
            </a:r>
            <a:r>
              <a:rPr lang="en-US" dirty="0">
                <a:latin typeface="Times New Roman" panose="02020603050405020304" pitchFamily="18" charset="0"/>
                <a:cs typeface="Times New Roman" panose="02020603050405020304" pitchFamily="18" charset="0"/>
              </a:rPr>
              <a:t> &gt; 90°C)</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-&gt; 2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nhau</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cậy</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cao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nâng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báo</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4465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6D569-C820-7EB5-0997-4A56C9460DAA}"/>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73A668F4-70EE-EEB5-BA28-4FC9A23A317A}"/>
              </a:ext>
            </a:extLst>
          </p:cNvPr>
          <p:cNvSpPr txBox="1"/>
          <p:nvPr/>
        </p:nvSpPr>
        <p:spPr>
          <a:xfrm>
            <a:off x="4301412" y="279918"/>
            <a:ext cx="4964821" cy="492443"/>
          </a:xfrm>
          <a:prstGeom prst="rect">
            <a:avLst/>
          </a:prstGeom>
          <a:noFill/>
        </p:spPr>
        <p:txBody>
          <a:bodyPr wrap="none" rtlCol="0">
            <a:spAutoFit/>
          </a:bodyPr>
          <a:lstStyle/>
          <a:p>
            <a:r>
              <a:rPr lang="en-US" sz="2600" dirty="0" err="1">
                <a:latin typeface="Times New Roman" panose="02020603050405020304" pitchFamily="18" charset="0"/>
                <a:cs typeface="Times New Roman" panose="02020603050405020304" pitchFamily="18" charset="0"/>
              </a:rPr>
              <a:t>Xác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thực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chéo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bằng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số</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liệu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nhiệt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độ</a:t>
            </a:r>
            <a:endParaRPr lang="en-US" sz="2600" dirty="0">
              <a:latin typeface="Times New Roman" panose="02020603050405020304" pitchFamily="18" charset="0"/>
              <a:cs typeface="Times New Roman" panose="02020603050405020304" pitchFamily="18" charset="0"/>
            </a:endParaRPr>
          </a:p>
        </p:txBody>
      </p:sp>
      <p:sp>
        <p:nvSpPr>
          <p:cNvPr id="5" name="Hộp Văn bản 4">
            <a:extLst>
              <a:ext uri="{FF2B5EF4-FFF2-40B4-BE49-F238E27FC236}">
                <a16:creationId xmlns:a16="http://schemas.microsoft.com/office/drawing/2014/main" id="{40A76CF3-DFEC-6DA2-81D5-47025E17443A}"/>
              </a:ext>
            </a:extLst>
          </p:cNvPr>
          <p:cNvSpPr txBox="1"/>
          <p:nvPr/>
        </p:nvSpPr>
        <p:spPr>
          <a:xfrm>
            <a:off x="2713383" y="3130826"/>
            <a:ext cx="184731" cy="369332"/>
          </a:xfrm>
          <a:prstGeom prst="rect">
            <a:avLst/>
          </a:prstGeom>
          <a:noFill/>
        </p:spPr>
        <p:txBody>
          <a:bodyPr wrap="none" rtlCol="0">
            <a:spAutoFit/>
          </a:bodyPr>
          <a:lstStyle/>
          <a:p>
            <a:endParaRPr lang="en-US" dirty="0"/>
          </a:p>
        </p:txBody>
      </p:sp>
      <p:sp>
        <p:nvSpPr>
          <p:cNvPr id="9" name="Hộp Văn bản 8">
            <a:extLst>
              <a:ext uri="{FF2B5EF4-FFF2-40B4-BE49-F238E27FC236}">
                <a16:creationId xmlns:a16="http://schemas.microsoft.com/office/drawing/2014/main" id="{99103312-ABB6-FF4D-EFDB-CCA5CAD5EEA1}"/>
              </a:ext>
            </a:extLst>
          </p:cNvPr>
          <p:cNvSpPr txBox="1"/>
          <p:nvPr/>
        </p:nvSpPr>
        <p:spPr>
          <a:xfrm>
            <a:off x="1142528" y="2549710"/>
            <a:ext cx="4953472" cy="369332"/>
          </a:xfrm>
          <a:prstGeom prst="rect">
            <a:avLst/>
          </a:prstGeom>
          <a:noFill/>
        </p:spPr>
        <p:txBody>
          <a:bodyPr wrap="none" rtlCol="0">
            <a:spAutoFit/>
          </a:bodyPr>
          <a:lstStyle/>
          <a:p>
            <a:r>
              <a:rPr lang="en-US" dirty="0" err="1">
                <a:latin typeface="Times New Roman" panose="02020603050405020304" pitchFamily="18" charset="0"/>
                <a:cs typeface="Times New Roman" panose="02020603050405020304" pitchFamily="18" charset="0"/>
              </a:rPr>
              <a:t>Tiêu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chuẩn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nén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vít</a:t>
            </a:r>
            <a:r>
              <a:rPr lang="en-US" dirty="0">
                <a:latin typeface="Times New Roman" panose="02020603050405020304" pitchFamily="18" charset="0"/>
                <a:cs typeface="Times New Roman" panose="02020603050405020304" pitchFamily="18" charset="0"/>
              </a:rPr>
              <a:t> (API 619 &amp; MYCOM)</a:t>
            </a:r>
          </a:p>
        </p:txBody>
      </p:sp>
      <p:sp>
        <p:nvSpPr>
          <p:cNvPr id="6" name="Hộp Văn bản 5">
            <a:extLst>
              <a:ext uri="{FF2B5EF4-FFF2-40B4-BE49-F238E27FC236}">
                <a16:creationId xmlns:a16="http://schemas.microsoft.com/office/drawing/2014/main" id="{9E1BA53F-B9C1-3E99-6B8C-7A989E27D690}"/>
              </a:ext>
            </a:extLst>
          </p:cNvPr>
          <p:cNvSpPr txBox="1"/>
          <p:nvPr/>
        </p:nvSpPr>
        <p:spPr>
          <a:xfrm>
            <a:off x="1007555" y="1146422"/>
            <a:ext cx="9592021" cy="1477328"/>
          </a:xfrm>
          <a:prstGeom prst="rect">
            <a:avLst/>
          </a:prstGeom>
          <a:noFill/>
        </p:spPr>
        <p:txBody>
          <a:bodyPr wrap="square" rtlCol="0">
            <a:spAutoFit/>
          </a:bodyPr>
          <a:lstStyle/>
          <a:p>
            <a:pPr marL="285750" lvl="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Giới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cuộn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dây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Honeywell HPM 450kW </a:t>
            </a:r>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Cấp</a:t>
            </a:r>
            <a:r>
              <a:rPr lang="en-US" dirty="0">
                <a:latin typeface="Times New Roman" panose="02020603050405020304" pitchFamily="18" charset="0"/>
                <a:cs typeface="Times New Roman" panose="02020603050405020304" pitchFamily="18" charset="0"/>
              </a:rPr>
              <a:t> F. </a:t>
            </a:r>
            <a:r>
              <a:rPr lang="en-US" dirty="0" err="1">
                <a:latin typeface="Times New Roman" panose="02020603050405020304" pitchFamily="18" charset="0"/>
                <a:cs typeface="Times New Roman" panose="02020603050405020304" pitchFamily="18" charset="0"/>
              </a:rPr>
              <a:t>Ngưỡng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chịu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155°C,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nhiệt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phép</a:t>
            </a:r>
            <a:r>
              <a:rPr lang="en-US" dirty="0">
                <a:latin typeface="Times New Roman" panose="02020603050405020304" pitchFamily="18" charset="0"/>
                <a:cs typeface="Times New Roman" panose="02020603050405020304" pitchFamily="18" charset="0"/>
              </a:rPr>
              <a:t> 105°C so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môi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trường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việc</a:t>
            </a:r>
            <a:r>
              <a:rPr lang="en-US"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Cảnh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đỡ</a:t>
            </a:r>
            <a:r>
              <a:rPr lang="en-US" dirty="0">
                <a:latin typeface="Times New Roman" panose="02020603050405020304" pitchFamily="18" charset="0"/>
                <a:cs typeface="Times New Roman" panose="02020603050405020304" pitchFamily="18" charset="0"/>
              </a:rPr>
              <a:t> (Bearing): </a:t>
            </a:r>
            <a:r>
              <a:rPr lang="en-US" dirty="0" err="1">
                <a:latin typeface="Times New Roman" panose="02020603050405020304" pitchFamily="18" charset="0"/>
                <a:cs typeface="Times New Roman" panose="02020603050405020304" pitchFamily="18" charset="0"/>
              </a:rPr>
              <a:t>ranh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giới</a:t>
            </a:r>
            <a:r>
              <a:rPr lang="en-US" dirty="0">
                <a:latin typeface="Times New Roman" panose="02020603050405020304" pitchFamily="18" charset="0"/>
                <a:cs typeface="Times New Roman" panose="02020603050405020304" pitchFamily="18" charset="0"/>
              </a:rPr>
              <a:t> an </a:t>
            </a:r>
            <a:r>
              <a:rPr lang="en-US" dirty="0" err="1">
                <a:latin typeface="Times New Roman" panose="02020603050405020304" pitchFamily="18" charset="0"/>
                <a:cs typeface="Times New Roman" panose="02020603050405020304" pitchFamily="18" charset="0"/>
              </a:rPr>
              <a:t>toàn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phổ</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biến</a:t>
            </a:r>
            <a:r>
              <a:rPr lang="en-US" dirty="0">
                <a:latin typeface="Times New Roman" panose="02020603050405020304" pitchFamily="18" charset="0"/>
                <a:cs typeface="Times New Roman" panose="02020603050405020304" pitchFamily="18" charset="0"/>
              </a:rPr>
              <a:t> 90°C (Warning)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100°C (Alarm/Trip). </a:t>
            </a:r>
            <a:r>
              <a:rPr lang="en-US" dirty="0" err="1">
                <a:latin typeface="Times New Roman" panose="02020603050405020304" pitchFamily="18" charset="0"/>
                <a:cs typeface="Times New Roman" panose="02020603050405020304" pitchFamily="18" charset="0"/>
              </a:rPr>
              <a:t>Vượt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này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bôi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lớp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khỏi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gốc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phòng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bôi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gây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vòng</a:t>
            </a:r>
            <a:r>
              <a:rPr lang="en-US" dirty="0">
                <a:latin typeface="Times New Roman" panose="02020603050405020304" pitchFamily="18" charset="0"/>
                <a:cs typeface="Times New Roman" panose="02020603050405020304" pitchFamily="18" charset="0"/>
              </a:rPr>
              <a:t> bi.</a:t>
            </a:r>
          </a:p>
        </p:txBody>
      </p:sp>
      <p:sp>
        <p:nvSpPr>
          <p:cNvPr id="4" name="Hộp Văn bản 3">
            <a:extLst>
              <a:ext uri="{FF2B5EF4-FFF2-40B4-BE49-F238E27FC236}">
                <a16:creationId xmlns:a16="http://schemas.microsoft.com/office/drawing/2014/main" id="{B7875FC7-3245-E8C3-B9A5-6F1F06649626}"/>
              </a:ext>
            </a:extLst>
          </p:cNvPr>
          <p:cNvSpPr txBox="1"/>
          <p:nvPr/>
        </p:nvSpPr>
        <p:spPr>
          <a:xfrm>
            <a:off x="1173747" y="884080"/>
            <a:ext cx="5460084" cy="369332"/>
          </a:xfrm>
          <a:prstGeom prst="rect">
            <a:avLst/>
          </a:prstGeom>
          <a:noFill/>
        </p:spPr>
        <p:txBody>
          <a:bodyPr wrap="none" rtlCol="0">
            <a:spAutoFit/>
          </a:bodyPr>
          <a:lstStyle/>
          <a:p>
            <a:r>
              <a:rPr lang="en-US" dirty="0" err="1">
                <a:latin typeface="Times New Roman" panose="02020603050405020304" pitchFamily="18" charset="0"/>
                <a:cs typeface="Times New Roman" panose="02020603050405020304" pitchFamily="18" charset="0"/>
              </a:rPr>
              <a:t>Tiêu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chuẩn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điện</a:t>
            </a:r>
            <a:r>
              <a:rPr lang="en-US" dirty="0">
                <a:latin typeface="Times New Roman" panose="02020603050405020304" pitchFamily="18" charset="0"/>
                <a:cs typeface="Times New Roman" panose="02020603050405020304" pitchFamily="18" charset="0"/>
              </a:rPr>
              <a:t> (IEC 60034-1 &amp; NEMA MG-1)</a:t>
            </a:r>
          </a:p>
        </p:txBody>
      </p:sp>
      <p:sp>
        <p:nvSpPr>
          <p:cNvPr id="8" name="Hộp Văn bản 7">
            <a:extLst>
              <a:ext uri="{FF2B5EF4-FFF2-40B4-BE49-F238E27FC236}">
                <a16:creationId xmlns:a16="http://schemas.microsoft.com/office/drawing/2014/main" id="{1D9EBF52-AB99-234E-9BD5-8E81881DCCC0}"/>
              </a:ext>
            </a:extLst>
          </p:cNvPr>
          <p:cNvSpPr txBox="1"/>
          <p:nvPr/>
        </p:nvSpPr>
        <p:spPr>
          <a:xfrm>
            <a:off x="1007554" y="2886092"/>
            <a:ext cx="9592021" cy="923330"/>
          </a:xfrm>
          <a:prstGeom prst="rect">
            <a:avLst/>
          </a:prstGeom>
          <a:noFill/>
        </p:spPr>
        <p:txBody>
          <a:bodyPr wrap="square" rtlCol="0">
            <a:spAutoFit/>
          </a:bodyPr>
          <a:lstStyle/>
          <a:p>
            <a:pPr marL="285750" lvl="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Nhiệt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nén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nhiệt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gas </a:t>
            </a:r>
            <a:r>
              <a:rPr lang="en-US" dirty="0" err="1">
                <a:latin typeface="Times New Roman" panose="02020603050405020304" pitchFamily="18" charset="0"/>
                <a:cs typeface="Times New Roman" panose="02020603050405020304" pitchFamily="18" charset="0"/>
              </a:rPr>
              <a:t>thường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vượt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quá</a:t>
            </a:r>
            <a:r>
              <a:rPr lang="en-US" dirty="0">
                <a:latin typeface="Times New Roman" panose="02020603050405020304" pitchFamily="18" charset="0"/>
                <a:cs typeface="Times New Roman" panose="02020603050405020304" pitchFamily="18" charset="0"/>
              </a:rPr>
              <a:t> 100–120°C </a:t>
            </a:r>
            <a:r>
              <a:rPr lang="en-US" dirty="0" err="1">
                <a:latin typeface="Times New Roman" panose="02020603050405020304" pitchFamily="18" charset="0"/>
                <a:cs typeface="Times New Roman" panose="02020603050405020304" pitchFamily="18" charset="0"/>
              </a:rPr>
              <a:t>tùy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môi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lạnh</a:t>
            </a:r>
            <a:r>
              <a:rPr lang="en-US"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Nhiệt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vỏ</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thường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a:t>
            </a:r>
            <a:r>
              <a:rPr lang="en-US" dirty="0">
                <a:latin typeface="Times New Roman" panose="02020603050405020304" pitchFamily="18" charset="0"/>
                <a:cs typeface="Times New Roman" panose="02020603050405020304" pitchFamily="18" charset="0"/>
              </a:rPr>
              <a:t> 70–85°C. Khi </a:t>
            </a:r>
            <a:r>
              <a:rPr lang="en-US" dirty="0" err="1">
                <a:latin typeface="Times New Roman" panose="02020603050405020304" pitchFamily="18" charset="0"/>
                <a:cs typeface="Times New Roman" panose="02020603050405020304" pitchFamily="18" charset="0"/>
              </a:rPr>
              <a:t>vượt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quá</a:t>
            </a:r>
            <a:r>
              <a:rPr lang="en-US" dirty="0">
                <a:latin typeface="Times New Roman" panose="02020603050405020304" pitchFamily="18" charset="0"/>
                <a:cs typeface="Times New Roman" panose="02020603050405020304" pitchFamily="18" charset="0"/>
              </a:rPr>
              <a:t> 90°C,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nhớt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bôi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nén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giảm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dẫn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rủi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kẹt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giữa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lobe </a:t>
            </a:r>
            <a:r>
              <a:rPr lang="en-US" dirty="0" err="1">
                <a:latin typeface="Times New Roman" panose="02020603050405020304" pitchFamily="18" charset="0"/>
                <a:cs typeface="Times New Roman" panose="02020603050405020304" pitchFamily="18" charset="0"/>
              </a:rPr>
              <a:t>trục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vít</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71115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62A969-D8F6-CC0D-39AF-9B50F9EFDEA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Hộp Văn bản 1">
            <a:extLst>
              <a:ext uri="{FF2B5EF4-FFF2-40B4-BE49-F238E27FC236}">
                <a16:creationId xmlns:a16="http://schemas.microsoft.com/office/drawing/2014/main" id="{2EA778C1-505B-AE22-2D83-C48DF778E786}"/>
              </a:ext>
            </a:extLst>
          </p:cNvPr>
          <p:cNvSpPr txBox="1"/>
          <p:nvPr/>
        </p:nvSpPr>
        <p:spPr>
          <a:xfrm>
            <a:off x="699713" y="248038"/>
            <a:ext cx="7063721" cy="115920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700" kern="1200" dirty="0" err="1">
                <a:solidFill>
                  <a:srgbClr val="FFFFFF"/>
                </a:solidFill>
                <a:latin typeface="Times New Roman" panose="02020603050405020304" pitchFamily="18" charset="0"/>
                <a:ea typeface="+mj-ea"/>
                <a:cs typeface="Times New Roman" panose="02020603050405020304" pitchFamily="18" charset="0"/>
              </a:rPr>
              <a:t>Cơ</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sở</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tiêu</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chuẩn</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cho</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ngưỡng</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cảnh</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báo</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theo</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từng</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dải</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tần</a:t>
            </a:r>
            <a:endParaRPr lang="en-US" sz="3700" kern="1200" dirty="0">
              <a:solidFill>
                <a:srgbClr val="FFFFFF"/>
              </a:solidFill>
              <a:latin typeface="Times New Roman" panose="02020603050405020304" pitchFamily="18" charset="0"/>
              <a:ea typeface="+mj-ea"/>
              <a:cs typeface="Times New Roman" panose="02020603050405020304" pitchFamily="18" charset="0"/>
            </a:endParaRPr>
          </a:p>
        </p:txBody>
      </p:sp>
      <p:sp>
        <p:nvSpPr>
          <p:cNvPr id="5" name="Hộp Văn bản 4">
            <a:extLst>
              <a:ext uri="{FF2B5EF4-FFF2-40B4-BE49-F238E27FC236}">
                <a16:creationId xmlns:a16="http://schemas.microsoft.com/office/drawing/2014/main" id="{A673B633-B89B-967A-F0D5-7E6217BF48EA}"/>
              </a:ext>
            </a:extLst>
          </p:cNvPr>
          <p:cNvSpPr txBox="1"/>
          <p:nvPr/>
        </p:nvSpPr>
        <p:spPr>
          <a:xfrm>
            <a:off x="2713383" y="3130826"/>
            <a:ext cx="184731" cy="369332"/>
          </a:xfrm>
          <a:prstGeom prst="rect">
            <a:avLst/>
          </a:prstGeom>
          <a:noFill/>
        </p:spPr>
        <p:txBody>
          <a:bodyPr wrap="none" rtlCol="0">
            <a:spAutoFit/>
          </a:bodyPr>
          <a:lstStyle/>
          <a:p>
            <a:endParaRPr lang="en-US" dirty="0"/>
          </a:p>
        </p:txBody>
      </p:sp>
      <p:graphicFrame>
        <p:nvGraphicFramePr>
          <p:cNvPr id="3" name="Bảng 2">
            <a:extLst>
              <a:ext uri="{FF2B5EF4-FFF2-40B4-BE49-F238E27FC236}">
                <a16:creationId xmlns:a16="http://schemas.microsoft.com/office/drawing/2014/main" id="{A150C69D-3DD9-7C9A-AA3B-FAF636C28728}"/>
              </a:ext>
            </a:extLst>
          </p:cNvPr>
          <p:cNvGraphicFramePr>
            <a:graphicFrameLocks noGrp="1"/>
          </p:cNvGraphicFramePr>
          <p:nvPr>
            <p:extLst>
              <p:ext uri="{D42A27DB-BD31-4B8C-83A1-F6EECF244321}">
                <p14:modId xmlns:p14="http://schemas.microsoft.com/office/powerpoint/2010/main" val="1174502021"/>
              </p:ext>
            </p:extLst>
          </p:nvPr>
        </p:nvGraphicFramePr>
        <p:xfrm>
          <a:off x="432225" y="2309265"/>
          <a:ext cx="11327550" cy="4018478"/>
        </p:xfrm>
        <a:graphic>
          <a:graphicData uri="http://schemas.openxmlformats.org/drawingml/2006/table">
            <a:tbl>
              <a:tblPr>
                <a:tableStyleId>{5C22544A-7EE6-4342-B048-85BDC9FD1C3A}</a:tableStyleId>
              </a:tblPr>
              <a:tblGrid>
                <a:gridCol w="2250340">
                  <a:extLst>
                    <a:ext uri="{9D8B030D-6E8A-4147-A177-3AD203B41FA5}">
                      <a16:colId xmlns:a16="http://schemas.microsoft.com/office/drawing/2014/main" val="2976302218"/>
                    </a:ext>
                  </a:extLst>
                </a:gridCol>
                <a:gridCol w="2250340">
                  <a:extLst>
                    <a:ext uri="{9D8B030D-6E8A-4147-A177-3AD203B41FA5}">
                      <a16:colId xmlns:a16="http://schemas.microsoft.com/office/drawing/2014/main" val="1329837919"/>
                    </a:ext>
                  </a:extLst>
                </a:gridCol>
                <a:gridCol w="6826870">
                  <a:extLst>
                    <a:ext uri="{9D8B030D-6E8A-4147-A177-3AD203B41FA5}">
                      <a16:colId xmlns:a16="http://schemas.microsoft.com/office/drawing/2014/main" val="2813512420"/>
                    </a:ext>
                  </a:extLst>
                </a:gridCol>
              </a:tblGrid>
              <a:tr h="296382">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Tiêu chuẩn</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Cho ngưỡng số</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Vai trò</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extLst>
                  <a:ext uri="{0D108BD9-81ED-4DB2-BD59-A6C34878D82A}">
                    <a16:rowId xmlns:a16="http://schemas.microsoft.com/office/drawing/2014/main" val="19521827"/>
                  </a:ext>
                </a:extLst>
              </a:tr>
              <a:tr h="296382">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ISO 20816-1</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Không</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Nguyên tắc đo, vị trí cảm biến, khái niệm Zone A/B/C/D</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extLst>
                  <a:ext uri="{0D108BD9-81ED-4DB2-BD59-A6C34878D82A}">
                    <a16:rowId xmlns:a16="http://schemas.microsoft.com/office/drawing/2014/main" val="911096920"/>
                  </a:ext>
                </a:extLst>
              </a:tr>
              <a:tr h="296382">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ISO 20816-3</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Có — chỉ RMS tổng</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Ngưỡng số duy nhất trích dẫn trực tiếp được, dùng làm khung neo</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extLst>
                  <a:ext uri="{0D108BD9-81ED-4DB2-BD59-A6C34878D82A}">
                    <a16:rowId xmlns:a16="http://schemas.microsoft.com/office/drawing/2014/main" val="3649589175"/>
                  </a:ext>
                </a:extLst>
              </a:tr>
              <a:tr h="296382">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ISO 13373-1</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Không</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Quy trình đo và phân tích tín hiệu dải hẹp (narrowband)</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extLst>
                  <a:ext uri="{0D108BD9-81ED-4DB2-BD59-A6C34878D82A}">
                    <a16:rowId xmlns:a16="http://schemas.microsoft.com/office/drawing/2014/main" val="4031390118"/>
                  </a:ext>
                </a:extLst>
              </a:tr>
              <a:tr h="549391">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ISO 13373-2</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Không</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Kỹ thuật xử lý tín hiệu, dạng sóng đặc trưng từng lỗi — nguồn cho bảng chữ ký tần số</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extLst>
                  <a:ext uri="{0D108BD9-81ED-4DB2-BD59-A6C34878D82A}">
                    <a16:rowId xmlns:a16="http://schemas.microsoft.com/office/drawing/2014/main" val="1281841889"/>
                  </a:ext>
                </a:extLst>
              </a:tr>
              <a:tr h="296382">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ISO 13373-3</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Không</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Sơ đồ chẩn đoán (flowchart), bảng lỗi theo loại máy cụ thể</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extLst>
                  <a:ext uri="{0D108BD9-81ED-4DB2-BD59-A6C34878D82A}">
                    <a16:rowId xmlns:a16="http://schemas.microsoft.com/office/drawing/2014/main" val="1055806729"/>
                  </a:ext>
                </a:extLst>
              </a:tr>
              <a:tr h="296382">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ISO 15243</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Không</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Phân loại các dạng hư hỏng vòng bi (định tính)</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extLst>
                  <a:ext uri="{0D108BD9-81ED-4DB2-BD59-A6C34878D82A}">
                    <a16:rowId xmlns:a16="http://schemas.microsoft.com/office/drawing/2014/main" val="3898973587"/>
                  </a:ext>
                </a:extLst>
              </a:tr>
              <a:tr h="296382">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ISO 17359</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Không</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Hướng dẫn thiết lập hệ thống giám sát, đặt ngưỡng theo baseline</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extLst>
                  <a:ext uri="{0D108BD9-81ED-4DB2-BD59-A6C34878D82A}">
                    <a16:rowId xmlns:a16="http://schemas.microsoft.com/office/drawing/2014/main" val="613016779"/>
                  </a:ext>
                </a:extLst>
              </a:tr>
              <a:tr h="296382">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VDI 3839 (Đức)</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Một phần</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Thư viện phổ mẫu minh họa cho từng loại lỗi, không phải ngưỡng bắt buộc</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extLst>
                  <a:ext uri="{0D108BD9-81ED-4DB2-BD59-A6C34878D82A}">
                    <a16:rowId xmlns:a16="http://schemas.microsoft.com/office/drawing/2014/main" val="3323440142"/>
                  </a:ext>
                </a:extLst>
              </a:tr>
              <a:tr h="296382">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API 670</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Không</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Setpoint alarm/trip dựa trên baseline + %, không cho số cố định</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extLst>
                  <a:ext uri="{0D108BD9-81ED-4DB2-BD59-A6C34878D82A}">
                    <a16:rowId xmlns:a16="http://schemas.microsoft.com/office/drawing/2014/main" val="2819855208"/>
                  </a:ext>
                </a:extLst>
              </a:tr>
              <a:tr h="549391">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API 617/619</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a:solidFill>
                            <a:schemeClr val="tx1"/>
                          </a:solidFill>
                          <a:effectLst/>
                          <a:latin typeface="Times New Roman" panose="02020603050405020304" pitchFamily="18" charset="0"/>
                          <a:cs typeface="Times New Roman" panose="02020603050405020304" pitchFamily="18" charset="0"/>
                        </a:rPr>
                        <a:t>Có (theo từng máy)</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tc>
                  <a:txBody>
                    <a:bodyPr/>
                    <a:lstStyle/>
                    <a:p>
                      <a:pPr>
                        <a:buNone/>
                      </a:pPr>
                      <a:r>
                        <a:rPr lang="en-US" sz="1800" dirty="0" err="1">
                          <a:solidFill>
                            <a:schemeClr val="tx1"/>
                          </a:solidFill>
                          <a:effectLst/>
                          <a:latin typeface="Times New Roman" panose="02020603050405020304" pitchFamily="18" charset="0"/>
                          <a:cs typeface="Times New Roman" panose="02020603050405020304" pitchFamily="18" charset="0"/>
                        </a:rPr>
                        <a:t>Giới</a:t>
                      </a:r>
                      <a:r>
                        <a:rPr lang="en-US" sz="1800" dirty="0">
                          <a:solidFill>
                            <a:schemeClr val="tx1"/>
                          </a:solidFill>
                          <a:effectLst/>
                          <a:latin typeface="Times New Roman" panose="02020603050405020304" pitchFamily="18" charset="0"/>
                          <a:cs typeface="Times New Roman" panose="02020603050405020304" pitchFamily="18" charset="0"/>
                        </a:rPr>
                        <a:t> </a:t>
                      </a:r>
                      <a:r>
                        <a:rPr lang="en-US" sz="1800" dirty="0" err="1">
                          <a:solidFill>
                            <a:schemeClr val="tx1"/>
                          </a:solidFill>
                          <a:effectLst/>
                          <a:latin typeface="Times New Roman" panose="02020603050405020304" pitchFamily="18" charset="0"/>
                          <a:cs typeface="Times New Roman" panose="02020603050405020304" pitchFamily="18" charset="0"/>
                        </a:rPr>
                        <a:t>hạn</a:t>
                      </a:r>
                      <a:r>
                        <a:rPr lang="en-US" sz="1800" dirty="0">
                          <a:solidFill>
                            <a:schemeClr val="tx1"/>
                          </a:solidFill>
                          <a:effectLst/>
                          <a:latin typeface="Times New Roman" panose="02020603050405020304" pitchFamily="18" charset="0"/>
                          <a:cs typeface="Times New Roman" panose="02020603050405020304" pitchFamily="18" charset="0"/>
                        </a:rPr>
                        <a:t> rung </a:t>
                      </a:r>
                      <a:r>
                        <a:rPr lang="en-US" sz="1800" dirty="0" err="1">
                          <a:solidFill>
                            <a:schemeClr val="tx1"/>
                          </a:solidFill>
                          <a:effectLst/>
                          <a:latin typeface="Times New Roman" panose="02020603050405020304" pitchFamily="18" charset="0"/>
                          <a:cs typeface="Times New Roman" panose="02020603050405020304" pitchFamily="18" charset="0"/>
                        </a:rPr>
                        <a:t>tại</a:t>
                      </a:r>
                      <a:r>
                        <a:rPr lang="en-US" sz="1800" dirty="0">
                          <a:solidFill>
                            <a:schemeClr val="tx1"/>
                          </a:solidFill>
                          <a:effectLst/>
                          <a:latin typeface="Times New Roman" panose="02020603050405020304" pitchFamily="18" charset="0"/>
                          <a:cs typeface="Times New Roman" panose="02020603050405020304" pitchFamily="18" charset="0"/>
                        </a:rPr>
                        <a:t> </a:t>
                      </a:r>
                      <a:r>
                        <a:rPr lang="en-US" sz="1800" dirty="0" err="1">
                          <a:solidFill>
                            <a:schemeClr val="tx1"/>
                          </a:solidFill>
                          <a:effectLst/>
                          <a:latin typeface="Times New Roman" panose="02020603050405020304" pitchFamily="18" charset="0"/>
                          <a:cs typeface="Times New Roman" panose="02020603050405020304" pitchFamily="18" charset="0"/>
                        </a:rPr>
                        <a:t>nghiệm</a:t>
                      </a:r>
                      <a:r>
                        <a:rPr lang="en-US" sz="1800" dirty="0">
                          <a:solidFill>
                            <a:schemeClr val="tx1"/>
                          </a:solidFill>
                          <a:effectLst/>
                          <a:latin typeface="Times New Roman" panose="02020603050405020304" pitchFamily="18" charset="0"/>
                          <a:cs typeface="Times New Roman" panose="02020603050405020304" pitchFamily="18" charset="0"/>
                        </a:rPr>
                        <a:t> </a:t>
                      </a:r>
                      <a:r>
                        <a:rPr lang="en-US" sz="1800" dirty="0" err="1">
                          <a:solidFill>
                            <a:schemeClr val="tx1"/>
                          </a:solidFill>
                          <a:effectLst/>
                          <a:latin typeface="Times New Roman" panose="02020603050405020304" pitchFamily="18" charset="0"/>
                          <a:cs typeface="Times New Roman" panose="02020603050405020304" pitchFamily="18" charset="0"/>
                        </a:rPr>
                        <a:t>thu</a:t>
                      </a:r>
                      <a:r>
                        <a:rPr lang="en-US" sz="1800" dirty="0">
                          <a:solidFill>
                            <a:schemeClr val="tx1"/>
                          </a:solidFill>
                          <a:effectLst/>
                          <a:latin typeface="Times New Roman" panose="02020603050405020304" pitchFamily="18" charset="0"/>
                          <a:cs typeface="Times New Roman" panose="02020603050405020304" pitchFamily="18" charset="0"/>
                        </a:rPr>
                        <a:t> </a:t>
                      </a:r>
                      <a:r>
                        <a:rPr lang="en-US" sz="1800" dirty="0" err="1">
                          <a:solidFill>
                            <a:schemeClr val="tx1"/>
                          </a:solidFill>
                          <a:effectLst/>
                          <a:latin typeface="Times New Roman" panose="02020603050405020304" pitchFamily="18" charset="0"/>
                          <a:cs typeface="Times New Roman" panose="02020603050405020304" pitchFamily="18" charset="0"/>
                        </a:rPr>
                        <a:t>nhà</a:t>
                      </a:r>
                      <a:r>
                        <a:rPr lang="en-US" sz="1800" dirty="0">
                          <a:solidFill>
                            <a:schemeClr val="tx1"/>
                          </a:solidFill>
                          <a:effectLst/>
                          <a:latin typeface="Times New Roman" panose="02020603050405020304" pitchFamily="18" charset="0"/>
                          <a:cs typeface="Times New Roman" panose="02020603050405020304" pitchFamily="18" charset="0"/>
                        </a:rPr>
                        <a:t> </a:t>
                      </a:r>
                      <a:r>
                        <a:rPr lang="en-US" sz="1800" dirty="0" err="1">
                          <a:solidFill>
                            <a:schemeClr val="tx1"/>
                          </a:solidFill>
                          <a:effectLst/>
                          <a:latin typeface="Times New Roman" panose="02020603050405020304" pitchFamily="18" charset="0"/>
                          <a:cs typeface="Times New Roman" panose="02020603050405020304" pitchFamily="18" charset="0"/>
                        </a:rPr>
                        <a:t>máy</a:t>
                      </a:r>
                      <a:r>
                        <a:rPr lang="en-US" sz="1800" dirty="0">
                          <a:solidFill>
                            <a:schemeClr val="tx1"/>
                          </a:solidFill>
                          <a:effectLst/>
                          <a:latin typeface="Times New Roman" panose="02020603050405020304" pitchFamily="18" charset="0"/>
                          <a:cs typeface="Times New Roman" panose="02020603050405020304" pitchFamily="18" charset="0"/>
                        </a:rPr>
                        <a:t> (FAT) — </a:t>
                      </a:r>
                      <a:r>
                        <a:rPr lang="en-US" sz="1800" dirty="0" err="1">
                          <a:solidFill>
                            <a:schemeClr val="tx1"/>
                          </a:solidFill>
                          <a:effectLst/>
                          <a:latin typeface="Times New Roman" panose="02020603050405020304" pitchFamily="18" charset="0"/>
                          <a:cs typeface="Times New Roman" panose="02020603050405020304" pitchFamily="18" charset="0"/>
                        </a:rPr>
                        <a:t>số</a:t>
                      </a:r>
                      <a:r>
                        <a:rPr lang="en-US" sz="1800" dirty="0">
                          <a:solidFill>
                            <a:schemeClr val="tx1"/>
                          </a:solidFill>
                          <a:effectLst/>
                          <a:latin typeface="Times New Roman" panose="02020603050405020304" pitchFamily="18" charset="0"/>
                          <a:cs typeface="Times New Roman" panose="02020603050405020304" pitchFamily="18" charset="0"/>
                        </a:rPr>
                        <a:t> </a:t>
                      </a:r>
                      <a:r>
                        <a:rPr lang="en-US" sz="1800" dirty="0" err="1">
                          <a:solidFill>
                            <a:schemeClr val="tx1"/>
                          </a:solidFill>
                          <a:effectLst/>
                          <a:latin typeface="Times New Roman" panose="02020603050405020304" pitchFamily="18" charset="0"/>
                          <a:cs typeface="Times New Roman" panose="02020603050405020304" pitchFamily="18" charset="0"/>
                        </a:rPr>
                        <a:t>liệu</a:t>
                      </a:r>
                      <a:r>
                        <a:rPr lang="en-US" sz="1800" dirty="0">
                          <a:solidFill>
                            <a:schemeClr val="tx1"/>
                          </a:solidFill>
                          <a:effectLst/>
                          <a:latin typeface="Times New Roman" panose="02020603050405020304" pitchFamily="18" charset="0"/>
                          <a:cs typeface="Times New Roman" panose="02020603050405020304" pitchFamily="18" charset="0"/>
                        </a:rPr>
                        <a:t> OEM </a:t>
                      </a:r>
                      <a:r>
                        <a:rPr lang="en-US" sz="1800" dirty="0" err="1">
                          <a:solidFill>
                            <a:schemeClr val="tx1"/>
                          </a:solidFill>
                          <a:effectLst/>
                          <a:latin typeface="Times New Roman" panose="02020603050405020304" pitchFamily="18" charset="0"/>
                          <a:cs typeface="Times New Roman" panose="02020603050405020304" pitchFamily="18" charset="0"/>
                        </a:rPr>
                        <a:t>riêng</a:t>
                      </a:r>
                      <a:r>
                        <a:rPr lang="en-US" sz="1800" dirty="0">
                          <a:solidFill>
                            <a:schemeClr val="tx1"/>
                          </a:solidFill>
                          <a:effectLst/>
                          <a:latin typeface="Times New Roman" panose="02020603050405020304" pitchFamily="18" charset="0"/>
                          <a:cs typeface="Times New Roman" panose="02020603050405020304" pitchFamily="18" charset="0"/>
                        </a:rPr>
                        <a:t> </a:t>
                      </a:r>
                      <a:r>
                        <a:rPr lang="en-US" sz="1800" dirty="0" err="1">
                          <a:solidFill>
                            <a:schemeClr val="tx1"/>
                          </a:solidFill>
                          <a:effectLst/>
                          <a:latin typeface="Times New Roman" panose="02020603050405020304" pitchFamily="18" charset="0"/>
                          <a:cs typeface="Times New Roman" panose="02020603050405020304" pitchFamily="18" charset="0"/>
                        </a:rPr>
                        <a:t>cho</a:t>
                      </a:r>
                      <a:r>
                        <a:rPr lang="en-US" sz="1800" dirty="0">
                          <a:solidFill>
                            <a:schemeClr val="tx1"/>
                          </a:solidFill>
                          <a:effectLst/>
                          <a:latin typeface="Times New Roman" panose="02020603050405020304" pitchFamily="18" charset="0"/>
                          <a:cs typeface="Times New Roman" panose="02020603050405020304" pitchFamily="18" charset="0"/>
                        </a:rPr>
                        <a:t> </a:t>
                      </a:r>
                      <a:r>
                        <a:rPr lang="en-US" sz="1800" dirty="0" err="1">
                          <a:solidFill>
                            <a:schemeClr val="tx1"/>
                          </a:solidFill>
                          <a:effectLst/>
                          <a:latin typeface="Times New Roman" panose="02020603050405020304" pitchFamily="18" charset="0"/>
                          <a:cs typeface="Times New Roman" panose="02020603050405020304" pitchFamily="18" charset="0"/>
                        </a:rPr>
                        <a:t>máy</a:t>
                      </a:r>
                      <a:r>
                        <a:rPr lang="en-US" sz="1800" dirty="0">
                          <a:solidFill>
                            <a:schemeClr val="tx1"/>
                          </a:solidFill>
                          <a:effectLst/>
                          <a:latin typeface="Times New Roman" panose="02020603050405020304" pitchFamily="18" charset="0"/>
                          <a:cs typeface="Times New Roman" panose="02020603050405020304" pitchFamily="18" charset="0"/>
                        </a:rPr>
                        <a:t> </a:t>
                      </a:r>
                      <a:r>
                        <a:rPr lang="en-US" sz="1800" dirty="0" err="1">
                          <a:solidFill>
                            <a:schemeClr val="tx1"/>
                          </a:solidFill>
                          <a:effectLst/>
                          <a:latin typeface="Times New Roman" panose="02020603050405020304" pitchFamily="18" charset="0"/>
                          <a:cs typeface="Times New Roman" panose="02020603050405020304" pitchFamily="18" charset="0"/>
                        </a:rPr>
                        <a:t>cụ</a:t>
                      </a:r>
                      <a:r>
                        <a:rPr lang="en-US" sz="1800" dirty="0">
                          <a:solidFill>
                            <a:schemeClr val="tx1"/>
                          </a:solidFill>
                          <a:effectLst/>
                          <a:latin typeface="Times New Roman" panose="02020603050405020304" pitchFamily="18" charset="0"/>
                          <a:cs typeface="Times New Roman" panose="02020603050405020304" pitchFamily="18" charset="0"/>
                        </a:rPr>
                        <a:t> </a:t>
                      </a:r>
                      <a:r>
                        <a:rPr lang="en-US" sz="1800" dirty="0" err="1">
                          <a:solidFill>
                            <a:schemeClr val="tx1"/>
                          </a:solidFill>
                          <a:effectLst/>
                          <a:latin typeface="Times New Roman" panose="02020603050405020304" pitchFamily="18" charset="0"/>
                          <a:cs typeface="Times New Roman" panose="02020603050405020304" pitchFamily="18" charset="0"/>
                        </a:rPr>
                        <a:t>thể</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530" marR="7530" marT="0" marB="0">
                    <a:solidFill>
                      <a:schemeClr val="bg1"/>
                    </a:solidFill>
                  </a:tcPr>
                </a:tc>
                <a:extLst>
                  <a:ext uri="{0D108BD9-81ED-4DB2-BD59-A6C34878D82A}">
                    <a16:rowId xmlns:a16="http://schemas.microsoft.com/office/drawing/2014/main" val="3821411042"/>
                  </a:ext>
                </a:extLst>
              </a:tr>
            </a:tbl>
          </a:graphicData>
        </a:graphic>
      </p:graphicFrame>
    </p:spTree>
    <p:extLst>
      <p:ext uri="{BB962C8B-B14F-4D97-AF65-F5344CB8AC3E}">
        <p14:creationId xmlns:p14="http://schemas.microsoft.com/office/powerpoint/2010/main" val="938748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8238BB-E936-8F61-34EC-DA15D2DE168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Hộp Văn bản 1">
            <a:extLst>
              <a:ext uri="{FF2B5EF4-FFF2-40B4-BE49-F238E27FC236}">
                <a16:creationId xmlns:a16="http://schemas.microsoft.com/office/drawing/2014/main" id="{313A32FC-994F-BFC4-1E2B-C5EDE507F2CA}"/>
              </a:ext>
            </a:extLst>
          </p:cNvPr>
          <p:cNvSpPr txBox="1"/>
          <p:nvPr/>
        </p:nvSpPr>
        <p:spPr>
          <a:xfrm>
            <a:off x="1371599" y="294538"/>
            <a:ext cx="9895951" cy="103366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400" kern="1200">
                <a:solidFill>
                  <a:srgbClr val="FFFFFF"/>
                </a:solidFill>
                <a:latin typeface="+mj-lt"/>
                <a:ea typeface="+mj-ea"/>
                <a:cs typeface="+mj-cs"/>
              </a:rPr>
              <a:t>Cơ sở tiêu chuẩn cho ngưỡng cảnh báo theo từng dải tần</a:t>
            </a:r>
          </a:p>
        </p:txBody>
      </p:sp>
      <p:sp>
        <p:nvSpPr>
          <p:cNvPr id="4" name="Hộp Văn bản 3">
            <a:extLst>
              <a:ext uri="{FF2B5EF4-FFF2-40B4-BE49-F238E27FC236}">
                <a16:creationId xmlns:a16="http://schemas.microsoft.com/office/drawing/2014/main" id="{518AEEE4-A144-BF94-BEF1-22801BD7FB64}"/>
              </a:ext>
            </a:extLst>
          </p:cNvPr>
          <p:cNvSpPr txBox="1"/>
          <p:nvPr/>
        </p:nvSpPr>
        <p:spPr>
          <a:xfrm>
            <a:off x="1371599" y="2318197"/>
            <a:ext cx="9724031" cy="3683358"/>
          </a:xfrm>
          <a:prstGeom prst="rect">
            <a:avLst/>
          </a:prstGeom>
        </p:spPr>
        <p:txBody>
          <a:bodyPr vert="horz" lIns="91440" tIns="45720" rIns="91440" bIns="45720" rtlCol="0" anchor="ctr">
            <a:normAutofit/>
          </a:bodyPr>
          <a:lstStyle/>
          <a:p>
            <a:pPr>
              <a:lnSpc>
                <a:spcPct val="90000"/>
              </a:lnSpc>
              <a:spcAft>
                <a:spcPts val="600"/>
              </a:spcAft>
            </a:pPr>
            <a:r>
              <a:rPr lang="en-US" dirty="0">
                <a:latin typeface="Times New Roman" panose="02020603050405020304" pitchFamily="18" charset="0"/>
                <a:cs typeface="Times New Roman" panose="02020603050405020304" pitchFamily="18" charset="0"/>
              </a:rPr>
              <a:t>Phương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từng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tần</a:t>
            </a:r>
            <a:endParaRPr lang="en-US" dirty="0">
              <a:latin typeface="Times New Roman" panose="02020603050405020304" pitchFamily="18" charset="0"/>
              <a:cs typeface="Times New Roman" panose="02020603050405020304" pitchFamily="18" charset="0"/>
            </a:endParaRPr>
          </a:p>
          <a:p>
            <a:pPr>
              <a:lnSpc>
                <a:spcPct val="90000"/>
              </a:lnSpc>
              <a:spcAft>
                <a:spcPts val="600"/>
              </a:spcAft>
            </a:pPr>
            <a:r>
              <a:rPr lang="vi-VN"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hợp</a:t>
            </a:r>
            <a:r>
              <a:rPr lang="en-US" dirty="0">
                <a:latin typeface="Times New Roman" panose="02020603050405020304" pitchFamily="18" charset="0"/>
                <a:cs typeface="Times New Roman" panose="02020603050405020304" pitchFamily="18" charset="0"/>
              </a:rPr>
              <a:t> 3 </a:t>
            </a:r>
            <a:r>
              <a:rPr lang="en-US" dirty="0" err="1">
                <a:latin typeface="Times New Roman" panose="02020603050405020304" pitchFamily="18" charset="0"/>
                <a:cs typeface="Times New Roman" panose="02020603050405020304" pitchFamily="18" charset="0"/>
              </a:rPr>
              <a:t>lớp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sở</a:t>
            </a:r>
            <a:r>
              <a:rPr lang="en-US" dirty="0">
                <a:latin typeface="Times New Roman" panose="02020603050405020304" pitchFamily="18" charset="0"/>
                <a:cs typeface="Times New Roman" panose="02020603050405020304" pitchFamily="18" charset="0"/>
              </a:rPr>
              <a:t>:</a:t>
            </a:r>
          </a:p>
          <a:p>
            <a:pPr marL="285750" lvl="0" indent="-228600">
              <a:lnSpc>
                <a:spcPct val="90000"/>
              </a:lnSpc>
              <a:spcAft>
                <a:spcPts val="600"/>
              </a:spcAf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Lớp</a:t>
            </a:r>
            <a:r>
              <a:rPr lang="en-US" dirty="0">
                <a:latin typeface="Times New Roman" panose="02020603050405020304" pitchFamily="18" charset="0"/>
                <a:cs typeface="Times New Roman" panose="02020603050405020304" pitchFamily="18" charset="0"/>
              </a:rPr>
              <a:t> 1 — </a:t>
            </a:r>
            <a:r>
              <a:rPr lang="en-US" dirty="0" err="1">
                <a:latin typeface="Times New Roman" panose="02020603050405020304" pitchFamily="18" charset="0"/>
                <a:cs typeface="Times New Roman" panose="02020603050405020304" pitchFamily="18" charset="0"/>
              </a:rPr>
              <a:t>Ngưỡng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rộng</a:t>
            </a:r>
            <a:r>
              <a:rPr lang="en-US" dirty="0">
                <a:latin typeface="Times New Roman" panose="02020603050405020304" pitchFamily="18" charset="0"/>
                <a:cs typeface="Times New Roman" panose="02020603050405020304" pitchFamily="18" charset="0"/>
              </a:rPr>
              <a:t>: ISO 20816-3, </a:t>
            </a:r>
            <a:r>
              <a:rPr lang="en-US" dirty="0" err="1">
                <a:latin typeface="Times New Roman" panose="02020603050405020304" pitchFamily="18" charset="0"/>
                <a:cs typeface="Times New Roman" panose="02020603050405020304" pitchFamily="18" charset="0"/>
              </a:rPr>
              <a:t>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Group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khung</a:t>
            </a:r>
            <a:r>
              <a:rPr lang="en-US" dirty="0">
                <a:latin typeface="Times New Roman" panose="02020603050405020304" pitchFamily="18" charset="0"/>
                <a:cs typeface="Times New Roman" panose="02020603050405020304" pitchFamily="18" charset="0"/>
              </a:rPr>
              <a:t> neo (Zone A/B, B/C, C/D).</a:t>
            </a:r>
          </a:p>
          <a:p>
            <a:pPr marL="285750" lvl="0" indent="-228600">
              <a:lnSpc>
                <a:spcPct val="90000"/>
              </a:lnSpc>
              <a:spcAft>
                <a:spcPts val="600"/>
              </a:spcAf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Lớp</a:t>
            </a:r>
            <a:r>
              <a:rPr lang="en-US" dirty="0">
                <a:latin typeface="Times New Roman" panose="02020603050405020304" pitchFamily="18" charset="0"/>
                <a:cs typeface="Times New Roman" panose="02020603050405020304" pitchFamily="18" charset="0"/>
              </a:rPr>
              <a:t> 2 — Phương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ISO 13373-2 + VDI 3839 → </a:t>
            </a:r>
            <a:r>
              <a:rPr lang="en-US" dirty="0" err="1">
                <a:latin typeface="Times New Roman" panose="02020603050405020304" pitchFamily="18" charset="0"/>
                <a:cs typeface="Times New Roman" panose="02020603050405020304" pitchFamily="18" charset="0"/>
              </a:rPr>
              <a:t>biện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minh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việc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chọn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đúng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dải</a:t>
            </a:r>
            <a:r>
              <a:rPr lang="en-US" dirty="0">
                <a:latin typeface="Times New Roman" panose="02020603050405020304" pitchFamily="18" charset="0"/>
                <a:cs typeface="Times New Roman" panose="02020603050405020304" pitchFamily="18" charset="0"/>
              </a:rPr>
              <a:t> 1X/2X/3X-4X/BPFO/BPFI,</a:t>
            </a:r>
          </a:p>
          <a:p>
            <a:pPr lvl="0" indent="-228600">
              <a:lnSpc>
                <a:spcPct val="90000"/>
              </a:lnSpc>
              <a:spcAft>
                <a:spcPts val="60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minh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con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mm/s.</a:t>
            </a:r>
          </a:p>
          <a:p>
            <a:pPr marL="285750" lvl="0" indent="-228600">
              <a:lnSpc>
                <a:spcPct val="90000"/>
              </a:lnSpc>
              <a:spcAft>
                <a:spcPts val="600"/>
              </a:spcAf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Lớp</a:t>
            </a:r>
            <a:r>
              <a:rPr lang="en-US" dirty="0">
                <a:latin typeface="Times New Roman" panose="02020603050405020304" pitchFamily="18" charset="0"/>
                <a:cs typeface="Times New Roman" panose="02020603050405020304" pitchFamily="18" charset="0"/>
              </a:rPr>
              <a:t> 3 — </a:t>
            </a:r>
            <a:r>
              <a:rPr lang="en-US" dirty="0" err="1">
                <a:latin typeface="Times New Roman" panose="02020603050405020304" pitchFamily="18" charset="0"/>
                <a:cs typeface="Times New Roman" panose="02020603050405020304" pitchFamily="18" charset="0"/>
              </a:rPr>
              <a:t>Ngưỡng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ISO 13373-1 + ISO 17359, baseline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kê</a:t>
            </a:r>
            <a:r>
              <a:rPr lang="en-US" dirty="0">
                <a:latin typeface="Times New Roman" panose="02020603050405020304" pitchFamily="18" charset="0"/>
                <a:cs typeface="Times New Roman" panose="02020603050405020304" pitchFamily="18" charset="0"/>
              </a:rPr>
              <a:t>:</a:t>
            </a:r>
          </a:p>
          <a:p>
            <a:pPr>
              <a:lnSpc>
                <a:spcPct val="90000"/>
              </a:lnSpc>
              <a:spcAft>
                <a:spcPts val="600"/>
              </a:spcAft>
            </a:pPr>
            <a:r>
              <a:rPr lang="vi-V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Baseline = </a:t>
            </a:r>
            <a:r>
              <a:rPr lang="en-US" dirty="0" err="1">
                <a:latin typeface="Times New Roman" panose="02020603050405020304" pitchFamily="18" charset="0"/>
                <a:cs typeface="Times New Roman" panose="02020603050405020304" pitchFamily="18" charset="0"/>
              </a:rPr>
              <a:t>đo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nghiệm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thu</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chạy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ổn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r>
              <a:rPr lang="en-US" dirty="0">
                <a:latin typeface="Times New Roman" panose="02020603050405020304" pitchFamily="18" charset="0"/>
                <a:cs typeface="Times New Roman" panose="02020603050405020304" pitchFamily="18" charset="0"/>
              </a:rPr>
              <a:t> FAT </a:t>
            </a:r>
            <a:r>
              <a:rPr lang="en-US" dirty="0" err="1">
                <a:latin typeface="Times New Roman" panose="02020603050405020304" pitchFamily="18" charset="0"/>
                <a:cs typeface="Times New Roman" panose="02020603050405020304" pitchFamily="18" charset="0"/>
              </a:rPr>
              <a:t>nếu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API 617/619)</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Warning  = </a:t>
            </a:r>
            <a:r>
              <a:rPr lang="en-US" dirty="0" err="1">
                <a:latin typeface="Times New Roman" panose="02020603050405020304" pitchFamily="18" charset="0"/>
                <a:cs typeface="Times New Roman" panose="02020603050405020304" pitchFamily="18" charset="0"/>
              </a:rPr>
              <a:t>μ_baseline</a:t>
            </a:r>
            <a:r>
              <a:rPr lang="en-US" dirty="0">
                <a:latin typeface="Times New Roman" panose="02020603050405020304" pitchFamily="18" charset="0"/>
                <a:cs typeface="Times New Roman" panose="02020603050405020304" pitchFamily="18" charset="0"/>
              </a:rPr>
              <a:t> + 2σ_baseline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riêng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từng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tần</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Alarm    = </a:t>
            </a:r>
            <a:r>
              <a:rPr lang="en-US" dirty="0" err="1">
                <a:latin typeface="Times New Roman" panose="02020603050405020304" pitchFamily="18" charset="0"/>
                <a:cs typeface="Times New Roman" panose="02020603050405020304" pitchFamily="18" charset="0"/>
              </a:rPr>
              <a:t>μ_baseline</a:t>
            </a:r>
            <a:r>
              <a:rPr lang="en-US" dirty="0">
                <a:latin typeface="Times New Roman" panose="02020603050405020304" pitchFamily="18" charset="0"/>
                <a:cs typeface="Times New Roman" panose="02020603050405020304" pitchFamily="18" charset="0"/>
              </a:rPr>
              <a:t> + 3σ_baseline</a:t>
            </a:r>
          </a:p>
          <a:p>
            <a:pPr indent="-228600">
              <a:lnSpc>
                <a:spcPct val="90000"/>
              </a:lnSpc>
              <a:spcAft>
                <a:spcPts val="600"/>
              </a:spcAft>
              <a:buFont typeface="Arial" panose="020B0604020202020204" pitchFamily="34" charset="0"/>
              <a:buChar char="•"/>
            </a:pPr>
            <a:endParaRPr lang="en-US" sz="1700" dirty="0"/>
          </a:p>
        </p:txBody>
      </p:sp>
      <p:sp>
        <p:nvSpPr>
          <p:cNvPr id="5" name="Hộp Văn bản 4">
            <a:extLst>
              <a:ext uri="{FF2B5EF4-FFF2-40B4-BE49-F238E27FC236}">
                <a16:creationId xmlns:a16="http://schemas.microsoft.com/office/drawing/2014/main" id="{0739ACB6-B3A9-5FB1-713E-CD8F088F7FC4}"/>
              </a:ext>
            </a:extLst>
          </p:cNvPr>
          <p:cNvSpPr txBox="1"/>
          <p:nvPr/>
        </p:nvSpPr>
        <p:spPr>
          <a:xfrm>
            <a:off x="2713383" y="3130826"/>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6856353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C8E9C6-5255-6B9D-8CCB-EDB4425ACA3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Hộp Văn bản 1">
            <a:extLst>
              <a:ext uri="{FF2B5EF4-FFF2-40B4-BE49-F238E27FC236}">
                <a16:creationId xmlns:a16="http://schemas.microsoft.com/office/drawing/2014/main" id="{E4D17ADE-1EF5-AB37-8AEB-8BF8C58528FC}"/>
              </a:ext>
            </a:extLst>
          </p:cNvPr>
          <p:cNvSpPr txBox="1"/>
          <p:nvPr/>
        </p:nvSpPr>
        <p:spPr>
          <a:xfrm>
            <a:off x="699713" y="248038"/>
            <a:ext cx="7063721" cy="115920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700" kern="1200" dirty="0" err="1">
                <a:solidFill>
                  <a:srgbClr val="FFFFFF"/>
                </a:solidFill>
                <a:latin typeface="Times New Roman" panose="02020603050405020304" pitchFamily="18" charset="0"/>
                <a:ea typeface="+mj-ea"/>
                <a:cs typeface="Times New Roman" panose="02020603050405020304" pitchFamily="18" charset="0"/>
              </a:rPr>
              <a:t>Cơ</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sở</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tiêu</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chuẩn</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cho</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ngưỡng</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cảnh</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báo</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theo</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từng</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dải</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tần</a:t>
            </a:r>
            <a:endParaRPr lang="en-US" sz="3700" kern="1200" dirty="0">
              <a:solidFill>
                <a:srgbClr val="FFFFFF"/>
              </a:solidFill>
              <a:latin typeface="Times New Roman" panose="02020603050405020304" pitchFamily="18" charset="0"/>
              <a:ea typeface="+mj-ea"/>
              <a:cs typeface="Times New Roman" panose="02020603050405020304" pitchFamily="18" charset="0"/>
            </a:endParaRPr>
          </a:p>
        </p:txBody>
      </p:sp>
      <p:sp>
        <p:nvSpPr>
          <p:cNvPr id="4" name="Hộp Văn bản 3">
            <a:extLst>
              <a:ext uri="{FF2B5EF4-FFF2-40B4-BE49-F238E27FC236}">
                <a16:creationId xmlns:a16="http://schemas.microsoft.com/office/drawing/2014/main" id="{E93D4B86-0AA9-25F2-4149-C8487B2AEEF4}"/>
              </a:ext>
            </a:extLst>
          </p:cNvPr>
          <p:cNvSpPr txBox="1"/>
          <p:nvPr/>
        </p:nvSpPr>
        <p:spPr>
          <a:xfrm>
            <a:off x="8572499" y="390832"/>
            <a:ext cx="3233585" cy="873612"/>
          </a:xfrm>
          <a:prstGeom prst="rect">
            <a:avLst/>
          </a:prstGeom>
        </p:spPr>
        <p:txBody>
          <a:bodyPr vert="horz" lIns="91440" tIns="45720" rIns="91440" bIns="45720" rtlCol="0" anchor="ctr">
            <a:normAutofit/>
          </a:bodyPr>
          <a:lstStyle/>
          <a:p>
            <a:pPr>
              <a:lnSpc>
                <a:spcPct val="90000"/>
              </a:lnSpc>
              <a:spcBef>
                <a:spcPts val="1000"/>
              </a:spcBef>
            </a:pPr>
            <a:r>
              <a:rPr lang="en-US" sz="2000" kern="1200" dirty="0" err="1">
                <a:solidFill>
                  <a:srgbClr val="FFFFFF"/>
                </a:solidFill>
                <a:latin typeface="Times New Roman" panose="02020603050405020304" pitchFamily="18" charset="0"/>
                <a:cs typeface="Times New Roman" panose="02020603050405020304" pitchFamily="18" charset="0"/>
              </a:rPr>
              <a:t>Sáu</a:t>
            </a:r>
            <a:r>
              <a:rPr lang="en-US" sz="2000" kern="1200" dirty="0">
                <a:solidFill>
                  <a:srgbClr val="FFFFFF"/>
                </a:solidFill>
                <a:latin typeface="Times New Roman" panose="02020603050405020304" pitchFamily="18" charset="0"/>
                <a:cs typeface="Times New Roman" panose="02020603050405020304" pitchFamily="18" charset="0"/>
              </a:rPr>
              <a:t> </a:t>
            </a:r>
            <a:r>
              <a:rPr lang="en-US" sz="2000" kern="1200" dirty="0" err="1">
                <a:solidFill>
                  <a:srgbClr val="FFFFFF"/>
                </a:solidFill>
                <a:latin typeface="Times New Roman" panose="02020603050405020304" pitchFamily="18" charset="0"/>
                <a:cs typeface="Times New Roman" panose="02020603050405020304" pitchFamily="18" charset="0"/>
              </a:rPr>
              <a:t>tiêu</a:t>
            </a:r>
            <a:r>
              <a:rPr lang="en-US" sz="2000" kern="1200" dirty="0">
                <a:solidFill>
                  <a:srgbClr val="FFFFFF"/>
                </a:solidFill>
                <a:latin typeface="Times New Roman" panose="02020603050405020304" pitchFamily="18" charset="0"/>
                <a:cs typeface="Times New Roman" panose="02020603050405020304" pitchFamily="18" charset="0"/>
              </a:rPr>
              <a:t> </a:t>
            </a:r>
            <a:r>
              <a:rPr lang="en-US" sz="2000" kern="1200" dirty="0" err="1">
                <a:solidFill>
                  <a:srgbClr val="FFFFFF"/>
                </a:solidFill>
                <a:latin typeface="Times New Roman" panose="02020603050405020304" pitchFamily="18" charset="0"/>
                <a:cs typeface="Times New Roman" panose="02020603050405020304" pitchFamily="18" charset="0"/>
              </a:rPr>
              <a:t>chí</a:t>
            </a:r>
            <a:r>
              <a:rPr lang="en-US" sz="2000" kern="1200" dirty="0">
                <a:solidFill>
                  <a:srgbClr val="FFFFFF"/>
                </a:solidFill>
                <a:latin typeface="Times New Roman" panose="02020603050405020304" pitchFamily="18" charset="0"/>
                <a:cs typeface="Times New Roman" panose="02020603050405020304" pitchFamily="18" charset="0"/>
              </a:rPr>
              <a:t> </a:t>
            </a:r>
            <a:r>
              <a:rPr lang="en-US" sz="2000" kern="1200" dirty="0" err="1">
                <a:solidFill>
                  <a:srgbClr val="FFFFFF"/>
                </a:solidFill>
                <a:latin typeface="Times New Roman" panose="02020603050405020304" pitchFamily="18" charset="0"/>
                <a:cs typeface="Times New Roman" panose="02020603050405020304" pitchFamily="18" charset="0"/>
              </a:rPr>
              <a:t>tính</a:t>
            </a:r>
            <a:r>
              <a:rPr lang="en-US" sz="2000" kern="1200" dirty="0">
                <a:solidFill>
                  <a:srgbClr val="FFFFFF"/>
                </a:solidFill>
                <a:latin typeface="Times New Roman" panose="02020603050405020304" pitchFamily="18" charset="0"/>
                <a:cs typeface="Times New Roman" panose="02020603050405020304" pitchFamily="18" charset="0"/>
              </a:rPr>
              <a:t> </a:t>
            </a:r>
            <a:r>
              <a:rPr lang="en-US" sz="2000" kern="1200" dirty="0" err="1">
                <a:solidFill>
                  <a:srgbClr val="FFFFFF"/>
                </a:solidFill>
                <a:latin typeface="Times New Roman" panose="02020603050405020304" pitchFamily="18" charset="0"/>
                <a:cs typeface="Times New Roman" panose="02020603050405020304" pitchFamily="18" charset="0"/>
              </a:rPr>
              <a:t>toán</a:t>
            </a:r>
            <a:r>
              <a:rPr lang="en-US" sz="2000" kern="1200" dirty="0">
                <a:solidFill>
                  <a:srgbClr val="FFFFFF"/>
                </a:solidFill>
                <a:latin typeface="Times New Roman" panose="02020603050405020304" pitchFamily="18" charset="0"/>
                <a:cs typeface="Times New Roman" panose="02020603050405020304" pitchFamily="18" charset="0"/>
              </a:rPr>
              <a:t> </a:t>
            </a:r>
            <a:r>
              <a:rPr lang="en-US" sz="2000" kern="1200" dirty="0" err="1">
                <a:solidFill>
                  <a:srgbClr val="FFFFFF"/>
                </a:solidFill>
                <a:latin typeface="Times New Roman" panose="02020603050405020304" pitchFamily="18" charset="0"/>
                <a:cs typeface="Times New Roman" panose="02020603050405020304" pitchFamily="18" charset="0"/>
              </a:rPr>
              <a:t>tổng</a:t>
            </a:r>
            <a:r>
              <a:rPr lang="en-US" sz="2000" kern="1200" dirty="0">
                <a:solidFill>
                  <a:srgbClr val="FFFFFF"/>
                </a:solidFill>
                <a:latin typeface="Times New Roman" panose="02020603050405020304" pitchFamily="18" charset="0"/>
                <a:cs typeface="Times New Roman" panose="02020603050405020304" pitchFamily="18" charset="0"/>
              </a:rPr>
              <a:t> </a:t>
            </a:r>
            <a:r>
              <a:rPr lang="en-US" sz="2000" kern="1200" dirty="0" err="1">
                <a:solidFill>
                  <a:srgbClr val="FFFFFF"/>
                </a:solidFill>
                <a:latin typeface="Times New Roman" panose="02020603050405020304" pitchFamily="18" charset="0"/>
                <a:cs typeface="Times New Roman" panose="02020603050405020304" pitchFamily="18" charset="0"/>
              </a:rPr>
              <a:t>hợp</a:t>
            </a:r>
            <a:endParaRPr lang="en-US" sz="2000" kern="1200" dirty="0">
              <a:solidFill>
                <a:srgbClr val="FFFFFF"/>
              </a:solidFill>
              <a:latin typeface="Times New Roman" panose="02020603050405020304" pitchFamily="18" charset="0"/>
              <a:cs typeface="Times New Roman" panose="02020603050405020304" pitchFamily="18" charset="0"/>
            </a:endParaRPr>
          </a:p>
        </p:txBody>
      </p:sp>
      <p:sp>
        <p:nvSpPr>
          <p:cNvPr id="5" name="Hộp Văn bản 4">
            <a:extLst>
              <a:ext uri="{FF2B5EF4-FFF2-40B4-BE49-F238E27FC236}">
                <a16:creationId xmlns:a16="http://schemas.microsoft.com/office/drawing/2014/main" id="{1EA36694-1B39-61BA-62DD-9BEA800F20FA}"/>
              </a:ext>
            </a:extLst>
          </p:cNvPr>
          <p:cNvSpPr txBox="1"/>
          <p:nvPr/>
        </p:nvSpPr>
        <p:spPr>
          <a:xfrm>
            <a:off x="2713383" y="3130826"/>
            <a:ext cx="184731" cy="369332"/>
          </a:xfrm>
          <a:prstGeom prst="rect">
            <a:avLst/>
          </a:prstGeom>
          <a:noFill/>
        </p:spPr>
        <p:txBody>
          <a:bodyPr wrap="none" rtlCol="0">
            <a:spAutoFit/>
          </a:bodyPr>
          <a:lstStyle/>
          <a:p>
            <a:endParaRPr lang="en-US" dirty="0"/>
          </a:p>
        </p:txBody>
      </p:sp>
      <p:graphicFrame>
        <p:nvGraphicFramePr>
          <p:cNvPr id="3" name="Bảng 2">
            <a:extLst>
              <a:ext uri="{FF2B5EF4-FFF2-40B4-BE49-F238E27FC236}">
                <a16:creationId xmlns:a16="http://schemas.microsoft.com/office/drawing/2014/main" id="{AA6B3CF8-907B-30C1-1685-4319F2DD6AC0}"/>
              </a:ext>
            </a:extLst>
          </p:cNvPr>
          <p:cNvGraphicFramePr>
            <a:graphicFrameLocks noGrp="1"/>
          </p:cNvGraphicFramePr>
          <p:nvPr>
            <p:extLst>
              <p:ext uri="{D42A27DB-BD31-4B8C-83A1-F6EECF244321}">
                <p14:modId xmlns:p14="http://schemas.microsoft.com/office/powerpoint/2010/main" val="2980708900"/>
              </p:ext>
            </p:extLst>
          </p:nvPr>
        </p:nvGraphicFramePr>
        <p:xfrm>
          <a:off x="432225" y="2041417"/>
          <a:ext cx="11327550" cy="4301913"/>
        </p:xfrm>
        <a:graphic>
          <a:graphicData uri="http://schemas.openxmlformats.org/drawingml/2006/table">
            <a:tbl>
              <a:tblPr/>
              <a:tblGrid>
                <a:gridCol w="565358">
                  <a:extLst>
                    <a:ext uri="{9D8B030D-6E8A-4147-A177-3AD203B41FA5}">
                      <a16:colId xmlns:a16="http://schemas.microsoft.com/office/drawing/2014/main" val="2282389961"/>
                    </a:ext>
                  </a:extLst>
                </a:gridCol>
                <a:gridCol w="3216990">
                  <a:extLst>
                    <a:ext uri="{9D8B030D-6E8A-4147-A177-3AD203B41FA5}">
                      <a16:colId xmlns:a16="http://schemas.microsoft.com/office/drawing/2014/main" val="646800145"/>
                    </a:ext>
                  </a:extLst>
                </a:gridCol>
                <a:gridCol w="3362066">
                  <a:extLst>
                    <a:ext uri="{9D8B030D-6E8A-4147-A177-3AD203B41FA5}">
                      <a16:colId xmlns:a16="http://schemas.microsoft.com/office/drawing/2014/main" val="335666573"/>
                    </a:ext>
                  </a:extLst>
                </a:gridCol>
                <a:gridCol w="4183136">
                  <a:extLst>
                    <a:ext uri="{9D8B030D-6E8A-4147-A177-3AD203B41FA5}">
                      <a16:colId xmlns:a16="http://schemas.microsoft.com/office/drawing/2014/main" val="1155420549"/>
                    </a:ext>
                  </a:extLst>
                </a:gridCol>
              </a:tblGrid>
              <a:tr h="385965">
                <a:tc>
                  <a:txBody>
                    <a:bodyPr/>
                    <a:lstStyle/>
                    <a:p>
                      <a:pPr algn="l" fontAlgn="t">
                        <a:buNone/>
                      </a:pPr>
                      <a:r>
                        <a:rPr lang="en-US" sz="1900" b="1" i="0" u="none" strike="noStrike">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5395"/>
                    </a:solidFill>
                  </a:tcPr>
                </a:tc>
                <a:tc>
                  <a:txBody>
                    <a:bodyPr/>
                    <a:lstStyle/>
                    <a:p>
                      <a:pPr algn="l" fontAlgn="t">
                        <a:buNone/>
                      </a:pPr>
                      <a:r>
                        <a:rPr lang="en-US" sz="1900" b="1" i="0" u="none" strike="noStrike">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Tiêu chí</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5395"/>
                    </a:solidFill>
                  </a:tcPr>
                </a:tc>
                <a:tc>
                  <a:txBody>
                    <a:bodyPr/>
                    <a:lstStyle/>
                    <a:p>
                      <a:pPr algn="l" fontAlgn="t">
                        <a:buNone/>
                      </a:pPr>
                      <a:r>
                        <a:rPr lang="en-US" sz="1900" b="1" i="0" u="none" strike="noStrike">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Chuẩn áp dụng</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5395"/>
                    </a:solidFill>
                  </a:tcPr>
                </a:tc>
                <a:tc>
                  <a:txBody>
                    <a:bodyPr/>
                    <a:lstStyle/>
                    <a:p>
                      <a:pPr algn="l" fontAlgn="t">
                        <a:buNone/>
                      </a:pPr>
                      <a:r>
                        <a:rPr lang="en-US" sz="1900" b="1" i="0" u="none" strike="noStrike">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Input → Output</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5395"/>
                    </a:solidFill>
                  </a:tcPr>
                </a:tc>
                <a:extLst>
                  <a:ext uri="{0D108BD9-81ED-4DB2-BD59-A6C34878D82A}">
                    <a16:rowId xmlns:a16="http://schemas.microsoft.com/office/drawing/2014/main" val="2863474352"/>
                  </a:ext>
                </a:extLst>
              </a:tr>
              <a:tr h="652658">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Xác định nhóm máy &amp; ngưỡng tổng</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ISO 20816-1 + ISO 20816-3</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 n, loại nền móng → Zone A/B/C/D</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3668336"/>
                  </a:ext>
                </a:extLst>
              </a:tr>
              <a:tr h="652658">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6FC"/>
                    </a:solidFill>
                  </a:tcPr>
                </a:tc>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Nhận diện dải tần đặc trưng</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6FC"/>
                    </a:solidFill>
                  </a:tcPr>
                </a:tc>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ISO 13373-2, VDI 3839</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6FC"/>
                    </a:solidFill>
                  </a:tcPr>
                </a:tc>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f_rot, hình học vòng bi, số thùy → danh sách dải tần cần giám sát</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6FC"/>
                    </a:solidFill>
                  </a:tcPr>
                </a:tc>
                <a:extLst>
                  <a:ext uri="{0D108BD9-81ED-4DB2-BD59-A6C34878D82A}">
                    <a16:rowId xmlns:a16="http://schemas.microsoft.com/office/drawing/2014/main" val="109634447"/>
                  </a:ext>
                </a:extLst>
              </a:tr>
              <a:tr h="652658">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Thiết lập baseline</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ISO 13373-1, ISO 17359, API 617/619</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 mẫu khi máy khỏe, ổn định → μ, σ từng dải</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8917795"/>
                  </a:ext>
                </a:extLst>
              </a:tr>
              <a:tr h="652658">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6FC"/>
                    </a:solidFill>
                  </a:tcPr>
                </a:tc>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Phân bổ ngưỡng dải hẹp</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6FC"/>
                    </a:solidFill>
                  </a:tcPr>
                </a:tc>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Tỷ trọng thực đo + ràng buộc RSS ≤ Tiêu chí 1</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6FC"/>
                    </a:solidFill>
                  </a:tcPr>
                </a:tc>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μ, σ từng dải → Warning_i, Alarm_i</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6FC"/>
                    </a:solidFill>
                  </a:tcPr>
                </a:tc>
                <a:extLst>
                  <a:ext uri="{0D108BD9-81ED-4DB2-BD59-A6C34878D82A}">
                    <a16:rowId xmlns:a16="http://schemas.microsoft.com/office/drawing/2014/main" val="184045227"/>
                  </a:ext>
                </a:extLst>
              </a:tr>
              <a:tr h="652658">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Đánh giá xu hướng (Criterion II)</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ISO 20816-1</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ΔA_band theo thời gian → cờ cảnh báo sớm</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8993433"/>
                  </a:ext>
                </a:extLst>
              </a:tr>
              <a:tr h="652658">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6FC"/>
                    </a:solidFill>
                  </a:tcPr>
                </a:tc>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Xác thực chéo nhiệt độ</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6FC"/>
                    </a:solidFill>
                  </a:tcPr>
                </a:tc>
                <a:tc>
                  <a:txBody>
                    <a:bodyPr/>
                    <a:lstStyle/>
                    <a:p>
                      <a:pPr algn="l" fontAlgn="t">
                        <a:buNone/>
                      </a:pPr>
                      <a:r>
                        <a:rPr lang="en-US" sz="1800" b="0" i="0" u="none" strike="noStrike">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IEC 60034-1, API 619</a:t>
                      </a:r>
                      <a:endParaRPr lang="en-US" sz="3500" b="0" i="0" u="none" strike="noStrike">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6FC"/>
                    </a:solidFill>
                  </a:tcPr>
                </a:tc>
                <a:tc>
                  <a:txBody>
                    <a:bodyPr/>
                    <a:lstStyle/>
                    <a:p>
                      <a:pPr algn="l" fontAlgn="t">
                        <a:buNone/>
                      </a:pPr>
                      <a:r>
                        <a:rPr lang="en-US" sz="1800" b="0" i="0" u="none" strike="noStrike"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Nhiệt</a:t>
                      </a:r>
                      <a:r>
                        <a:rPr lang="en-US" sz="1800" b="0" i="0" u="none" strike="noStrike"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độ</a:t>
                      </a:r>
                      <a:r>
                        <a:rPr lang="en-US" sz="1800" b="0" i="0" u="none" strike="noStrike"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gối</a:t>
                      </a:r>
                      <a:r>
                        <a:rPr lang="en-US" sz="1800" b="0" i="0" u="none" strike="noStrike"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đỡ</a:t>
                      </a:r>
                      <a:r>
                        <a:rPr lang="en-US" sz="1800" b="0" i="0" u="none" strike="noStrike"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b="0" i="0" u="none" strike="noStrike"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cuộn</a:t>
                      </a:r>
                      <a:r>
                        <a:rPr lang="en-US" sz="1800" b="0" i="0" u="none" strike="noStrike"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dây</a:t>
                      </a:r>
                      <a:r>
                        <a:rPr lang="en-US" sz="1800" b="0" i="0" u="none" strike="noStrike"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b="0" i="0" u="none" strike="noStrike"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độ</a:t>
                      </a:r>
                      <a:r>
                        <a:rPr lang="en-US" sz="1800" b="0" i="0" u="none" strike="noStrike"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tin </a:t>
                      </a:r>
                      <a:r>
                        <a:rPr lang="en-US" sz="1800" b="0" i="0" u="none" strike="noStrike"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cậy</a:t>
                      </a:r>
                      <a:r>
                        <a:rPr lang="en-US" sz="1800" b="0" i="0" u="none" strike="noStrike"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chẩn</a:t>
                      </a:r>
                      <a:r>
                        <a:rPr lang="en-US" sz="1800" b="0" i="0" u="none" strike="noStrike"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đoán</a:t>
                      </a:r>
                      <a:endParaRPr lang="en-US" sz="3500" b="0" i="0" u="none" strike="noStrike" dirty="0">
                        <a:effectLst/>
                        <a:latin typeface="Times New Roman" panose="02020603050405020304" pitchFamily="18" charset="0"/>
                        <a:cs typeface="Times New Roman" panose="02020603050405020304" pitchFamily="18" charset="0"/>
                      </a:endParaRPr>
                    </a:p>
                  </a:txBody>
                  <a:tcPr marL="12347" marR="12347" marT="185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6FC"/>
                    </a:solidFill>
                  </a:tcPr>
                </a:tc>
                <a:extLst>
                  <a:ext uri="{0D108BD9-81ED-4DB2-BD59-A6C34878D82A}">
                    <a16:rowId xmlns:a16="http://schemas.microsoft.com/office/drawing/2014/main" val="3326271109"/>
                  </a:ext>
                </a:extLst>
              </a:tr>
            </a:tbl>
          </a:graphicData>
        </a:graphic>
      </p:graphicFrame>
      <p:sp>
        <p:nvSpPr>
          <p:cNvPr id="6" name="Hộp Văn bản 5">
            <a:extLst>
              <a:ext uri="{FF2B5EF4-FFF2-40B4-BE49-F238E27FC236}">
                <a16:creationId xmlns:a16="http://schemas.microsoft.com/office/drawing/2014/main" id="{B14820BF-AD99-21C9-2635-628ED0498A7A}"/>
              </a:ext>
            </a:extLst>
          </p:cNvPr>
          <p:cNvSpPr txBox="1"/>
          <p:nvPr/>
        </p:nvSpPr>
        <p:spPr>
          <a:xfrm>
            <a:off x="2381459" y="656157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77651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C1EB2C-CA3F-6FE4-F076-5243884EF7F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2E69F0-1E09-56F3-A804-AD70FF112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4E7AC53-83A0-FFE8-D59F-F27E93432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45DBDDC-DE23-57B4-C00C-7904EFB281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BA506B3-E954-033A-20B2-3C75685B10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Hộp Văn bản 1">
            <a:extLst>
              <a:ext uri="{FF2B5EF4-FFF2-40B4-BE49-F238E27FC236}">
                <a16:creationId xmlns:a16="http://schemas.microsoft.com/office/drawing/2014/main" id="{420CCF88-9BB2-23B5-06CD-C2F08CDBBBD2}"/>
              </a:ext>
            </a:extLst>
          </p:cNvPr>
          <p:cNvSpPr txBox="1"/>
          <p:nvPr/>
        </p:nvSpPr>
        <p:spPr>
          <a:xfrm>
            <a:off x="699713" y="248038"/>
            <a:ext cx="7063721" cy="115920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700" kern="1200" dirty="0" err="1">
                <a:solidFill>
                  <a:srgbClr val="FFFFFF"/>
                </a:solidFill>
                <a:latin typeface="Times New Roman" panose="02020603050405020304" pitchFamily="18" charset="0"/>
                <a:ea typeface="+mj-ea"/>
                <a:cs typeface="Times New Roman" panose="02020603050405020304" pitchFamily="18" charset="0"/>
              </a:rPr>
              <a:t>Cơ</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sở</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tiêu</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chuẩn</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cho</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ngưỡng</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cảnh</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báo</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theo</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từng</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dải</a:t>
            </a:r>
            <a:r>
              <a:rPr lang="en-US" sz="3700" kern="1200" dirty="0">
                <a:solidFill>
                  <a:srgbClr val="FFFFFF"/>
                </a:solidFill>
                <a:latin typeface="Times New Roman" panose="02020603050405020304" pitchFamily="18" charset="0"/>
                <a:ea typeface="+mj-ea"/>
                <a:cs typeface="Times New Roman" panose="02020603050405020304" pitchFamily="18" charset="0"/>
              </a:rPr>
              <a:t> </a:t>
            </a:r>
            <a:r>
              <a:rPr lang="en-US" sz="3700" kern="1200" dirty="0" err="1">
                <a:solidFill>
                  <a:srgbClr val="FFFFFF"/>
                </a:solidFill>
                <a:latin typeface="Times New Roman" panose="02020603050405020304" pitchFamily="18" charset="0"/>
                <a:ea typeface="+mj-ea"/>
                <a:cs typeface="Times New Roman" panose="02020603050405020304" pitchFamily="18" charset="0"/>
              </a:rPr>
              <a:t>tần</a:t>
            </a:r>
            <a:endParaRPr lang="en-US" sz="3700" kern="1200" dirty="0">
              <a:solidFill>
                <a:srgbClr val="FFFFFF"/>
              </a:solidFill>
              <a:latin typeface="Times New Roman" panose="02020603050405020304" pitchFamily="18" charset="0"/>
              <a:ea typeface="+mj-ea"/>
              <a:cs typeface="Times New Roman" panose="02020603050405020304" pitchFamily="18" charset="0"/>
            </a:endParaRPr>
          </a:p>
        </p:txBody>
      </p:sp>
      <p:sp>
        <p:nvSpPr>
          <p:cNvPr id="4" name="Hộp Văn bản 3">
            <a:extLst>
              <a:ext uri="{FF2B5EF4-FFF2-40B4-BE49-F238E27FC236}">
                <a16:creationId xmlns:a16="http://schemas.microsoft.com/office/drawing/2014/main" id="{B0CD48E0-4229-7911-2AB0-2F25B22B7F4C}"/>
              </a:ext>
            </a:extLst>
          </p:cNvPr>
          <p:cNvSpPr txBox="1"/>
          <p:nvPr/>
        </p:nvSpPr>
        <p:spPr>
          <a:xfrm>
            <a:off x="8572499" y="390832"/>
            <a:ext cx="3233585" cy="873612"/>
          </a:xfrm>
          <a:prstGeom prst="rect">
            <a:avLst/>
          </a:prstGeom>
        </p:spPr>
        <p:txBody>
          <a:bodyPr vert="horz" lIns="91440" tIns="45720" rIns="91440" bIns="45720" rtlCol="0" anchor="ctr">
            <a:normAutofit/>
          </a:bodyPr>
          <a:lstStyle/>
          <a:p>
            <a:pPr>
              <a:lnSpc>
                <a:spcPct val="90000"/>
              </a:lnSpc>
              <a:spcBef>
                <a:spcPts val="1000"/>
              </a:spcBef>
            </a:pPr>
            <a:r>
              <a:rPr lang="en-US" sz="2000" kern="1200" dirty="0" err="1">
                <a:solidFill>
                  <a:srgbClr val="FFFFFF"/>
                </a:solidFill>
                <a:latin typeface="Times New Roman" panose="02020603050405020304" pitchFamily="18" charset="0"/>
                <a:cs typeface="Times New Roman" panose="02020603050405020304" pitchFamily="18" charset="0"/>
              </a:rPr>
              <a:t>Sáu</a:t>
            </a:r>
            <a:r>
              <a:rPr lang="en-US" sz="2000" kern="1200" dirty="0">
                <a:solidFill>
                  <a:srgbClr val="FFFFFF"/>
                </a:solidFill>
                <a:latin typeface="Times New Roman" panose="02020603050405020304" pitchFamily="18" charset="0"/>
                <a:cs typeface="Times New Roman" panose="02020603050405020304" pitchFamily="18" charset="0"/>
              </a:rPr>
              <a:t> </a:t>
            </a:r>
            <a:r>
              <a:rPr lang="en-US" sz="2000" kern="1200" dirty="0" err="1">
                <a:solidFill>
                  <a:srgbClr val="FFFFFF"/>
                </a:solidFill>
                <a:latin typeface="Times New Roman" panose="02020603050405020304" pitchFamily="18" charset="0"/>
                <a:cs typeface="Times New Roman" panose="02020603050405020304" pitchFamily="18" charset="0"/>
              </a:rPr>
              <a:t>tiêu</a:t>
            </a:r>
            <a:r>
              <a:rPr lang="en-US" sz="2000" kern="1200" dirty="0">
                <a:solidFill>
                  <a:srgbClr val="FFFFFF"/>
                </a:solidFill>
                <a:latin typeface="Times New Roman" panose="02020603050405020304" pitchFamily="18" charset="0"/>
                <a:cs typeface="Times New Roman" panose="02020603050405020304" pitchFamily="18" charset="0"/>
              </a:rPr>
              <a:t> </a:t>
            </a:r>
            <a:r>
              <a:rPr lang="en-US" sz="2000" kern="1200" dirty="0" err="1">
                <a:solidFill>
                  <a:srgbClr val="FFFFFF"/>
                </a:solidFill>
                <a:latin typeface="Times New Roman" panose="02020603050405020304" pitchFamily="18" charset="0"/>
                <a:cs typeface="Times New Roman" panose="02020603050405020304" pitchFamily="18" charset="0"/>
              </a:rPr>
              <a:t>chí</a:t>
            </a:r>
            <a:r>
              <a:rPr lang="en-US" sz="2000" kern="1200" dirty="0">
                <a:solidFill>
                  <a:srgbClr val="FFFFFF"/>
                </a:solidFill>
                <a:latin typeface="Times New Roman" panose="02020603050405020304" pitchFamily="18" charset="0"/>
                <a:cs typeface="Times New Roman" panose="02020603050405020304" pitchFamily="18" charset="0"/>
              </a:rPr>
              <a:t> </a:t>
            </a:r>
            <a:r>
              <a:rPr lang="en-US" sz="2000" kern="1200" dirty="0" err="1">
                <a:solidFill>
                  <a:srgbClr val="FFFFFF"/>
                </a:solidFill>
                <a:latin typeface="Times New Roman" panose="02020603050405020304" pitchFamily="18" charset="0"/>
                <a:cs typeface="Times New Roman" panose="02020603050405020304" pitchFamily="18" charset="0"/>
              </a:rPr>
              <a:t>tính</a:t>
            </a:r>
            <a:r>
              <a:rPr lang="en-US" sz="2000" kern="1200" dirty="0">
                <a:solidFill>
                  <a:srgbClr val="FFFFFF"/>
                </a:solidFill>
                <a:latin typeface="Times New Roman" panose="02020603050405020304" pitchFamily="18" charset="0"/>
                <a:cs typeface="Times New Roman" panose="02020603050405020304" pitchFamily="18" charset="0"/>
              </a:rPr>
              <a:t> </a:t>
            </a:r>
            <a:r>
              <a:rPr lang="en-US" sz="2000" kern="1200" dirty="0" err="1">
                <a:solidFill>
                  <a:srgbClr val="FFFFFF"/>
                </a:solidFill>
                <a:latin typeface="Times New Roman" panose="02020603050405020304" pitchFamily="18" charset="0"/>
                <a:cs typeface="Times New Roman" panose="02020603050405020304" pitchFamily="18" charset="0"/>
              </a:rPr>
              <a:t>toán</a:t>
            </a:r>
            <a:r>
              <a:rPr lang="en-US" sz="2000" kern="1200" dirty="0">
                <a:solidFill>
                  <a:srgbClr val="FFFFFF"/>
                </a:solidFill>
                <a:latin typeface="Times New Roman" panose="02020603050405020304" pitchFamily="18" charset="0"/>
                <a:cs typeface="Times New Roman" panose="02020603050405020304" pitchFamily="18" charset="0"/>
              </a:rPr>
              <a:t> </a:t>
            </a:r>
            <a:r>
              <a:rPr lang="en-US" sz="2000" kern="1200" dirty="0" err="1">
                <a:solidFill>
                  <a:srgbClr val="FFFFFF"/>
                </a:solidFill>
                <a:latin typeface="Times New Roman" panose="02020603050405020304" pitchFamily="18" charset="0"/>
                <a:cs typeface="Times New Roman" panose="02020603050405020304" pitchFamily="18" charset="0"/>
              </a:rPr>
              <a:t>tổng</a:t>
            </a:r>
            <a:r>
              <a:rPr lang="en-US" sz="2000" kern="1200" dirty="0">
                <a:solidFill>
                  <a:srgbClr val="FFFFFF"/>
                </a:solidFill>
                <a:latin typeface="Times New Roman" panose="02020603050405020304" pitchFamily="18" charset="0"/>
                <a:cs typeface="Times New Roman" panose="02020603050405020304" pitchFamily="18" charset="0"/>
              </a:rPr>
              <a:t> </a:t>
            </a:r>
            <a:r>
              <a:rPr lang="en-US" sz="2000" kern="1200" dirty="0" err="1">
                <a:solidFill>
                  <a:srgbClr val="FFFFFF"/>
                </a:solidFill>
                <a:latin typeface="Times New Roman" panose="02020603050405020304" pitchFamily="18" charset="0"/>
                <a:cs typeface="Times New Roman" panose="02020603050405020304" pitchFamily="18" charset="0"/>
              </a:rPr>
              <a:t>hợp</a:t>
            </a:r>
            <a:endParaRPr lang="en-US" sz="2000" kern="1200" dirty="0">
              <a:solidFill>
                <a:srgbClr val="FFFFFF"/>
              </a:solidFill>
              <a:latin typeface="Times New Roman" panose="02020603050405020304" pitchFamily="18" charset="0"/>
              <a:cs typeface="Times New Roman" panose="02020603050405020304" pitchFamily="18" charset="0"/>
            </a:endParaRPr>
          </a:p>
        </p:txBody>
      </p:sp>
      <p:sp>
        <p:nvSpPr>
          <p:cNvPr id="5" name="Hộp Văn bản 4">
            <a:extLst>
              <a:ext uri="{FF2B5EF4-FFF2-40B4-BE49-F238E27FC236}">
                <a16:creationId xmlns:a16="http://schemas.microsoft.com/office/drawing/2014/main" id="{5C50E0F5-E47D-1A63-24F0-963731B45FEB}"/>
              </a:ext>
            </a:extLst>
          </p:cNvPr>
          <p:cNvSpPr txBox="1"/>
          <p:nvPr/>
        </p:nvSpPr>
        <p:spPr>
          <a:xfrm>
            <a:off x="2713383" y="3130826"/>
            <a:ext cx="184731" cy="369332"/>
          </a:xfrm>
          <a:prstGeom prst="rect">
            <a:avLst/>
          </a:prstGeom>
          <a:noFill/>
        </p:spPr>
        <p:txBody>
          <a:bodyPr wrap="none" rtlCol="0">
            <a:spAutoFit/>
          </a:bodyPr>
          <a:lstStyle/>
          <a:p>
            <a:endParaRPr lang="en-US" dirty="0"/>
          </a:p>
        </p:txBody>
      </p:sp>
      <p:sp>
        <p:nvSpPr>
          <p:cNvPr id="6" name="Hộp Văn bản 5">
            <a:extLst>
              <a:ext uri="{FF2B5EF4-FFF2-40B4-BE49-F238E27FC236}">
                <a16:creationId xmlns:a16="http://schemas.microsoft.com/office/drawing/2014/main" id="{32E4F2B0-8070-21E3-B71E-BD179AF74C96}"/>
              </a:ext>
            </a:extLst>
          </p:cNvPr>
          <p:cNvSpPr txBox="1"/>
          <p:nvPr/>
        </p:nvSpPr>
        <p:spPr>
          <a:xfrm>
            <a:off x="2381459" y="6561574"/>
            <a:ext cx="184731" cy="369332"/>
          </a:xfrm>
          <a:prstGeom prst="rect">
            <a:avLst/>
          </a:prstGeom>
          <a:noFill/>
        </p:spPr>
        <p:txBody>
          <a:bodyPr wrap="none" rtlCol="0">
            <a:spAutoFit/>
          </a:bodyPr>
          <a:lstStyle/>
          <a:p>
            <a:endParaRPr lang="en-US" dirty="0"/>
          </a:p>
        </p:txBody>
      </p:sp>
      <p:sp>
        <p:nvSpPr>
          <p:cNvPr id="7" name="Hộp Văn bản 6">
            <a:extLst>
              <a:ext uri="{FF2B5EF4-FFF2-40B4-BE49-F238E27FC236}">
                <a16:creationId xmlns:a16="http://schemas.microsoft.com/office/drawing/2014/main" id="{FC2E683B-9645-15AC-EABF-E8790B3EE75A}"/>
              </a:ext>
            </a:extLst>
          </p:cNvPr>
          <p:cNvSpPr txBox="1"/>
          <p:nvPr/>
        </p:nvSpPr>
        <p:spPr>
          <a:xfrm>
            <a:off x="2080727" y="2164702"/>
            <a:ext cx="184731" cy="369332"/>
          </a:xfrm>
          <a:prstGeom prst="rect">
            <a:avLst/>
          </a:prstGeom>
          <a:noFill/>
        </p:spPr>
        <p:txBody>
          <a:bodyPr wrap="none" rtlCol="0">
            <a:spAutoFit/>
          </a:bodyPr>
          <a:lstStyle/>
          <a:p>
            <a:endParaRPr lang="en-US" dirty="0"/>
          </a:p>
        </p:txBody>
      </p:sp>
      <p:sp>
        <p:nvSpPr>
          <p:cNvPr id="8" name="Hộp Văn bản 7">
            <a:extLst>
              <a:ext uri="{FF2B5EF4-FFF2-40B4-BE49-F238E27FC236}">
                <a16:creationId xmlns:a16="http://schemas.microsoft.com/office/drawing/2014/main" id="{3726B5C0-83AD-1CE7-CAF2-25E5C7FD6AA1}"/>
              </a:ext>
            </a:extLst>
          </p:cNvPr>
          <p:cNvSpPr txBox="1"/>
          <p:nvPr/>
        </p:nvSpPr>
        <p:spPr>
          <a:xfrm>
            <a:off x="352619" y="1931378"/>
            <a:ext cx="10835467" cy="1754326"/>
          </a:xfrm>
          <a:prstGeom prst="rect">
            <a:avLst/>
          </a:prstGeom>
          <a:noFill/>
        </p:spPr>
        <p:txBody>
          <a:bodyPr wrap="none" rtlCol="0">
            <a:spAutoFit/>
          </a:bodyPr>
          <a:lstStyle/>
          <a:p>
            <a:r>
              <a:rPr lang="en-US" dirty="0" err="1">
                <a:latin typeface="Times New Roman" panose="02020603050405020304" pitchFamily="18" charset="0"/>
                <a:cs typeface="Times New Roman" panose="02020603050405020304" pitchFamily="18" charset="0"/>
              </a:rPr>
              <a:t>Ràng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buộc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chéo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bắt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buộc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chí</a:t>
            </a:r>
            <a:r>
              <a:rPr lang="en-US" dirty="0">
                <a:latin typeface="Times New Roman" panose="02020603050405020304" pitchFamily="18" charset="0"/>
                <a:cs typeface="Times New Roman" panose="02020603050405020304" pitchFamily="18" charset="0"/>
              </a:rPr>
              <a:t> 4): </a:t>
            </a:r>
            <a:r>
              <a:rPr lang="en-US" dirty="0" err="1">
                <a:latin typeface="Times New Roman" panose="02020603050405020304" pitchFamily="18" charset="0"/>
                <a:cs typeface="Times New Roman" panose="02020603050405020304" pitchFamily="18" charset="0"/>
              </a:rPr>
              <a:t>tổng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hợp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Alarm_i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bậc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phương</a:t>
            </a:r>
            <a:r>
              <a:rPr lang="en-US" dirty="0">
                <a:latin typeface="Times New Roman" panose="02020603050405020304" pitchFamily="18" charset="0"/>
                <a:cs typeface="Times New Roman" panose="02020603050405020304" pitchFamily="18" charset="0"/>
              </a:rPr>
              <a:t> (RSS) </a:t>
            </a:r>
            <a:endParaRPr lang="vi-VN"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vượt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ngưỡng</a:t>
            </a:r>
            <a:r>
              <a:rPr lang="en-US" dirty="0">
                <a:latin typeface="Times New Roman" panose="02020603050405020304" pitchFamily="18" charset="0"/>
                <a:cs typeface="Times New Roman" panose="02020603050405020304" pitchFamily="18" charset="0"/>
              </a:rPr>
              <a:t> Zone B/C </a:t>
            </a:r>
            <a:r>
              <a:rPr lang="en-US" dirty="0" err="1">
                <a:latin typeface="Times New Roman" panose="02020603050405020304" pitchFamily="18" charset="0"/>
                <a:cs typeface="Times New Roman" panose="02020603050405020304" pitchFamily="18" charset="0"/>
              </a:rPr>
              <a:t>tổng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chí</a:t>
            </a:r>
            <a:r>
              <a:rPr lang="en-US" dirty="0">
                <a:latin typeface="Times New Roman" panose="02020603050405020304" pitchFamily="18" charset="0"/>
                <a:cs typeface="Times New Roman" panose="02020603050405020304" pitchFamily="18" charset="0"/>
              </a:rPr>
              <a:t> 1:</a:t>
            </a:r>
          </a:p>
          <a:p>
            <a:r>
              <a:rPr lang="en-US" dirty="0">
                <a:latin typeface="Times New Roman" panose="02020603050405020304" pitchFamily="18" charset="0"/>
                <a:cs typeface="Times New Roman" panose="02020603050405020304" pitchFamily="18" charset="0"/>
              </a:rPr>
              <a:t>√( Σ Alarm_i² )  ≤  </a:t>
            </a:r>
            <a:r>
              <a:rPr lang="en-US" dirty="0" err="1">
                <a:latin typeface="Times New Roman" panose="02020603050405020304" pitchFamily="18" charset="0"/>
                <a:cs typeface="Times New Roman" panose="02020603050405020304" pitchFamily="18" charset="0"/>
              </a:rPr>
              <a:t>Zone_B</a:t>
            </a:r>
            <a:r>
              <a:rPr lang="en-US" dirty="0">
                <a:latin typeface="Times New Roman" panose="02020603050405020304" pitchFamily="18" charset="0"/>
                <a:cs typeface="Times New Roman" panose="02020603050405020304" pitchFamily="18" charset="0"/>
              </a:rPr>
              <a:t>/C (ISO 20816-3)</a:t>
            </a:r>
          </a:p>
          <a:p>
            <a:r>
              <a:rPr lang="en-US" dirty="0" err="1">
                <a:latin typeface="Times New Roman" panose="02020603050405020304" pitchFamily="18" charset="0"/>
                <a:cs typeface="Times New Roman" panose="02020603050405020304" pitchFamily="18" charset="0"/>
              </a:rPr>
              <a:t>Nếu</a:t>
            </a:r>
            <a:r>
              <a:rPr lang="en-US" dirty="0">
                <a:latin typeface="Times New Roman" panose="02020603050405020304" pitchFamily="18" charset="0"/>
                <a:cs typeface="Times New Roman" panose="02020603050405020304" pitchFamily="18" charset="0"/>
              </a:rPr>
              <a:t> vi </a:t>
            </a:r>
            <a:r>
              <a:rPr lang="en-US" dirty="0" err="1">
                <a:latin typeface="Times New Roman" panose="02020603050405020304" pitchFamily="18" charset="0"/>
                <a:cs typeface="Times New Roman" panose="02020603050405020304" pitchFamily="18" charset="0"/>
              </a:rPr>
              <a:t>phạm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thấp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Alarm_i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tỷ</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thỏa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kiện</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đảm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giữa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tổng</a:t>
            </a:r>
            <a:r>
              <a:rPr lang="en-US" dirty="0">
                <a:latin typeface="Times New Roman" panose="02020603050405020304" pitchFamily="18" charset="0"/>
                <a:cs typeface="Times New Roman" panose="02020603050405020304" pitchFamily="18" charset="0"/>
              </a:rPr>
              <a:t> </a:t>
            </a:r>
            <a:endParaRPr lang="vi-V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(broadband)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ngưỡng</a:t>
            </a:r>
            <a:r>
              <a:rPr lang="en-US" dirty="0">
                <a:latin typeface="Times New Roman" panose="02020603050405020304" pitchFamily="18" charset="0"/>
                <a:cs typeface="Times New Roman" panose="02020603050405020304" pitchFamily="18" charset="0"/>
              </a:rPr>
              <a:t> chi </a:t>
            </a:r>
            <a:r>
              <a:rPr lang="en-US" dirty="0" err="1">
                <a:latin typeface="Times New Roman" panose="02020603050405020304" pitchFamily="18" charset="0"/>
                <a:cs typeface="Times New Roman" panose="02020603050405020304" pitchFamily="18" charset="0"/>
              </a:rPr>
              <a:t>tiết</a:t>
            </a:r>
            <a:r>
              <a:rPr lang="en-US" dirty="0">
                <a:latin typeface="Times New Roman" panose="02020603050405020304" pitchFamily="18" charset="0"/>
                <a:cs typeface="Times New Roman" panose="02020603050405020304" pitchFamily="18" charset="0"/>
              </a:rPr>
              <a:t> (narrowband).</a:t>
            </a:r>
          </a:p>
          <a:p>
            <a:endParaRPr lang="en-US" dirty="0"/>
          </a:p>
        </p:txBody>
      </p:sp>
    </p:spTree>
    <p:extLst>
      <p:ext uri="{BB962C8B-B14F-4D97-AF65-F5344CB8AC3E}">
        <p14:creationId xmlns:p14="http://schemas.microsoft.com/office/powerpoint/2010/main" val="23882366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ộp Văn bản 2">
            <a:extLst>
              <a:ext uri="{FF2B5EF4-FFF2-40B4-BE49-F238E27FC236}">
                <a16:creationId xmlns:a16="http://schemas.microsoft.com/office/drawing/2014/main" id="{62172068-AD1D-236F-1224-CD64E4515B0A}"/>
              </a:ext>
            </a:extLst>
          </p:cNvPr>
          <p:cNvSpPr txBox="1"/>
          <p:nvPr/>
        </p:nvSpPr>
        <p:spPr>
          <a:xfrm>
            <a:off x="1774252" y="682570"/>
            <a:ext cx="3066865" cy="369332"/>
          </a:xfrm>
          <a:prstGeom prst="rect">
            <a:avLst/>
          </a:prstGeom>
          <a:noFill/>
        </p:spPr>
        <p:txBody>
          <a:bodyPr wrap="none" rtlCol="0">
            <a:spAutoFit/>
          </a:bodyPr>
          <a:lstStyle/>
          <a:p>
            <a:r>
              <a:rPr lang="en-US" dirty="0" err="1">
                <a:latin typeface="Times New Roman" panose="02020603050405020304" pitchFamily="18" charset="0"/>
                <a:cs typeface="Times New Roman" panose="02020603050405020304" pitchFamily="18" charset="0"/>
              </a:rPr>
              <a:t>Bảng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minh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họa</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SOP)</a:t>
            </a:r>
            <a:endParaRPr lang="en-US" dirty="0">
              <a:latin typeface="Times New Roman" panose="02020603050405020304" pitchFamily="18" charset="0"/>
              <a:cs typeface="Times New Roman" panose="02020603050405020304" pitchFamily="18" charset="0"/>
            </a:endParaRPr>
          </a:p>
        </p:txBody>
      </p:sp>
      <p:pic>
        <p:nvPicPr>
          <p:cNvPr id="8" name="Hình ảnh 7">
            <a:extLst>
              <a:ext uri="{FF2B5EF4-FFF2-40B4-BE49-F238E27FC236}">
                <a16:creationId xmlns:a16="http://schemas.microsoft.com/office/drawing/2014/main" id="{E0F9848B-5D55-CE46-16E7-75C280393A66}"/>
              </a:ext>
            </a:extLst>
          </p:cNvPr>
          <p:cNvPicPr>
            <a:picLocks noChangeAspect="1"/>
          </p:cNvPicPr>
          <p:nvPr/>
        </p:nvPicPr>
        <p:blipFill>
          <a:blip r:embed="rId2"/>
          <a:stretch>
            <a:fillRect/>
          </a:stretch>
        </p:blipFill>
        <p:spPr>
          <a:xfrm>
            <a:off x="6718006" y="-100484"/>
            <a:ext cx="5166836" cy="6858000"/>
          </a:xfrm>
          <a:prstGeom prst="rect">
            <a:avLst/>
          </a:prstGeom>
        </p:spPr>
      </p:pic>
      <p:sp>
        <p:nvSpPr>
          <p:cNvPr id="9" name="Hộp Văn bản 8">
            <a:extLst>
              <a:ext uri="{FF2B5EF4-FFF2-40B4-BE49-F238E27FC236}">
                <a16:creationId xmlns:a16="http://schemas.microsoft.com/office/drawing/2014/main" id="{FA68CEA2-16A3-BD82-B773-CB4E1F30BB91}"/>
              </a:ext>
            </a:extLst>
          </p:cNvPr>
          <p:cNvSpPr txBox="1"/>
          <p:nvPr/>
        </p:nvSpPr>
        <p:spPr>
          <a:xfrm>
            <a:off x="465778" y="1391835"/>
            <a:ext cx="6056320" cy="1200329"/>
          </a:xfrm>
          <a:prstGeom prst="rect">
            <a:avLst/>
          </a:prstGeom>
          <a:noFill/>
        </p:spPr>
        <p:txBody>
          <a:bodyPr wrap="square" rtlCol="0">
            <a:spAutoFit/>
          </a:bodyPr>
          <a:lstStyle/>
          <a:p>
            <a:r>
              <a:rPr lang="vi-VN" dirty="0">
                <a:latin typeface="Times New Roman" panose="02020603050405020304" pitchFamily="18" charset="0"/>
                <a:cs typeface="Times New Roman" panose="02020603050405020304" pitchFamily="18" charset="0"/>
              </a:rPr>
              <a:t>Kiểm tra ràng buộc</a:t>
            </a:r>
          </a:p>
          <a:p>
            <a:r>
              <a:rPr lang="en-US" dirty="0">
                <a:latin typeface="Times New Roman" panose="02020603050405020304" pitchFamily="18" charset="0"/>
                <a:cs typeface="Times New Roman" panose="02020603050405020304" pitchFamily="18" charset="0"/>
              </a:rPr>
              <a:t>√(Alarm_1X² + Alarm_2X² + Alarm_3X4X² + Alarm_BPFO² + Alarm_BPFI²)</a:t>
            </a:r>
            <a:r>
              <a:rPr lang="vi-V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Zone B/C</a:t>
            </a:r>
          </a:p>
          <a:p>
            <a:endParaRPr lang="en-US" dirty="0"/>
          </a:p>
        </p:txBody>
      </p:sp>
    </p:spTree>
    <p:extLst>
      <p:ext uri="{BB962C8B-B14F-4D97-AF65-F5344CB8AC3E}">
        <p14:creationId xmlns:p14="http://schemas.microsoft.com/office/powerpoint/2010/main" val="8776539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311</TotalTime>
  <Words>4031</Words>
  <Application>Microsoft Office PowerPoint</Application>
  <PresentationFormat>Màn hình rộng</PresentationFormat>
  <Paragraphs>246</Paragraphs>
  <Slides>21</Slides>
  <Notes>0</Notes>
  <HiddenSlides>0</HiddenSlides>
  <MMClips>0</MMClips>
  <ScaleCrop>false</ScaleCrop>
  <HeadingPairs>
    <vt:vector size="6" baseType="variant">
      <vt:variant>
        <vt:lpstr>Phông được Dùng</vt:lpstr>
      </vt:variant>
      <vt:variant>
        <vt:i4>8</vt:i4>
      </vt:variant>
      <vt:variant>
        <vt:lpstr>Chủ đề</vt:lpstr>
      </vt:variant>
      <vt:variant>
        <vt:i4>1</vt:i4>
      </vt:variant>
      <vt:variant>
        <vt:lpstr>Tiêu đề Bản chiếu</vt:lpstr>
      </vt:variant>
      <vt:variant>
        <vt:i4>21</vt:i4>
      </vt:variant>
    </vt:vector>
  </HeadingPairs>
  <TitlesOfParts>
    <vt:vector size="30" baseType="lpstr">
      <vt:lpstr>Aptos</vt:lpstr>
      <vt:lpstr>Arial</vt:lpstr>
      <vt:lpstr>Calibri</vt:lpstr>
      <vt:lpstr>Calibri Light</vt:lpstr>
      <vt:lpstr>Cambria Math</vt:lpstr>
      <vt:lpstr>Google Sans Text</vt:lpstr>
      <vt:lpstr>Times New Roman</vt:lpstr>
      <vt:lpstr>Wingdings</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Hien Hoang</dc:creator>
  <cp:lastModifiedBy>Ha Huy Thai 20210774</cp:lastModifiedBy>
  <cp:revision>6</cp:revision>
  <dcterms:created xsi:type="dcterms:W3CDTF">2026-09-08T17:29:13Z</dcterms:created>
  <dcterms:modified xsi:type="dcterms:W3CDTF">2026-09-12T14:49:26Z</dcterms:modified>
</cp:coreProperties>
</file>